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5" r:id="rId1"/>
  </p:sldMasterIdLst>
  <p:notesMasterIdLst>
    <p:notesMasterId r:id="rId39"/>
  </p:notesMasterIdLst>
  <p:sldIdLst>
    <p:sldId id="257" r:id="rId2"/>
    <p:sldId id="258" r:id="rId3"/>
    <p:sldId id="261" r:id="rId4"/>
    <p:sldId id="300" r:id="rId5"/>
    <p:sldId id="301" r:id="rId6"/>
    <p:sldId id="340" r:id="rId7"/>
    <p:sldId id="264" r:id="rId8"/>
    <p:sldId id="343" r:id="rId9"/>
    <p:sldId id="342" r:id="rId10"/>
    <p:sldId id="346" r:id="rId11"/>
    <p:sldId id="348" r:id="rId12"/>
    <p:sldId id="349" r:id="rId13"/>
    <p:sldId id="350" r:id="rId14"/>
    <p:sldId id="351" r:id="rId15"/>
    <p:sldId id="352" r:id="rId16"/>
    <p:sldId id="355" r:id="rId17"/>
    <p:sldId id="356" r:id="rId18"/>
    <p:sldId id="358" r:id="rId19"/>
    <p:sldId id="360" r:id="rId20"/>
    <p:sldId id="361" r:id="rId21"/>
    <p:sldId id="362" r:id="rId22"/>
    <p:sldId id="363" r:id="rId23"/>
    <p:sldId id="364" r:id="rId24"/>
    <p:sldId id="365" r:id="rId25"/>
    <p:sldId id="367" r:id="rId26"/>
    <p:sldId id="368" r:id="rId27"/>
    <p:sldId id="369" r:id="rId28"/>
    <p:sldId id="370" r:id="rId29"/>
    <p:sldId id="371" r:id="rId30"/>
    <p:sldId id="372" r:id="rId31"/>
    <p:sldId id="373" r:id="rId32"/>
    <p:sldId id="374" r:id="rId33"/>
    <p:sldId id="375" r:id="rId34"/>
    <p:sldId id="376" r:id="rId35"/>
    <p:sldId id="297" r:id="rId36"/>
    <p:sldId id="298" r:id="rId37"/>
    <p:sldId id="299" r:id="rId3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sv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svg"/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2" Type="http://schemas.openxmlformats.org/officeDocument/2006/relationships/image" Target="../media/image54.svg"/><Relationship Id="rId1" Type="http://schemas.openxmlformats.org/officeDocument/2006/relationships/image" Target="../media/image53.png"/><Relationship Id="rId6" Type="http://schemas.openxmlformats.org/officeDocument/2006/relationships/image" Target="../media/image58.svg"/><Relationship Id="rId5" Type="http://schemas.openxmlformats.org/officeDocument/2006/relationships/image" Target="../media/image57.png"/><Relationship Id="rId10" Type="http://schemas.openxmlformats.org/officeDocument/2006/relationships/image" Target="../media/image62.svg"/><Relationship Id="rId4" Type="http://schemas.openxmlformats.org/officeDocument/2006/relationships/image" Target="../media/image56.svg"/><Relationship Id="rId9" Type="http://schemas.openxmlformats.org/officeDocument/2006/relationships/image" Target="../media/image61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sv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svg"/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2" Type="http://schemas.openxmlformats.org/officeDocument/2006/relationships/image" Target="../media/image54.svg"/><Relationship Id="rId1" Type="http://schemas.openxmlformats.org/officeDocument/2006/relationships/image" Target="../media/image53.png"/><Relationship Id="rId6" Type="http://schemas.openxmlformats.org/officeDocument/2006/relationships/image" Target="../media/image58.svg"/><Relationship Id="rId5" Type="http://schemas.openxmlformats.org/officeDocument/2006/relationships/image" Target="../media/image57.png"/><Relationship Id="rId10" Type="http://schemas.openxmlformats.org/officeDocument/2006/relationships/image" Target="../media/image62.svg"/><Relationship Id="rId4" Type="http://schemas.openxmlformats.org/officeDocument/2006/relationships/image" Target="../media/image56.svg"/><Relationship Id="rId9" Type="http://schemas.openxmlformats.org/officeDocument/2006/relationships/image" Target="../media/image61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D809016-C745-4FCD-8F39-1AF4131EE084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84E305D3-E6C4-4AAE-BAEB-194FA58E0532}">
      <dgm:prSet/>
      <dgm:spPr/>
      <dgm:t>
        <a:bodyPr/>
        <a:lstStyle/>
        <a:p>
          <a:r>
            <a:rPr lang="en-IN" dirty="0"/>
            <a:t>Improve Asset Visibility for better tracking and management </a:t>
          </a:r>
          <a:endParaRPr lang="en-US" dirty="0"/>
        </a:p>
      </dgm:t>
    </dgm:pt>
    <dgm:pt modelId="{F6875D9C-D903-4171-93EC-2484CBC31225}" type="parTrans" cxnId="{DA1EF5CF-DD52-4B1E-B2E7-44B2A14F0312}">
      <dgm:prSet/>
      <dgm:spPr/>
      <dgm:t>
        <a:bodyPr/>
        <a:lstStyle/>
        <a:p>
          <a:endParaRPr lang="en-US"/>
        </a:p>
      </dgm:t>
    </dgm:pt>
    <dgm:pt modelId="{36D3AB72-E147-4A9A-99DC-114851A4A1DD}" type="sibTrans" cxnId="{DA1EF5CF-DD52-4B1E-B2E7-44B2A14F0312}">
      <dgm:prSet/>
      <dgm:spPr/>
      <dgm:t>
        <a:bodyPr/>
        <a:lstStyle/>
        <a:p>
          <a:endParaRPr lang="en-US"/>
        </a:p>
      </dgm:t>
    </dgm:pt>
    <dgm:pt modelId="{BB5FA2B7-93D7-4C6E-B1A3-BED98EC9F3B5}">
      <dgm:prSet/>
      <dgm:spPr/>
      <dgm:t>
        <a:bodyPr/>
        <a:lstStyle/>
        <a:p>
          <a:r>
            <a:rPr lang="en-US" dirty="0"/>
            <a:t>Enhance Data Quality to reduce inconsistencies and incorrect classifications</a:t>
          </a:r>
        </a:p>
      </dgm:t>
    </dgm:pt>
    <dgm:pt modelId="{88B18060-771A-4188-8665-AAE8286AC70E}" type="parTrans" cxnId="{F0FED7A3-0D41-4902-B7B9-81515247E97C}">
      <dgm:prSet/>
      <dgm:spPr/>
      <dgm:t>
        <a:bodyPr/>
        <a:lstStyle/>
        <a:p>
          <a:endParaRPr lang="en-US"/>
        </a:p>
      </dgm:t>
    </dgm:pt>
    <dgm:pt modelId="{47829683-35C6-488F-99C6-639048B995FD}" type="sibTrans" cxnId="{F0FED7A3-0D41-4902-B7B9-81515247E97C}">
      <dgm:prSet/>
      <dgm:spPr/>
      <dgm:t>
        <a:bodyPr/>
        <a:lstStyle/>
        <a:p>
          <a:endParaRPr lang="en-US"/>
        </a:p>
      </dgm:t>
    </dgm:pt>
    <dgm:pt modelId="{83F8241B-424F-4704-B25B-9AB56BF934D1}">
      <dgm:prSet/>
      <dgm:spPr/>
      <dgm:t>
        <a:bodyPr/>
        <a:lstStyle/>
        <a:p>
          <a:r>
            <a:rPr lang="en-US" dirty="0"/>
            <a:t>Enable reliable Insights for accurate reporting and decision making </a:t>
          </a:r>
        </a:p>
      </dgm:t>
    </dgm:pt>
    <dgm:pt modelId="{03878419-19BE-4CC2-B96D-BDE339CEB693}" type="parTrans" cxnId="{C4FDED88-BC33-4451-BFD1-6320FED9AE56}">
      <dgm:prSet/>
      <dgm:spPr/>
      <dgm:t>
        <a:bodyPr/>
        <a:lstStyle/>
        <a:p>
          <a:endParaRPr lang="en-US"/>
        </a:p>
      </dgm:t>
    </dgm:pt>
    <dgm:pt modelId="{A2E73678-62D5-43F0-BB99-FF8D1081782E}" type="sibTrans" cxnId="{C4FDED88-BC33-4451-BFD1-6320FED9AE56}">
      <dgm:prSet/>
      <dgm:spPr/>
      <dgm:t>
        <a:bodyPr/>
        <a:lstStyle/>
        <a:p>
          <a:endParaRPr lang="en-US"/>
        </a:p>
      </dgm:t>
    </dgm:pt>
    <dgm:pt modelId="{B61F72C5-D6A2-4FAA-85AB-B4269D79D87F}">
      <dgm:prSet/>
      <dgm:spPr/>
      <dgm:t>
        <a:bodyPr/>
        <a:lstStyle/>
        <a:p>
          <a:r>
            <a:rPr lang="en-US" dirty="0"/>
            <a:t>Build scalable framework to handle (~ 90K devices) efficiently.</a:t>
          </a:r>
        </a:p>
      </dgm:t>
    </dgm:pt>
    <dgm:pt modelId="{8691F195-C629-4E70-9F52-32EA1E7A2513}" type="parTrans" cxnId="{8B9470B7-6742-4854-8825-94029BE8C761}">
      <dgm:prSet/>
      <dgm:spPr/>
      <dgm:t>
        <a:bodyPr/>
        <a:lstStyle/>
        <a:p>
          <a:endParaRPr lang="en-US"/>
        </a:p>
      </dgm:t>
    </dgm:pt>
    <dgm:pt modelId="{A45A5273-268B-48A2-8948-AB540F1F1B53}" type="sibTrans" cxnId="{8B9470B7-6742-4854-8825-94029BE8C761}">
      <dgm:prSet/>
      <dgm:spPr/>
      <dgm:t>
        <a:bodyPr/>
        <a:lstStyle/>
        <a:p>
          <a:endParaRPr lang="en-US"/>
        </a:p>
      </dgm:t>
    </dgm:pt>
    <dgm:pt modelId="{468FA2DD-0190-407E-876A-99671DD70C1B}">
      <dgm:prSet/>
      <dgm:spPr/>
      <dgm:t>
        <a:bodyPr/>
        <a:lstStyle/>
        <a:p>
          <a:r>
            <a:rPr lang="en-US" dirty="0"/>
            <a:t>Data Enrichment with derived attributes(e.g. category, device_type) </a:t>
          </a:r>
        </a:p>
      </dgm:t>
    </dgm:pt>
    <dgm:pt modelId="{32196FF7-9A97-40D4-BAD5-254DD8F47EBE}" type="parTrans" cxnId="{611FEF3A-88FC-4A37-9ACB-E06CDC97A0B8}">
      <dgm:prSet/>
      <dgm:spPr/>
      <dgm:t>
        <a:bodyPr/>
        <a:lstStyle/>
        <a:p>
          <a:endParaRPr lang="en-US"/>
        </a:p>
      </dgm:t>
    </dgm:pt>
    <dgm:pt modelId="{3663FDCA-AA44-4226-8B30-FA2FA2539C6F}" type="sibTrans" cxnId="{611FEF3A-88FC-4A37-9ACB-E06CDC97A0B8}">
      <dgm:prSet/>
      <dgm:spPr/>
      <dgm:t>
        <a:bodyPr/>
        <a:lstStyle/>
        <a:p>
          <a:endParaRPr lang="en-US"/>
        </a:p>
      </dgm:t>
    </dgm:pt>
    <dgm:pt modelId="{96342EBF-C595-430B-B913-D4F20AA13F6B}">
      <dgm:prSet/>
      <dgm:spPr/>
      <dgm:t>
        <a:bodyPr/>
        <a:lstStyle/>
        <a:p>
          <a:r>
            <a:rPr lang="en-US" dirty="0"/>
            <a:t>Threat Detection and asset-level risk visibility </a:t>
          </a:r>
        </a:p>
      </dgm:t>
    </dgm:pt>
    <dgm:pt modelId="{B93DF9A3-8F42-4DD0-833F-B5BF813F9C43}" type="parTrans" cxnId="{13D3058E-ADBA-421C-B251-3F5AD774DA6A}">
      <dgm:prSet/>
      <dgm:spPr/>
      <dgm:t>
        <a:bodyPr/>
        <a:lstStyle/>
        <a:p>
          <a:endParaRPr lang="en-US"/>
        </a:p>
      </dgm:t>
    </dgm:pt>
    <dgm:pt modelId="{36B77DE3-1B35-464A-B11C-AB25B268DB50}" type="sibTrans" cxnId="{13D3058E-ADBA-421C-B251-3F5AD774DA6A}">
      <dgm:prSet/>
      <dgm:spPr/>
      <dgm:t>
        <a:bodyPr/>
        <a:lstStyle/>
        <a:p>
          <a:endParaRPr lang="en-US"/>
        </a:p>
      </dgm:t>
    </dgm:pt>
    <dgm:pt modelId="{D2E2D0AE-1446-4173-8D61-01F0B511B108}" type="pres">
      <dgm:prSet presAssocID="{5D809016-C745-4FCD-8F39-1AF4131EE084}" presName="root" presStyleCnt="0">
        <dgm:presLayoutVars>
          <dgm:dir/>
          <dgm:resizeHandles val="exact"/>
        </dgm:presLayoutVars>
      </dgm:prSet>
      <dgm:spPr/>
    </dgm:pt>
    <dgm:pt modelId="{202E5AB1-9610-4413-8359-61FB2D3162FF}" type="pres">
      <dgm:prSet presAssocID="{84E305D3-E6C4-4AAE-BAEB-194FA58E0532}" presName="compNode" presStyleCnt="0"/>
      <dgm:spPr/>
    </dgm:pt>
    <dgm:pt modelId="{1AFA736D-95E5-4BB3-8543-19E1BC9DDEE2}" type="pres">
      <dgm:prSet presAssocID="{84E305D3-E6C4-4AAE-BAEB-194FA58E0532}" presName="bgRect" presStyleLbl="bgShp" presStyleIdx="0" presStyleCnt="6"/>
      <dgm:spPr/>
    </dgm:pt>
    <dgm:pt modelId="{AA690356-26E0-4429-A470-56323D36E36E}" type="pres">
      <dgm:prSet presAssocID="{84E305D3-E6C4-4AAE-BAEB-194FA58E0532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g"/>
        </a:ext>
      </dgm:extLst>
    </dgm:pt>
    <dgm:pt modelId="{827E79C6-8383-4F06-B74C-7A360EF60466}" type="pres">
      <dgm:prSet presAssocID="{84E305D3-E6C4-4AAE-BAEB-194FA58E0532}" presName="spaceRect" presStyleCnt="0"/>
      <dgm:spPr/>
    </dgm:pt>
    <dgm:pt modelId="{D43359BF-505F-4A67-A83A-50637A47797A}" type="pres">
      <dgm:prSet presAssocID="{84E305D3-E6C4-4AAE-BAEB-194FA58E0532}" presName="parTx" presStyleLbl="revTx" presStyleIdx="0" presStyleCnt="6">
        <dgm:presLayoutVars>
          <dgm:chMax val="0"/>
          <dgm:chPref val="0"/>
        </dgm:presLayoutVars>
      </dgm:prSet>
      <dgm:spPr/>
    </dgm:pt>
    <dgm:pt modelId="{219D46E0-84A9-424A-B45D-E5D598B8F725}" type="pres">
      <dgm:prSet presAssocID="{36D3AB72-E147-4A9A-99DC-114851A4A1DD}" presName="sibTrans" presStyleCnt="0"/>
      <dgm:spPr/>
    </dgm:pt>
    <dgm:pt modelId="{381B4376-3DA7-466F-8B1B-D160A52D696A}" type="pres">
      <dgm:prSet presAssocID="{BB5FA2B7-93D7-4C6E-B1A3-BED98EC9F3B5}" presName="compNode" presStyleCnt="0"/>
      <dgm:spPr/>
    </dgm:pt>
    <dgm:pt modelId="{4EEC6FC6-4187-4570-9F22-5741D7E0F09A}" type="pres">
      <dgm:prSet presAssocID="{BB5FA2B7-93D7-4C6E-B1A3-BED98EC9F3B5}" presName="bgRect" presStyleLbl="bgShp" presStyleIdx="1" presStyleCnt="6"/>
      <dgm:spPr/>
    </dgm:pt>
    <dgm:pt modelId="{172913CD-1826-48ED-B44C-9A9EBFBF81DC}" type="pres">
      <dgm:prSet presAssocID="{BB5FA2B7-93D7-4C6E-B1A3-BED98EC9F3B5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94926F19-D5DC-419A-AB5F-8A71305DFC08}" type="pres">
      <dgm:prSet presAssocID="{BB5FA2B7-93D7-4C6E-B1A3-BED98EC9F3B5}" presName="spaceRect" presStyleCnt="0"/>
      <dgm:spPr/>
    </dgm:pt>
    <dgm:pt modelId="{04D4E2C0-724E-431A-9431-45D48026AF9F}" type="pres">
      <dgm:prSet presAssocID="{BB5FA2B7-93D7-4C6E-B1A3-BED98EC9F3B5}" presName="parTx" presStyleLbl="revTx" presStyleIdx="1" presStyleCnt="6">
        <dgm:presLayoutVars>
          <dgm:chMax val="0"/>
          <dgm:chPref val="0"/>
        </dgm:presLayoutVars>
      </dgm:prSet>
      <dgm:spPr/>
    </dgm:pt>
    <dgm:pt modelId="{939F94BB-6D34-4A5C-A9BB-CB7DF1A0B2EB}" type="pres">
      <dgm:prSet presAssocID="{47829683-35C6-488F-99C6-639048B995FD}" presName="sibTrans" presStyleCnt="0"/>
      <dgm:spPr/>
    </dgm:pt>
    <dgm:pt modelId="{B56C6F6F-5CCC-433B-8196-78559550B408}" type="pres">
      <dgm:prSet presAssocID="{83F8241B-424F-4704-B25B-9AB56BF934D1}" presName="compNode" presStyleCnt="0"/>
      <dgm:spPr/>
    </dgm:pt>
    <dgm:pt modelId="{E0A74E84-BE0E-449B-A02D-B702950456EF}" type="pres">
      <dgm:prSet presAssocID="{83F8241B-424F-4704-B25B-9AB56BF934D1}" presName="bgRect" presStyleLbl="bgShp" presStyleIdx="2" presStyleCnt="6" custLinFactNeighborX="102"/>
      <dgm:spPr/>
    </dgm:pt>
    <dgm:pt modelId="{B76F8A02-400A-4BC1-92A8-441A16BE53C8}" type="pres">
      <dgm:prSet presAssocID="{83F8241B-424F-4704-B25B-9AB56BF934D1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iosk"/>
        </a:ext>
      </dgm:extLst>
    </dgm:pt>
    <dgm:pt modelId="{6E21EBBE-7996-4BD2-BF1D-D1F5DE6CF8A8}" type="pres">
      <dgm:prSet presAssocID="{83F8241B-424F-4704-B25B-9AB56BF934D1}" presName="spaceRect" presStyleCnt="0"/>
      <dgm:spPr/>
    </dgm:pt>
    <dgm:pt modelId="{392F4CF1-590E-4005-B4C7-27EAF7382984}" type="pres">
      <dgm:prSet presAssocID="{83F8241B-424F-4704-B25B-9AB56BF934D1}" presName="parTx" presStyleLbl="revTx" presStyleIdx="2" presStyleCnt="6">
        <dgm:presLayoutVars>
          <dgm:chMax val="0"/>
          <dgm:chPref val="0"/>
        </dgm:presLayoutVars>
      </dgm:prSet>
      <dgm:spPr/>
    </dgm:pt>
    <dgm:pt modelId="{7C082E00-036B-49DF-9666-5E72BB827293}" type="pres">
      <dgm:prSet presAssocID="{A2E73678-62D5-43F0-BB99-FF8D1081782E}" presName="sibTrans" presStyleCnt="0"/>
      <dgm:spPr/>
    </dgm:pt>
    <dgm:pt modelId="{E349CD19-41E4-44A9-9CCB-9729EFBDA1FA}" type="pres">
      <dgm:prSet presAssocID="{B61F72C5-D6A2-4FAA-85AB-B4269D79D87F}" presName="compNode" presStyleCnt="0"/>
      <dgm:spPr/>
    </dgm:pt>
    <dgm:pt modelId="{351D022D-FF0E-4400-BAED-DAD5FE5E83A8}" type="pres">
      <dgm:prSet presAssocID="{B61F72C5-D6A2-4FAA-85AB-B4269D79D87F}" presName="bgRect" presStyleLbl="bgShp" presStyleIdx="3" presStyleCnt="6"/>
      <dgm:spPr/>
    </dgm:pt>
    <dgm:pt modelId="{4498ED7C-7189-40DF-B43F-F75739F9239D}" type="pres">
      <dgm:prSet presAssocID="{B61F72C5-D6A2-4FAA-85AB-B4269D79D87F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ilding"/>
        </a:ext>
      </dgm:extLst>
    </dgm:pt>
    <dgm:pt modelId="{7C56B9CC-B027-43D6-884A-46BD5FFD44F8}" type="pres">
      <dgm:prSet presAssocID="{B61F72C5-D6A2-4FAA-85AB-B4269D79D87F}" presName="spaceRect" presStyleCnt="0"/>
      <dgm:spPr/>
    </dgm:pt>
    <dgm:pt modelId="{081FD271-109B-43C8-A049-9A191C7BA9C7}" type="pres">
      <dgm:prSet presAssocID="{B61F72C5-D6A2-4FAA-85AB-B4269D79D87F}" presName="parTx" presStyleLbl="revTx" presStyleIdx="3" presStyleCnt="6">
        <dgm:presLayoutVars>
          <dgm:chMax val="0"/>
          <dgm:chPref val="0"/>
        </dgm:presLayoutVars>
      </dgm:prSet>
      <dgm:spPr/>
    </dgm:pt>
    <dgm:pt modelId="{807B67CD-EEC2-405E-BFB5-5D23F4818539}" type="pres">
      <dgm:prSet presAssocID="{A45A5273-268B-48A2-8948-AB540F1F1B53}" presName="sibTrans" presStyleCnt="0"/>
      <dgm:spPr/>
    </dgm:pt>
    <dgm:pt modelId="{72FAC165-88F3-4959-90A5-7E800CD29AFF}" type="pres">
      <dgm:prSet presAssocID="{468FA2DD-0190-407E-876A-99671DD70C1B}" presName="compNode" presStyleCnt="0"/>
      <dgm:spPr/>
    </dgm:pt>
    <dgm:pt modelId="{50E8F0D9-7A82-46E8-B18A-06A23E809316}" type="pres">
      <dgm:prSet presAssocID="{468FA2DD-0190-407E-876A-99671DD70C1B}" presName="bgRect" presStyleLbl="bgShp" presStyleIdx="4" presStyleCnt="6"/>
      <dgm:spPr/>
    </dgm:pt>
    <dgm:pt modelId="{0C89054A-C0DC-4A36-A3A0-F9FAEB432FA7}" type="pres">
      <dgm:prSet presAssocID="{468FA2DD-0190-407E-876A-99671DD70C1B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ity"/>
        </a:ext>
      </dgm:extLst>
    </dgm:pt>
    <dgm:pt modelId="{A7333B82-6523-4CD5-ACF9-99CFB11772CF}" type="pres">
      <dgm:prSet presAssocID="{468FA2DD-0190-407E-876A-99671DD70C1B}" presName="spaceRect" presStyleCnt="0"/>
      <dgm:spPr/>
    </dgm:pt>
    <dgm:pt modelId="{01A3E9AE-6FDB-4F76-AADF-37A2CDC30E76}" type="pres">
      <dgm:prSet presAssocID="{468FA2DD-0190-407E-876A-99671DD70C1B}" presName="parTx" presStyleLbl="revTx" presStyleIdx="4" presStyleCnt="6">
        <dgm:presLayoutVars>
          <dgm:chMax val="0"/>
          <dgm:chPref val="0"/>
        </dgm:presLayoutVars>
      </dgm:prSet>
      <dgm:spPr/>
    </dgm:pt>
    <dgm:pt modelId="{0A34B82F-A8F3-4D74-A65C-0B3911F08780}" type="pres">
      <dgm:prSet presAssocID="{3663FDCA-AA44-4226-8B30-FA2FA2539C6F}" presName="sibTrans" presStyleCnt="0"/>
      <dgm:spPr/>
    </dgm:pt>
    <dgm:pt modelId="{FAF6074F-C79B-4853-9FE8-702198CFB590}" type="pres">
      <dgm:prSet presAssocID="{96342EBF-C595-430B-B913-D4F20AA13F6B}" presName="compNode" presStyleCnt="0"/>
      <dgm:spPr/>
    </dgm:pt>
    <dgm:pt modelId="{89F5DE8E-2592-4228-A37C-9404A3AE4CD1}" type="pres">
      <dgm:prSet presAssocID="{96342EBF-C595-430B-B913-D4F20AA13F6B}" presName="bgRect" presStyleLbl="bgShp" presStyleIdx="5" presStyleCnt="6"/>
      <dgm:spPr/>
    </dgm:pt>
    <dgm:pt modelId="{A752B809-E14B-450A-ADD5-F29C513A7151}" type="pres">
      <dgm:prSet presAssocID="{96342EBF-C595-430B-B913-D4F20AA13F6B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lter"/>
        </a:ext>
      </dgm:extLst>
    </dgm:pt>
    <dgm:pt modelId="{9D7FC5C0-DDE1-47D4-8AB0-AA26BAD8A70F}" type="pres">
      <dgm:prSet presAssocID="{96342EBF-C595-430B-B913-D4F20AA13F6B}" presName="spaceRect" presStyleCnt="0"/>
      <dgm:spPr/>
    </dgm:pt>
    <dgm:pt modelId="{4501BCAE-72E5-444E-B60A-5A79D0188916}" type="pres">
      <dgm:prSet presAssocID="{96342EBF-C595-430B-B913-D4F20AA13F6B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CE4ABF1B-F661-4271-8DCA-2CA14F136953}" type="presOf" srcId="{BB5FA2B7-93D7-4C6E-B1A3-BED98EC9F3B5}" destId="{04D4E2C0-724E-431A-9431-45D48026AF9F}" srcOrd="0" destOrd="0" presId="urn:microsoft.com/office/officeart/2018/2/layout/IconVerticalSolidList"/>
    <dgm:cxn modelId="{CE8D9B26-0C03-4BD8-8196-6CC961E7FDE5}" type="presOf" srcId="{468FA2DD-0190-407E-876A-99671DD70C1B}" destId="{01A3E9AE-6FDB-4F76-AADF-37A2CDC30E76}" srcOrd="0" destOrd="0" presId="urn:microsoft.com/office/officeart/2018/2/layout/IconVerticalSolidList"/>
    <dgm:cxn modelId="{92188637-AA24-43B5-8117-D116512E1B01}" type="presOf" srcId="{5D809016-C745-4FCD-8F39-1AF4131EE084}" destId="{D2E2D0AE-1446-4173-8D61-01F0B511B108}" srcOrd="0" destOrd="0" presId="urn:microsoft.com/office/officeart/2018/2/layout/IconVerticalSolidList"/>
    <dgm:cxn modelId="{611FEF3A-88FC-4A37-9ACB-E06CDC97A0B8}" srcId="{5D809016-C745-4FCD-8F39-1AF4131EE084}" destId="{468FA2DD-0190-407E-876A-99671DD70C1B}" srcOrd="4" destOrd="0" parTransId="{32196FF7-9A97-40D4-BAD5-254DD8F47EBE}" sibTransId="{3663FDCA-AA44-4226-8B30-FA2FA2539C6F}"/>
    <dgm:cxn modelId="{047F8248-FFD8-4F4E-AA91-133C4EFA940E}" type="presOf" srcId="{84E305D3-E6C4-4AAE-BAEB-194FA58E0532}" destId="{D43359BF-505F-4A67-A83A-50637A47797A}" srcOrd="0" destOrd="0" presId="urn:microsoft.com/office/officeart/2018/2/layout/IconVerticalSolidList"/>
    <dgm:cxn modelId="{181CEA69-102B-40F4-A644-55F3CD4D9661}" type="presOf" srcId="{96342EBF-C595-430B-B913-D4F20AA13F6B}" destId="{4501BCAE-72E5-444E-B60A-5A79D0188916}" srcOrd="0" destOrd="0" presId="urn:microsoft.com/office/officeart/2018/2/layout/IconVerticalSolidList"/>
    <dgm:cxn modelId="{D7EEB07F-39D7-4AE9-928C-BDC1C7E555C1}" type="presOf" srcId="{83F8241B-424F-4704-B25B-9AB56BF934D1}" destId="{392F4CF1-590E-4005-B4C7-27EAF7382984}" srcOrd="0" destOrd="0" presId="urn:microsoft.com/office/officeart/2018/2/layout/IconVerticalSolidList"/>
    <dgm:cxn modelId="{C4FDED88-BC33-4451-BFD1-6320FED9AE56}" srcId="{5D809016-C745-4FCD-8F39-1AF4131EE084}" destId="{83F8241B-424F-4704-B25B-9AB56BF934D1}" srcOrd="2" destOrd="0" parTransId="{03878419-19BE-4CC2-B96D-BDE339CEB693}" sibTransId="{A2E73678-62D5-43F0-BB99-FF8D1081782E}"/>
    <dgm:cxn modelId="{40CCD88C-3111-4983-BF50-1FF67D2CA5BA}" type="presOf" srcId="{B61F72C5-D6A2-4FAA-85AB-B4269D79D87F}" destId="{081FD271-109B-43C8-A049-9A191C7BA9C7}" srcOrd="0" destOrd="0" presId="urn:microsoft.com/office/officeart/2018/2/layout/IconVerticalSolidList"/>
    <dgm:cxn modelId="{13D3058E-ADBA-421C-B251-3F5AD774DA6A}" srcId="{5D809016-C745-4FCD-8F39-1AF4131EE084}" destId="{96342EBF-C595-430B-B913-D4F20AA13F6B}" srcOrd="5" destOrd="0" parTransId="{B93DF9A3-8F42-4DD0-833F-B5BF813F9C43}" sibTransId="{36B77DE3-1B35-464A-B11C-AB25B268DB50}"/>
    <dgm:cxn modelId="{F0FED7A3-0D41-4902-B7B9-81515247E97C}" srcId="{5D809016-C745-4FCD-8F39-1AF4131EE084}" destId="{BB5FA2B7-93D7-4C6E-B1A3-BED98EC9F3B5}" srcOrd="1" destOrd="0" parTransId="{88B18060-771A-4188-8665-AAE8286AC70E}" sibTransId="{47829683-35C6-488F-99C6-639048B995FD}"/>
    <dgm:cxn modelId="{8B9470B7-6742-4854-8825-94029BE8C761}" srcId="{5D809016-C745-4FCD-8F39-1AF4131EE084}" destId="{B61F72C5-D6A2-4FAA-85AB-B4269D79D87F}" srcOrd="3" destOrd="0" parTransId="{8691F195-C629-4E70-9F52-32EA1E7A2513}" sibTransId="{A45A5273-268B-48A2-8948-AB540F1F1B53}"/>
    <dgm:cxn modelId="{DA1EF5CF-DD52-4B1E-B2E7-44B2A14F0312}" srcId="{5D809016-C745-4FCD-8F39-1AF4131EE084}" destId="{84E305D3-E6C4-4AAE-BAEB-194FA58E0532}" srcOrd="0" destOrd="0" parTransId="{F6875D9C-D903-4171-93EC-2484CBC31225}" sibTransId="{36D3AB72-E147-4A9A-99DC-114851A4A1DD}"/>
    <dgm:cxn modelId="{3A189F07-0272-4A92-8DF1-33A5AE77E0DD}" type="presParOf" srcId="{D2E2D0AE-1446-4173-8D61-01F0B511B108}" destId="{202E5AB1-9610-4413-8359-61FB2D3162FF}" srcOrd="0" destOrd="0" presId="urn:microsoft.com/office/officeart/2018/2/layout/IconVerticalSolidList"/>
    <dgm:cxn modelId="{5983300D-6944-4923-A00A-7831B416BD90}" type="presParOf" srcId="{202E5AB1-9610-4413-8359-61FB2D3162FF}" destId="{1AFA736D-95E5-4BB3-8543-19E1BC9DDEE2}" srcOrd="0" destOrd="0" presId="urn:microsoft.com/office/officeart/2018/2/layout/IconVerticalSolidList"/>
    <dgm:cxn modelId="{DB6A2A2F-F5B6-47B8-BCE1-D37C2A877C53}" type="presParOf" srcId="{202E5AB1-9610-4413-8359-61FB2D3162FF}" destId="{AA690356-26E0-4429-A470-56323D36E36E}" srcOrd="1" destOrd="0" presId="urn:microsoft.com/office/officeart/2018/2/layout/IconVerticalSolidList"/>
    <dgm:cxn modelId="{13384C59-3446-4878-B02D-13A4E15B2EC9}" type="presParOf" srcId="{202E5AB1-9610-4413-8359-61FB2D3162FF}" destId="{827E79C6-8383-4F06-B74C-7A360EF60466}" srcOrd="2" destOrd="0" presId="urn:microsoft.com/office/officeart/2018/2/layout/IconVerticalSolidList"/>
    <dgm:cxn modelId="{8B2539E8-40DD-4F57-8016-82DAC757C5DB}" type="presParOf" srcId="{202E5AB1-9610-4413-8359-61FB2D3162FF}" destId="{D43359BF-505F-4A67-A83A-50637A47797A}" srcOrd="3" destOrd="0" presId="urn:microsoft.com/office/officeart/2018/2/layout/IconVerticalSolidList"/>
    <dgm:cxn modelId="{948AB028-2C66-4658-82B1-DB59724067C7}" type="presParOf" srcId="{D2E2D0AE-1446-4173-8D61-01F0B511B108}" destId="{219D46E0-84A9-424A-B45D-E5D598B8F725}" srcOrd="1" destOrd="0" presId="urn:microsoft.com/office/officeart/2018/2/layout/IconVerticalSolidList"/>
    <dgm:cxn modelId="{24E18378-5E3B-44F5-8E77-59E638755E5E}" type="presParOf" srcId="{D2E2D0AE-1446-4173-8D61-01F0B511B108}" destId="{381B4376-3DA7-466F-8B1B-D160A52D696A}" srcOrd="2" destOrd="0" presId="urn:microsoft.com/office/officeart/2018/2/layout/IconVerticalSolidList"/>
    <dgm:cxn modelId="{886996CD-FC0F-46CA-9AD7-4C76940047D9}" type="presParOf" srcId="{381B4376-3DA7-466F-8B1B-D160A52D696A}" destId="{4EEC6FC6-4187-4570-9F22-5741D7E0F09A}" srcOrd="0" destOrd="0" presId="urn:microsoft.com/office/officeart/2018/2/layout/IconVerticalSolidList"/>
    <dgm:cxn modelId="{FB16E041-3273-4F29-816E-7AEFE4150D11}" type="presParOf" srcId="{381B4376-3DA7-466F-8B1B-D160A52D696A}" destId="{172913CD-1826-48ED-B44C-9A9EBFBF81DC}" srcOrd="1" destOrd="0" presId="urn:microsoft.com/office/officeart/2018/2/layout/IconVerticalSolidList"/>
    <dgm:cxn modelId="{8260A6D8-18C0-4CAA-9218-45390513CB8C}" type="presParOf" srcId="{381B4376-3DA7-466F-8B1B-D160A52D696A}" destId="{94926F19-D5DC-419A-AB5F-8A71305DFC08}" srcOrd="2" destOrd="0" presId="urn:microsoft.com/office/officeart/2018/2/layout/IconVerticalSolidList"/>
    <dgm:cxn modelId="{07192F7E-437F-4A4F-A921-44E0C5015E56}" type="presParOf" srcId="{381B4376-3DA7-466F-8B1B-D160A52D696A}" destId="{04D4E2C0-724E-431A-9431-45D48026AF9F}" srcOrd="3" destOrd="0" presId="urn:microsoft.com/office/officeart/2018/2/layout/IconVerticalSolidList"/>
    <dgm:cxn modelId="{75A1E170-0742-45D6-A5C6-B045D8BB0296}" type="presParOf" srcId="{D2E2D0AE-1446-4173-8D61-01F0B511B108}" destId="{939F94BB-6D34-4A5C-A9BB-CB7DF1A0B2EB}" srcOrd="3" destOrd="0" presId="urn:microsoft.com/office/officeart/2018/2/layout/IconVerticalSolidList"/>
    <dgm:cxn modelId="{378896C5-5472-4173-B543-F2EC834EFC27}" type="presParOf" srcId="{D2E2D0AE-1446-4173-8D61-01F0B511B108}" destId="{B56C6F6F-5CCC-433B-8196-78559550B408}" srcOrd="4" destOrd="0" presId="urn:microsoft.com/office/officeart/2018/2/layout/IconVerticalSolidList"/>
    <dgm:cxn modelId="{D53E3394-5787-47DA-8B62-8E19D282805A}" type="presParOf" srcId="{B56C6F6F-5CCC-433B-8196-78559550B408}" destId="{E0A74E84-BE0E-449B-A02D-B702950456EF}" srcOrd="0" destOrd="0" presId="urn:microsoft.com/office/officeart/2018/2/layout/IconVerticalSolidList"/>
    <dgm:cxn modelId="{8562588C-96FE-4574-8214-C66C5B98792C}" type="presParOf" srcId="{B56C6F6F-5CCC-433B-8196-78559550B408}" destId="{B76F8A02-400A-4BC1-92A8-441A16BE53C8}" srcOrd="1" destOrd="0" presId="urn:microsoft.com/office/officeart/2018/2/layout/IconVerticalSolidList"/>
    <dgm:cxn modelId="{74DAA966-034B-47EB-AC7D-96A80B5EFA71}" type="presParOf" srcId="{B56C6F6F-5CCC-433B-8196-78559550B408}" destId="{6E21EBBE-7996-4BD2-BF1D-D1F5DE6CF8A8}" srcOrd="2" destOrd="0" presId="urn:microsoft.com/office/officeart/2018/2/layout/IconVerticalSolidList"/>
    <dgm:cxn modelId="{930119FF-A35C-43B6-9738-5ED7401B7B01}" type="presParOf" srcId="{B56C6F6F-5CCC-433B-8196-78559550B408}" destId="{392F4CF1-590E-4005-B4C7-27EAF7382984}" srcOrd="3" destOrd="0" presId="urn:microsoft.com/office/officeart/2018/2/layout/IconVerticalSolidList"/>
    <dgm:cxn modelId="{8C0AE4E6-A66A-46D2-B1BC-B02F54EA5319}" type="presParOf" srcId="{D2E2D0AE-1446-4173-8D61-01F0B511B108}" destId="{7C082E00-036B-49DF-9666-5E72BB827293}" srcOrd="5" destOrd="0" presId="urn:microsoft.com/office/officeart/2018/2/layout/IconVerticalSolidList"/>
    <dgm:cxn modelId="{740F2FCE-2579-45BF-8A05-3492FA7BCA8B}" type="presParOf" srcId="{D2E2D0AE-1446-4173-8D61-01F0B511B108}" destId="{E349CD19-41E4-44A9-9CCB-9729EFBDA1FA}" srcOrd="6" destOrd="0" presId="urn:microsoft.com/office/officeart/2018/2/layout/IconVerticalSolidList"/>
    <dgm:cxn modelId="{89347608-7A15-4A14-A2CC-7BF57B5C6EB0}" type="presParOf" srcId="{E349CD19-41E4-44A9-9CCB-9729EFBDA1FA}" destId="{351D022D-FF0E-4400-BAED-DAD5FE5E83A8}" srcOrd="0" destOrd="0" presId="urn:microsoft.com/office/officeart/2018/2/layout/IconVerticalSolidList"/>
    <dgm:cxn modelId="{52D44819-A502-4378-8114-2BF8B34CFD7A}" type="presParOf" srcId="{E349CD19-41E4-44A9-9CCB-9729EFBDA1FA}" destId="{4498ED7C-7189-40DF-B43F-F75739F9239D}" srcOrd="1" destOrd="0" presId="urn:microsoft.com/office/officeart/2018/2/layout/IconVerticalSolidList"/>
    <dgm:cxn modelId="{E64E491F-8DFF-4B41-AEFC-53C8F63F3064}" type="presParOf" srcId="{E349CD19-41E4-44A9-9CCB-9729EFBDA1FA}" destId="{7C56B9CC-B027-43D6-884A-46BD5FFD44F8}" srcOrd="2" destOrd="0" presId="urn:microsoft.com/office/officeart/2018/2/layout/IconVerticalSolidList"/>
    <dgm:cxn modelId="{DBA0EAE9-786E-4CD3-8FB9-1453C9FC04B6}" type="presParOf" srcId="{E349CD19-41E4-44A9-9CCB-9729EFBDA1FA}" destId="{081FD271-109B-43C8-A049-9A191C7BA9C7}" srcOrd="3" destOrd="0" presId="urn:microsoft.com/office/officeart/2018/2/layout/IconVerticalSolidList"/>
    <dgm:cxn modelId="{79A017F3-3E40-4F6B-84C0-34F9377C6781}" type="presParOf" srcId="{D2E2D0AE-1446-4173-8D61-01F0B511B108}" destId="{807B67CD-EEC2-405E-BFB5-5D23F4818539}" srcOrd="7" destOrd="0" presId="urn:microsoft.com/office/officeart/2018/2/layout/IconVerticalSolidList"/>
    <dgm:cxn modelId="{848463D8-300D-4579-9CAF-E4BB9CC26A11}" type="presParOf" srcId="{D2E2D0AE-1446-4173-8D61-01F0B511B108}" destId="{72FAC165-88F3-4959-90A5-7E800CD29AFF}" srcOrd="8" destOrd="0" presId="urn:microsoft.com/office/officeart/2018/2/layout/IconVerticalSolidList"/>
    <dgm:cxn modelId="{08199DFF-769D-46AB-ACC7-38EA773CC66B}" type="presParOf" srcId="{72FAC165-88F3-4959-90A5-7E800CD29AFF}" destId="{50E8F0D9-7A82-46E8-B18A-06A23E809316}" srcOrd="0" destOrd="0" presId="urn:microsoft.com/office/officeart/2018/2/layout/IconVerticalSolidList"/>
    <dgm:cxn modelId="{D93A395A-8485-41A9-8C50-668C70CA5850}" type="presParOf" srcId="{72FAC165-88F3-4959-90A5-7E800CD29AFF}" destId="{0C89054A-C0DC-4A36-A3A0-F9FAEB432FA7}" srcOrd="1" destOrd="0" presId="urn:microsoft.com/office/officeart/2018/2/layout/IconVerticalSolidList"/>
    <dgm:cxn modelId="{70EC126F-5027-451C-9724-C24CF13E6FB5}" type="presParOf" srcId="{72FAC165-88F3-4959-90A5-7E800CD29AFF}" destId="{A7333B82-6523-4CD5-ACF9-99CFB11772CF}" srcOrd="2" destOrd="0" presId="urn:microsoft.com/office/officeart/2018/2/layout/IconVerticalSolidList"/>
    <dgm:cxn modelId="{984BDC19-F2B0-4423-A763-19D2027F9B8D}" type="presParOf" srcId="{72FAC165-88F3-4959-90A5-7E800CD29AFF}" destId="{01A3E9AE-6FDB-4F76-AADF-37A2CDC30E76}" srcOrd="3" destOrd="0" presId="urn:microsoft.com/office/officeart/2018/2/layout/IconVerticalSolidList"/>
    <dgm:cxn modelId="{5C0B000E-3354-4661-86AE-BE5A6A0B42D0}" type="presParOf" srcId="{D2E2D0AE-1446-4173-8D61-01F0B511B108}" destId="{0A34B82F-A8F3-4D74-A65C-0B3911F08780}" srcOrd="9" destOrd="0" presId="urn:microsoft.com/office/officeart/2018/2/layout/IconVerticalSolidList"/>
    <dgm:cxn modelId="{FF0FA7CC-2630-47D3-8A10-40977B883BB2}" type="presParOf" srcId="{D2E2D0AE-1446-4173-8D61-01F0B511B108}" destId="{FAF6074F-C79B-4853-9FE8-702198CFB590}" srcOrd="10" destOrd="0" presId="urn:microsoft.com/office/officeart/2018/2/layout/IconVerticalSolidList"/>
    <dgm:cxn modelId="{A4E3BE56-9744-438E-B190-94A851D72953}" type="presParOf" srcId="{FAF6074F-C79B-4853-9FE8-702198CFB590}" destId="{89F5DE8E-2592-4228-A37C-9404A3AE4CD1}" srcOrd="0" destOrd="0" presId="urn:microsoft.com/office/officeart/2018/2/layout/IconVerticalSolidList"/>
    <dgm:cxn modelId="{55EF8673-5A63-4E54-97E6-0896EFF18D24}" type="presParOf" srcId="{FAF6074F-C79B-4853-9FE8-702198CFB590}" destId="{A752B809-E14B-450A-ADD5-F29C513A7151}" srcOrd="1" destOrd="0" presId="urn:microsoft.com/office/officeart/2018/2/layout/IconVerticalSolidList"/>
    <dgm:cxn modelId="{8B227CD5-3BE1-4E90-A309-128BEBAC2D10}" type="presParOf" srcId="{FAF6074F-C79B-4853-9FE8-702198CFB590}" destId="{9D7FC5C0-DDE1-47D4-8AB0-AA26BAD8A70F}" srcOrd="2" destOrd="0" presId="urn:microsoft.com/office/officeart/2018/2/layout/IconVerticalSolidList"/>
    <dgm:cxn modelId="{CCCBAF4C-E239-4218-83EB-C862C7CD4DE0}" type="presParOf" srcId="{FAF6074F-C79B-4853-9FE8-702198CFB590}" destId="{4501BCAE-72E5-444E-B60A-5A79D018891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DEE6E75-F7B5-4585-A847-10DD0301B367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accent2_2" csCatId="accent2" phldr="1"/>
      <dgm:spPr/>
      <dgm:t>
        <a:bodyPr/>
        <a:lstStyle/>
        <a:p>
          <a:endParaRPr lang="en-US"/>
        </a:p>
      </dgm:t>
    </dgm:pt>
    <dgm:pt modelId="{AD89E63A-884E-4292-A583-73475C545B24}">
      <dgm:prSet custT="1"/>
      <dgm:spPr/>
      <dgm:t>
        <a:bodyPr/>
        <a:lstStyle/>
        <a:p>
          <a:r>
            <a:rPr lang="en-IN" sz="1600" dirty="0"/>
            <a:t>The raw dataset contained 2 columns: id and encoded(Base64 format)</a:t>
          </a:r>
          <a:endParaRPr lang="en-US" sz="1600" dirty="0"/>
        </a:p>
      </dgm:t>
    </dgm:pt>
    <dgm:pt modelId="{6F69891E-EAF8-41A1-AC96-FAD02A0B9838}" type="parTrans" cxnId="{B3740D37-F22E-422D-8EE0-3CACFAB275C5}">
      <dgm:prSet/>
      <dgm:spPr/>
      <dgm:t>
        <a:bodyPr/>
        <a:lstStyle/>
        <a:p>
          <a:endParaRPr lang="en-US" sz="1800"/>
        </a:p>
      </dgm:t>
    </dgm:pt>
    <dgm:pt modelId="{FF3FB07E-FD66-4AA0-9F32-819D5E6699F7}" type="sibTrans" cxnId="{B3740D37-F22E-422D-8EE0-3CACFAB275C5}">
      <dgm:prSet/>
      <dgm:spPr/>
      <dgm:t>
        <a:bodyPr/>
        <a:lstStyle/>
        <a:p>
          <a:endParaRPr lang="en-US"/>
        </a:p>
      </dgm:t>
    </dgm:pt>
    <dgm:pt modelId="{FD212139-6CDB-4367-BB48-7AFD7E5F38E9}">
      <dgm:prSet custT="1"/>
      <dgm:spPr/>
      <dgm:t>
        <a:bodyPr/>
        <a:lstStyle/>
        <a:p>
          <a:r>
            <a:rPr lang="en-US" sz="1600" dirty="0"/>
            <a:t>Encoded columns was decoded from Base64 into structured JSON format and identified invalid/failed decoding row(~1 row).</a:t>
          </a:r>
        </a:p>
      </dgm:t>
    </dgm:pt>
    <dgm:pt modelId="{61D5D4CF-43AA-45C6-AFF9-C2DD077EC7AA}" type="parTrans" cxnId="{A67BEC3E-71FE-4E41-BD41-A54512C9DC41}">
      <dgm:prSet/>
      <dgm:spPr/>
      <dgm:t>
        <a:bodyPr/>
        <a:lstStyle/>
        <a:p>
          <a:endParaRPr lang="en-US" sz="1800"/>
        </a:p>
      </dgm:t>
    </dgm:pt>
    <dgm:pt modelId="{149FA019-1D87-4FEF-B180-7F2233E82B2A}" type="sibTrans" cxnId="{A67BEC3E-71FE-4E41-BD41-A54512C9DC41}">
      <dgm:prSet/>
      <dgm:spPr/>
      <dgm:t>
        <a:bodyPr/>
        <a:lstStyle/>
        <a:p>
          <a:endParaRPr lang="en-US"/>
        </a:p>
      </dgm:t>
    </dgm:pt>
    <dgm:pt modelId="{C8F58CC4-4377-4799-B208-DFE918602685}">
      <dgm:prSet custT="1"/>
      <dgm:spPr/>
      <dgm:t>
        <a:bodyPr/>
        <a:lstStyle/>
        <a:p>
          <a:r>
            <a:rPr lang="en-IN" sz="1600" dirty="0"/>
            <a:t>Extracted multiple attributes contain id, Asset ID,MAC Address, OS, Function, DHCP Options Fingerprint etc. </a:t>
          </a:r>
          <a:endParaRPr lang="en-US" sz="1600" dirty="0"/>
        </a:p>
      </dgm:t>
    </dgm:pt>
    <dgm:pt modelId="{10CE211A-A78F-40DB-8098-D4A2359240EA}" type="parTrans" cxnId="{BAC52F56-4FFC-4872-AD10-3BAC19D91065}">
      <dgm:prSet/>
      <dgm:spPr/>
      <dgm:t>
        <a:bodyPr/>
        <a:lstStyle/>
        <a:p>
          <a:endParaRPr lang="en-US" sz="1800"/>
        </a:p>
      </dgm:t>
    </dgm:pt>
    <dgm:pt modelId="{AA637BCC-3D2C-4468-B2BF-FBC0FC1D2D22}" type="sibTrans" cxnId="{BAC52F56-4FFC-4872-AD10-3BAC19D91065}">
      <dgm:prSet/>
      <dgm:spPr/>
      <dgm:t>
        <a:bodyPr/>
        <a:lstStyle/>
        <a:p>
          <a:endParaRPr lang="en-US"/>
        </a:p>
      </dgm:t>
    </dgm:pt>
    <dgm:pt modelId="{FB5625E1-17C3-4B24-9AC5-ED5C1FADE28B}">
      <dgm:prSet custT="1"/>
      <dgm:spPr/>
      <dgm:t>
        <a:bodyPr/>
        <a:lstStyle/>
        <a:p>
          <a:r>
            <a:rPr lang="en-IN" sz="1600" dirty="0"/>
            <a:t>There are total 88513 records with 10 columns</a:t>
          </a:r>
          <a:endParaRPr lang="en-US" sz="1600" dirty="0"/>
        </a:p>
      </dgm:t>
    </dgm:pt>
    <dgm:pt modelId="{3F5755CB-AE8A-459D-97B1-F299C069C17B}" type="parTrans" cxnId="{CCF801B9-FACB-4D2E-A2A3-AB159B6CF771}">
      <dgm:prSet/>
      <dgm:spPr/>
      <dgm:t>
        <a:bodyPr/>
        <a:lstStyle/>
        <a:p>
          <a:endParaRPr lang="en-US" sz="1800"/>
        </a:p>
      </dgm:t>
    </dgm:pt>
    <dgm:pt modelId="{7519FE3C-0C99-44D9-B214-63BDAC0AB445}" type="sibTrans" cxnId="{CCF801B9-FACB-4D2E-A2A3-AB159B6CF771}">
      <dgm:prSet/>
      <dgm:spPr/>
      <dgm:t>
        <a:bodyPr/>
        <a:lstStyle/>
        <a:p>
          <a:endParaRPr lang="en-US"/>
        </a:p>
      </dgm:t>
    </dgm:pt>
    <dgm:pt modelId="{5ED43784-F792-4EC3-A86D-94380D8121F4}" type="pres">
      <dgm:prSet presAssocID="{DDEE6E75-F7B5-4585-A847-10DD0301B367}" presName="root" presStyleCnt="0">
        <dgm:presLayoutVars>
          <dgm:dir/>
          <dgm:resizeHandles val="exact"/>
        </dgm:presLayoutVars>
      </dgm:prSet>
      <dgm:spPr/>
    </dgm:pt>
    <dgm:pt modelId="{9FBCE7BE-816C-4061-9DC9-B897B3BA9F5F}" type="pres">
      <dgm:prSet presAssocID="{AD89E63A-884E-4292-A583-73475C545B24}" presName="compNode" presStyleCnt="0"/>
      <dgm:spPr/>
    </dgm:pt>
    <dgm:pt modelId="{8599205F-D17C-4372-BC42-A9E4D1A771B5}" type="pres">
      <dgm:prSet presAssocID="{AD89E63A-884E-4292-A583-73475C545B24}" presName="bgRect" presStyleLbl="bgShp" presStyleIdx="0" presStyleCnt="4"/>
      <dgm:spPr/>
    </dgm:pt>
    <dgm:pt modelId="{AC5DF8BC-FD50-41A2-B5CF-3D939414225D}" type="pres">
      <dgm:prSet presAssocID="{AD89E63A-884E-4292-A583-73475C545B24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7AFE9522-661D-4A2F-B206-F110457DFB68}" type="pres">
      <dgm:prSet presAssocID="{AD89E63A-884E-4292-A583-73475C545B24}" presName="spaceRect" presStyleCnt="0"/>
      <dgm:spPr/>
    </dgm:pt>
    <dgm:pt modelId="{77A9A536-A821-44E6-A2BC-260F116E0582}" type="pres">
      <dgm:prSet presAssocID="{AD89E63A-884E-4292-A583-73475C545B24}" presName="parTx" presStyleLbl="revTx" presStyleIdx="0" presStyleCnt="4">
        <dgm:presLayoutVars>
          <dgm:chMax val="0"/>
          <dgm:chPref val="0"/>
        </dgm:presLayoutVars>
      </dgm:prSet>
      <dgm:spPr/>
    </dgm:pt>
    <dgm:pt modelId="{3B75DFB5-3882-437E-8397-8C76535D3BCB}" type="pres">
      <dgm:prSet presAssocID="{FF3FB07E-FD66-4AA0-9F32-819D5E6699F7}" presName="sibTrans" presStyleCnt="0"/>
      <dgm:spPr/>
    </dgm:pt>
    <dgm:pt modelId="{1924BAB6-6FF7-4DCB-A391-97A19F45BC62}" type="pres">
      <dgm:prSet presAssocID="{FD212139-6CDB-4367-BB48-7AFD7E5F38E9}" presName="compNode" presStyleCnt="0"/>
      <dgm:spPr/>
    </dgm:pt>
    <dgm:pt modelId="{BA9D33A4-5014-4BAC-AB41-32A939D185BD}" type="pres">
      <dgm:prSet presAssocID="{FD212139-6CDB-4367-BB48-7AFD7E5F38E9}" presName="bgRect" presStyleLbl="bgShp" presStyleIdx="1" presStyleCnt="4"/>
      <dgm:spPr/>
    </dgm:pt>
    <dgm:pt modelId="{CEE9E7DF-6069-47C2-99E8-E4A419D494F5}" type="pres">
      <dgm:prSet presAssocID="{FD212139-6CDB-4367-BB48-7AFD7E5F38E9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B5639158-88F0-47A0-B94E-1EEFC813964D}" type="pres">
      <dgm:prSet presAssocID="{FD212139-6CDB-4367-BB48-7AFD7E5F38E9}" presName="spaceRect" presStyleCnt="0"/>
      <dgm:spPr/>
    </dgm:pt>
    <dgm:pt modelId="{F1D96C63-BF9E-4797-B3F2-DED97523DE8A}" type="pres">
      <dgm:prSet presAssocID="{FD212139-6CDB-4367-BB48-7AFD7E5F38E9}" presName="parTx" presStyleLbl="revTx" presStyleIdx="1" presStyleCnt="4">
        <dgm:presLayoutVars>
          <dgm:chMax val="0"/>
          <dgm:chPref val="0"/>
        </dgm:presLayoutVars>
      </dgm:prSet>
      <dgm:spPr/>
    </dgm:pt>
    <dgm:pt modelId="{E4AAF126-05F7-4254-BEF5-D29876A28FB4}" type="pres">
      <dgm:prSet presAssocID="{149FA019-1D87-4FEF-B180-7F2233E82B2A}" presName="sibTrans" presStyleCnt="0"/>
      <dgm:spPr/>
    </dgm:pt>
    <dgm:pt modelId="{8C899717-DA72-4C04-AB1A-A8D22A38969D}" type="pres">
      <dgm:prSet presAssocID="{C8F58CC4-4377-4799-B208-DFE918602685}" presName="compNode" presStyleCnt="0"/>
      <dgm:spPr/>
    </dgm:pt>
    <dgm:pt modelId="{4F5D7875-1076-459D-B917-CA2E2D1429DF}" type="pres">
      <dgm:prSet presAssocID="{C8F58CC4-4377-4799-B208-DFE918602685}" presName="bgRect" presStyleLbl="bgShp" presStyleIdx="2" presStyleCnt="4"/>
      <dgm:spPr/>
    </dgm:pt>
    <dgm:pt modelId="{0D247F90-BB11-4AD6-BD14-C5E0EFBF2792}" type="pres">
      <dgm:prSet presAssocID="{C8F58CC4-4377-4799-B208-DFE918602685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D4206AF9-99ED-4668-9ACB-D416EA3CF103}" type="pres">
      <dgm:prSet presAssocID="{C8F58CC4-4377-4799-B208-DFE918602685}" presName="spaceRect" presStyleCnt="0"/>
      <dgm:spPr/>
    </dgm:pt>
    <dgm:pt modelId="{AB310D3B-E8EF-428C-AFCA-A62015D698F3}" type="pres">
      <dgm:prSet presAssocID="{C8F58CC4-4377-4799-B208-DFE918602685}" presName="parTx" presStyleLbl="revTx" presStyleIdx="2" presStyleCnt="4">
        <dgm:presLayoutVars>
          <dgm:chMax val="0"/>
          <dgm:chPref val="0"/>
        </dgm:presLayoutVars>
      </dgm:prSet>
      <dgm:spPr/>
    </dgm:pt>
    <dgm:pt modelId="{A54E4A16-19E0-4D87-951F-44B67B2A8593}" type="pres">
      <dgm:prSet presAssocID="{AA637BCC-3D2C-4468-B2BF-FBC0FC1D2D22}" presName="sibTrans" presStyleCnt="0"/>
      <dgm:spPr/>
    </dgm:pt>
    <dgm:pt modelId="{FC50847C-D3EB-4CCF-8739-5BFECE3EA332}" type="pres">
      <dgm:prSet presAssocID="{FB5625E1-17C3-4B24-9AC5-ED5C1FADE28B}" presName="compNode" presStyleCnt="0"/>
      <dgm:spPr/>
    </dgm:pt>
    <dgm:pt modelId="{A7894251-C876-4449-80DC-1DEE51882BB2}" type="pres">
      <dgm:prSet presAssocID="{FB5625E1-17C3-4B24-9AC5-ED5C1FADE28B}" presName="bgRect" presStyleLbl="bgShp" presStyleIdx="3" presStyleCnt="4"/>
      <dgm:spPr/>
    </dgm:pt>
    <dgm:pt modelId="{2AC3E292-C985-4980-977A-178DFB64C505}" type="pres">
      <dgm:prSet presAssocID="{FB5625E1-17C3-4B24-9AC5-ED5C1FADE28B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ce"/>
        </a:ext>
      </dgm:extLst>
    </dgm:pt>
    <dgm:pt modelId="{11D23836-486C-43A8-B592-DF8A0E414740}" type="pres">
      <dgm:prSet presAssocID="{FB5625E1-17C3-4B24-9AC5-ED5C1FADE28B}" presName="spaceRect" presStyleCnt="0"/>
      <dgm:spPr/>
    </dgm:pt>
    <dgm:pt modelId="{E1E98B13-14E9-40D7-8FC6-CEF10FBECB8F}" type="pres">
      <dgm:prSet presAssocID="{FB5625E1-17C3-4B24-9AC5-ED5C1FADE28B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FA9E5B10-27FF-4987-BFD4-B2E355D74D97}" type="presOf" srcId="{C8F58CC4-4377-4799-B208-DFE918602685}" destId="{AB310D3B-E8EF-428C-AFCA-A62015D698F3}" srcOrd="0" destOrd="0" presId="urn:microsoft.com/office/officeart/2018/2/layout/IconVerticalSolidList"/>
    <dgm:cxn modelId="{72345D21-A8F2-4C2D-8321-4DDE1F023AF1}" type="presOf" srcId="{DDEE6E75-F7B5-4585-A847-10DD0301B367}" destId="{5ED43784-F792-4EC3-A86D-94380D8121F4}" srcOrd="0" destOrd="0" presId="urn:microsoft.com/office/officeart/2018/2/layout/IconVerticalSolidList"/>
    <dgm:cxn modelId="{B3740D37-F22E-422D-8EE0-3CACFAB275C5}" srcId="{DDEE6E75-F7B5-4585-A847-10DD0301B367}" destId="{AD89E63A-884E-4292-A583-73475C545B24}" srcOrd="0" destOrd="0" parTransId="{6F69891E-EAF8-41A1-AC96-FAD02A0B9838}" sibTransId="{FF3FB07E-FD66-4AA0-9F32-819D5E6699F7}"/>
    <dgm:cxn modelId="{A67BEC3E-71FE-4E41-BD41-A54512C9DC41}" srcId="{DDEE6E75-F7B5-4585-A847-10DD0301B367}" destId="{FD212139-6CDB-4367-BB48-7AFD7E5F38E9}" srcOrd="1" destOrd="0" parTransId="{61D5D4CF-43AA-45C6-AFF9-C2DD077EC7AA}" sibTransId="{149FA019-1D87-4FEF-B180-7F2233E82B2A}"/>
    <dgm:cxn modelId="{C85A364A-791E-49F3-BAAD-FCA3F41E7AB8}" type="presOf" srcId="{FB5625E1-17C3-4B24-9AC5-ED5C1FADE28B}" destId="{E1E98B13-14E9-40D7-8FC6-CEF10FBECB8F}" srcOrd="0" destOrd="0" presId="urn:microsoft.com/office/officeart/2018/2/layout/IconVerticalSolidList"/>
    <dgm:cxn modelId="{BAC52F56-4FFC-4872-AD10-3BAC19D91065}" srcId="{DDEE6E75-F7B5-4585-A847-10DD0301B367}" destId="{C8F58CC4-4377-4799-B208-DFE918602685}" srcOrd="2" destOrd="0" parTransId="{10CE211A-A78F-40DB-8098-D4A2359240EA}" sibTransId="{AA637BCC-3D2C-4468-B2BF-FBC0FC1D2D22}"/>
    <dgm:cxn modelId="{CCF801B9-FACB-4D2E-A2A3-AB159B6CF771}" srcId="{DDEE6E75-F7B5-4585-A847-10DD0301B367}" destId="{FB5625E1-17C3-4B24-9AC5-ED5C1FADE28B}" srcOrd="3" destOrd="0" parTransId="{3F5755CB-AE8A-459D-97B1-F299C069C17B}" sibTransId="{7519FE3C-0C99-44D9-B214-63BDAC0AB445}"/>
    <dgm:cxn modelId="{B55EA8D3-553B-4C2F-A8BC-50AA7B82277D}" type="presOf" srcId="{AD89E63A-884E-4292-A583-73475C545B24}" destId="{77A9A536-A821-44E6-A2BC-260F116E0582}" srcOrd="0" destOrd="0" presId="urn:microsoft.com/office/officeart/2018/2/layout/IconVerticalSolidList"/>
    <dgm:cxn modelId="{983C86FC-DFC2-40F4-B66F-BC938ED5E479}" type="presOf" srcId="{FD212139-6CDB-4367-BB48-7AFD7E5F38E9}" destId="{F1D96C63-BF9E-4797-B3F2-DED97523DE8A}" srcOrd="0" destOrd="0" presId="urn:microsoft.com/office/officeart/2018/2/layout/IconVerticalSolidList"/>
    <dgm:cxn modelId="{45774D5B-4A16-463A-A5AD-957F78F5598F}" type="presParOf" srcId="{5ED43784-F792-4EC3-A86D-94380D8121F4}" destId="{9FBCE7BE-816C-4061-9DC9-B897B3BA9F5F}" srcOrd="0" destOrd="0" presId="urn:microsoft.com/office/officeart/2018/2/layout/IconVerticalSolidList"/>
    <dgm:cxn modelId="{9C744EF2-36F4-426F-9DA1-28977F44E353}" type="presParOf" srcId="{9FBCE7BE-816C-4061-9DC9-B897B3BA9F5F}" destId="{8599205F-D17C-4372-BC42-A9E4D1A771B5}" srcOrd="0" destOrd="0" presId="urn:microsoft.com/office/officeart/2018/2/layout/IconVerticalSolidList"/>
    <dgm:cxn modelId="{C0C75FE2-32E2-4C30-A2AF-322FFEEA660D}" type="presParOf" srcId="{9FBCE7BE-816C-4061-9DC9-B897B3BA9F5F}" destId="{AC5DF8BC-FD50-41A2-B5CF-3D939414225D}" srcOrd="1" destOrd="0" presId="urn:microsoft.com/office/officeart/2018/2/layout/IconVerticalSolidList"/>
    <dgm:cxn modelId="{337C7622-C703-4828-A5AB-530C46C4CEB1}" type="presParOf" srcId="{9FBCE7BE-816C-4061-9DC9-B897B3BA9F5F}" destId="{7AFE9522-661D-4A2F-B206-F110457DFB68}" srcOrd="2" destOrd="0" presId="urn:microsoft.com/office/officeart/2018/2/layout/IconVerticalSolidList"/>
    <dgm:cxn modelId="{A55A9719-772B-495B-9E1F-CABC200CE4CB}" type="presParOf" srcId="{9FBCE7BE-816C-4061-9DC9-B897B3BA9F5F}" destId="{77A9A536-A821-44E6-A2BC-260F116E0582}" srcOrd="3" destOrd="0" presId="urn:microsoft.com/office/officeart/2018/2/layout/IconVerticalSolidList"/>
    <dgm:cxn modelId="{F1F6F5EF-2F44-417E-A4A0-A20B06A47842}" type="presParOf" srcId="{5ED43784-F792-4EC3-A86D-94380D8121F4}" destId="{3B75DFB5-3882-437E-8397-8C76535D3BCB}" srcOrd="1" destOrd="0" presId="urn:microsoft.com/office/officeart/2018/2/layout/IconVerticalSolidList"/>
    <dgm:cxn modelId="{A2FB2D71-05C3-4A9E-B44F-5CF2B93646E0}" type="presParOf" srcId="{5ED43784-F792-4EC3-A86D-94380D8121F4}" destId="{1924BAB6-6FF7-4DCB-A391-97A19F45BC62}" srcOrd="2" destOrd="0" presId="urn:microsoft.com/office/officeart/2018/2/layout/IconVerticalSolidList"/>
    <dgm:cxn modelId="{D78D4F1F-EFFA-4E55-8C6F-FC5AAE8DDE5E}" type="presParOf" srcId="{1924BAB6-6FF7-4DCB-A391-97A19F45BC62}" destId="{BA9D33A4-5014-4BAC-AB41-32A939D185BD}" srcOrd="0" destOrd="0" presId="urn:microsoft.com/office/officeart/2018/2/layout/IconVerticalSolidList"/>
    <dgm:cxn modelId="{D39DE64A-47A8-40C4-BAB9-79291A96CE6D}" type="presParOf" srcId="{1924BAB6-6FF7-4DCB-A391-97A19F45BC62}" destId="{CEE9E7DF-6069-47C2-99E8-E4A419D494F5}" srcOrd="1" destOrd="0" presId="urn:microsoft.com/office/officeart/2018/2/layout/IconVerticalSolidList"/>
    <dgm:cxn modelId="{2E2504E5-B27E-45F4-98AB-55C9F005F632}" type="presParOf" srcId="{1924BAB6-6FF7-4DCB-A391-97A19F45BC62}" destId="{B5639158-88F0-47A0-B94E-1EEFC813964D}" srcOrd="2" destOrd="0" presId="urn:microsoft.com/office/officeart/2018/2/layout/IconVerticalSolidList"/>
    <dgm:cxn modelId="{CCB4E3B8-053D-4139-BEB8-0F8D9D6C3992}" type="presParOf" srcId="{1924BAB6-6FF7-4DCB-A391-97A19F45BC62}" destId="{F1D96C63-BF9E-4797-B3F2-DED97523DE8A}" srcOrd="3" destOrd="0" presId="urn:microsoft.com/office/officeart/2018/2/layout/IconVerticalSolidList"/>
    <dgm:cxn modelId="{8ABC8DF0-ACA0-481D-903C-7826FFA98C80}" type="presParOf" srcId="{5ED43784-F792-4EC3-A86D-94380D8121F4}" destId="{E4AAF126-05F7-4254-BEF5-D29876A28FB4}" srcOrd="3" destOrd="0" presId="urn:microsoft.com/office/officeart/2018/2/layout/IconVerticalSolidList"/>
    <dgm:cxn modelId="{77DD4A1E-B721-4FED-ABF1-0C8DFFA1F21A}" type="presParOf" srcId="{5ED43784-F792-4EC3-A86D-94380D8121F4}" destId="{8C899717-DA72-4C04-AB1A-A8D22A38969D}" srcOrd="4" destOrd="0" presId="urn:microsoft.com/office/officeart/2018/2/layout/IconVerticalSolidList"/>
    <dgm:cxn modelId="{E8EF5310-DF34-4956-BDF3-F17AE92384D9}" type="presParOf" srcId="{8C899717-DA72-4C04-AB1A-A8D22A38969D}" destId="{4F5D7875-1076-459D-B917-CA2E2D1429DF}" srcOrd="0" destOrd="0" presId="urn:microsoft.com/office/officeart/2018/2/layout/IconVerticalSolidList"/>
    <dgm:cxn modelId="{4B9FCD0C-87EF-48CA-BE10-4215622FE181}" type="presParOf" srcId="{8C899717-DA72-4C04-AB1A-A8D22A38969D}" destId="{0D247F90-BB11-4AD6-BD14-C5E0EFBF2792}" srcOrd="1" destOrd="0" presId="urn:microsoft.com/office/officeart/2018/2/layout/IconVerticalSolidList"/>
    <dgm:cxn modelId="{EEB43224-5F51-469E-A5C6-FCE05779259A}" type="presParOf" srcId="{8C899717-DA72-4C04-AB1A-A8D22A38969D}" destId="{D4206AF9-99ED-4668-9ACB-D416EA3CF103}" srcOrd="2" destOrd="0" presId="urn:microsoft.com/office/officeart/2018/2/layout/IconVerticalSolidList"/>
    <dgm:cxn modelId="{15F6ACF9-3AF2-48DA-81EB-39AFB54DD975}" type="presParOf" srcId="{8C899717-DA72-4C04-AB1A-A8D22A38969D}" destId="{AB310D3B-E8EF-428C-AFCA-A62015D698F3}" srcOrd="3" destOrd="0" presId="urn:microsoft.com/office/officeart/2018/2/layout/IconVerticalSolidList"/>
    <dgm:cxn modelId="{CFEEC7F1-128C-4797-97DA-3B6E428F9436}" type="presParOf" srcId="{5ED43784-F792-4EC3-A86D-94380D8121F4}" destId="{A54E4A16-19E0-4D87-951F-44B67B2A8593}" srcOrd="5" destOrd="0" presId="urn:microsoft.com/office/officeart/2018/2/layout/IconVerticalSolidList"/>
    <dgm:cxn modelId="{DD648ABF-D89E-46A3-8429-125EDC614780}" type="presParOf" srcId="{5ED43784-F792-4EC3-A86D-94380D8121F4}" destId="{FC50847C-D3EB-4CCF-8739-5BFECE3EA332}" srcOrd="6" destOrd="0" presId="urn:microsoft.com/office/officeart/2018/2/layout/IconVerticalSolidList"/>
    <dgm:cxn modelId="{0183A93B-7608-47B8-8723-31653D4E9609}" type="presParOf" srcId="{FC50847C-D3EB-4CCF-8739-5BFECE3EA332}" destId="{A7894251-C876-4449-80DC-1DEE51882BB2}" srcOrd="0" destOrd="0" presId="urn:microsoft.com/office/officeart/2018/2/layout/IconVerticalSolidList"/>
    <dgm:cxn modelId="{0AE4199D-AAFA-40C2-BDDF-7702B84E7211}" type="presParOf" srcId="{FC50847C-D3EB-4CCF-8739-5BFECE3EA332}" destId="{2AC3E292-C985-4980-977A-178DFB64C505}" srcOrd="1" destOrd="0" presId="urn:microsoft.com/office/officeart/2018/2/layout/IconVerticalSolidList"/>
    <dgm:cxn modelId="{FC359A3A-7DF0-4BBB-B84A-C03B1664D83A}" type="presParOf" srcId="{FC50847C-D3EB-4CCF-8739-5BFECE3EA332}" destId="{11D23836-486C-43A8-B592-DF8A0E414740}" srcOrd="2" destOrd="0" presId="urn:microsoft.com/office/officeart/2018/2/layout/IconVerticalSolidList"/>
    <dgm:cxn modelId="{CA320827-0426-4B5D-82F3-A1882EC3337B}" type="presParOf" srcId="{FC50847C-D3EB-4CCF-8739-5BFECE3EA332}" destId="{E1E98B13-14E9-40D7-8FC6-CEF10FBECB8F}" srcOrd="3" destOrd="0" presId="urn:microsoft.com/office/officeart/2018/2/layout/IconVerticalSolidList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38E158F-C38E-436A-BFFE-240610B8DAED}" type="doc">
      <dgm:prSet loTypeId="urn:microsoft.com/office/officeart/2008/layout/LinedList" loCatId="list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F8918F14-F922-466D-A6EE-412A7DBB1B76}">
      <dgm:prSet custT="1"/>
      <dgm:spPr/>
      <dgm:t>
        <a:bodyPr/>
        <a:lstStyle/>
        <a:p>
          <a:r>
            <a:rPr lang="en-IN" sz="1600" dirty="0"/>
            <a:t>There are high null percentage for certain columns like DHCP Device Class(55.8 %),DHCP Vendor Class (45.1%), OS (35.3 %), DHCP Options Fingerprint(29.4 %),DHCP Request Fingerprint(29.4%)</a:t>
          </a:r>
          <a:endParaRPr lang="en-US" sz="1600" dirty="0"/>
        </a:p>
      </dgm:t>
    </dgm:pt>
    <dgm:pt modelId="{18D0C0B3-99D8-4367-8E70-0380D71CF8CD}" type="parTrans" cxnId="{54A76332-E636-456C-9AA4-6BB384DAF813}">
      <dgm:prSet/>
      <dgm:spPr/>
      <dgm:t>
        <a:bodyPr/>
        <a:lstStyle/>
        <a:p>
          <a:endParaRPr lang="en-US" sz="1600"/>
        </a:p>
      </dgm:t>
    </dgm:pt>
    <dgm:pt modelId="{FE3E08E0-75FC-4EC1-95F3-858AB2D65DA7}" type="sibTrans" cxnId="{54A76332-E636-456C-9AA4-6BB384DAF813}">
      <dgm:prSet/>
      <dgm:spPr/>
      <dgm:t>
        <a:bodyPr/>
        <a:lstStyle/>
        <a:p>
          <a:endParaRPr lang="en-US" sz="1600"/>
        </a:p>
      </dgm:t>
    </dgm:pt>
    <dgm:pt modelId="{8A3AE32C-B2F3-46F3-AB78-C09D22637656}">
      <dgm:prSet custT="1"/>
      <dgm:spPr/>
      <dgm:t>
        <a:bodyPr/>
        <a:lstStyle/>
        <a:p>
          <a:r>
            <a:rPr lang="en-US" sz="1600" dirty="0"/>
            <a:t>Detected unique values for </a:t>
          </a:r>
          <a:r>
            <a:rPr lang="en-GB" sz="1600" b="0" i="0" dirty="0"/>
            <a:t>Asset ID(</a:t>
          </a:r>
          <a:r>
            <a:rPr lang="en-NL" sz="1600" b="0" i="0" dirty="0"/>
            <a:t>88513</a:t>
          </a:r>
          <a:r>
            <a:rPr lang="en-GB" sz="1600" b="0" i="0" dirty="0"/>
            <a:t>),OS(32),Function(83),Vendor and Model(314), </a:t>
          </a:r>
          <a:r>
            <a:rPr lang="en-IN" sz="1600" dirty="0"/>
            <a:t>DHCP Options Fingerprint(162), DHCP Request Fingerprint(135),</a:t>
          </a:r>
          <a:r>
            <a:rPr lang="en-GB" sz="1600" b="0" i="0" dirty="0"/>
            <a:t> DHCP Vendor Class(121), DHCP Device Class(14)</a:t>
          </a:r>
          <a:endParaRPr lang="en-US" sz="1600" dirty="0"/>
        </a:p>
      </dgm:t>
    </dgm:pt>
    <dgm:pt modelId="{268B8231-0FA5-4369-9344-786169691207}" type="parTrans" cxnId="{710727EB-3A94-46A8-81E5-78F8DA48BD12}">
      <dgm:prSet/>
      <dgm:spPr/>
      <dgm:t>
        <a:bodyPr/>
        <a:lstStyle/>
        <a:p>
          <a:endParaRPr lang="en-US" sz="1600"/>
        </a:p>
      </dgm:t>
    </dgm:pt>
    <dgm:pt modelId="{BA0AC471-C150-418B-A822-CE9F785B09CF}" type="sibTrans" cxnId="{710727EB-3A94-46A8-81E5-78F8DA48BD12}">
      <dgm:prSet/>
      <dgm:spPr/>
      <dgm:t>
        <a:bodyPr/>
        <a:lstStyle/>
        <a:p>
          <a:endParaRPr lang="en-US" sz="1600"/>
        </a:p>
      </dgm:t>
    </dgm:pt>
    <dgm:pt modelId="{EE172B37-666A-4087-8250-523C190DC69C}">
      <dgm:prSet custT="1"/>
      <dgm:spPr/>
      <dgm:t>
        <a:bodyPr/>
        <a:lstStyle/>
        <a:p>
          <a:r>
            <a:rPr lang="en-US" sz="1600" dirty="0"/>
            <a:t>The majority of the devices run on the Top OS - </a:t>
          </a:r>
          <a:r>
            <a:rPr lang="en-GB" sz="1600" b="0" i="0" dirty="0"/>
            <a:t>Apple Desktop OS(16.68 %), Linux (16.10%), Embedded Firmware(15.22 %), Chrome OS(11.59%).</a:t>
          </a:r>
        </a:p>
      </dgm:t>
    </dgm:pt>
    <dgm:pt modelId="{9C39D1AB-9DE5-426F-A84D-C17FB8D8F329}" type="parTrans" cxnId="{A788BC22-8A50-41F0-AA87-3FB0012789AB}">
      <dgm:prSet/>
      <dgm:spPr/>
      <dgm:t>
        <a:bodyPr/>
        <a:lstStyle/>
        <a:p>
          <a:endParaRPr lang="en-US" sz="1600"/>
        </a:p>
      </dgm:t>
    </dgm:pt>
    <dgm:pt modelId="{696C201E-5561-4F35-9F84-E1D4F2C6923A}" type="sibTrans" cxnId="{A788BC22-8A50-41F0-AA87-3FB0012789AB}">
      <dgm:prSet/>
      <dgm:spPr/>
      <dgm:t>
        <a:bodyPr/>
        <a:lstStyle/>
        <a:p>
          <a:endParaRPr lang="en-US" sz="1600"/>
        </a:p>
      </dgm:t>
    </dgm:pt>
    <dgm:pt modelId="{838E999C-B9E9-43D0-BF0C-639E989F8F29}">
      <dgm:prSet custT="1"/>
      <dgm:spPr/>
      <dgm:t>
        <a:bodyPr/>
        <a:lstStyle/>
        <a:p>
          <a:r>
            <a:rPr lang="en-US" sz="1600" dirty="0"/>
            <a:t>Most</a:t>
          </a:r>
          <a:r>
            <a:rPr lang="en-US" sz="1600" baseline="0" dirty="0"/>
            <a:t> Devices are classified as Top Function- IP Phone (33.72%), Workstation(20.92 %), Switch(10.49%),Computer(7.30 %) </a:t>
          </a:r>
          <a:endParaRPr lang="en-US" sz="1600" dirty="0"/>
        </a:p>
      </dgm:t>
    </dgm:pt>
    <dgm:pt modelId="{B1367F73-4CBE-439F-82ED-CF345A64B401}" type="parTrans" cxnId="{8A871C3C-A20A-4945-AAD7-748DF38B2BAB}">
      <dgm:prSet/>
      <dgm:spPr/>
      <dgm:t>
        <a:bodyPr/>
        <a:lstStyle/>
        <a:p>
          <a:endParaRPr lang="en-US" sz="1600"/>
        </a:p>
      </dgm:t>
    </dgm:pt>
    <dgm:pt modelId="{1A6BC861-36BA-4BC7-8212-FA6B52A8E43A}" type="sibTrans" cxnId="{8A871C3C-A20A-4945-AAD7-748DF38B2BAB}">
      <dgm:prSet/>
      <dgm:spPr/>
      <dgm:t>
        <a:bodyPr/>
        <a:lstStyle/>
        <a:p>
          <a:endParaRPr lang="en-US" sz="1600"/>
        </a:p>
      </dgm:t>
    </dgm:pt>
    <dgm:pt modelId="{44FE81E4-8574-4768-8C04-381CC59FF442}" type="pres">
      <dgm:prSet presAssocID="{738E158F-C38E-436A-BFFE-240610B8DAED}" presName="vert0" presStyleCnt="0">
        <dgm:presLayoutVars>
          <dgm:dir/>
          <dgm:animOne val="branch"/>
          <dgm:animLvl val="lvl"/>
        </dgm:presLayoutVars>
      </dgm:prSet>
      <dgm:spPr/>
    </dgm:pt>
    <dgm:pt modelId="{CEB97E46-F40D-4510-8B6F-454D5AA242AB}" type="pres">
      <dgm:prSet presAssocID="{F8918F14-F922-466D-A6EE-412A7DBB1B76}" presName="thickLine" presStyleLbl="alignNode1" presStyleIdx="0" presStyleCnt="4"/>
      <dgm:spPr/>
    </dgm:pt>
    <dgm:pt modelId="{91FC048B-497B-43ED-BB78-26ADF0BC01F9}" type="pres">
      <dgm:prSet presAssocID="{F8918F14-F922-466D-A6EE-412A7DBB1B76}" presName="horz1" presStyleCnt="0"/>
      <dgm:spPr/>
    </dgm:pt>
    <dgm:pt modelId="{E1A4238A-93E1-4569-95BA-0B786B1AFE15}" type="pres">
      <dgm:prSet presAssocID="{F8918F14-F922-466D-A6EE-412A7DBB1B76}" presName="tx1" presStyleLbl="revTx" presStyleIdx="0" presStyleCnt="4"/>
      <dgm:spPr/>
    </dgm:pt>
    <dgm:pt modelId="{A2613D2E-C1AD-46BB-99D6-F2882F84A52A}" type="pres">
      <dgm:prSet presAssocID="{F8918F14-F922-466D-A6EE-412A7DBB1B76}" presName="vert1" presStyleCnt="0"/>
      <dgm:spPr/>
    </dgm:pt>
    <dgm:pt modelId="{F3BDC96A-0FB4-4878-A7DB-08DF3A643F0E}" type="pres">
      <dgm:prSet presAssocID="{8A3AE32C-B2F3-46F3-AB78-C09D22637656}" presName="thickLine" presStyleLbl="alignNode1" presStyleIdx="1" presStyleCnt="4"/>
      <dgm:spPr/>
    </dgm:pt>
    <dgm:pt modelId="{12C0D3FA-56C9-4664-9140-06A86BF8F8E9}" type="pres">
      <dgm:prSet presAssocID="{8A3AE32C-B2F3-46F3-AB78-C09D22637656}" presName="horz1" presStyleCnt="0"/>
      <dgm:spPr/>
    </dgm:pt>
    <dgm:pt modelId="{9CEFFCD2-2A4E-457A-99BF-A29CA1EEBD0E}" type="pres">
      <dgm:prSet presAssocID="{8A3AE32C-B2F3-46F3-AB78-C09D22637656}" presName="tx1" presStyleLbl="revTx" presStyleIdx="1" presStyleCnt="4"/>
      <dgm:spPr/>
    </dgm:pt>
    <dgm:pt modelId="{7940D1FB-C8E6-49EF-A220-ACCF3AAB1868}" type="pres">
      <dgm:prSet presAssocID="{8A3AE32C-B2F3-46F3-AB78-C09D22637656}" presName="vert1" presStyleCnt="0"/>
      <dgm:spPr/>
    </dgm:pt>
    <dgm:pt modelId="{FE0D6CA3-61E7-41A1-BA24-3CC0ADCDA524}" type="pres">
      <dgm:prSet presAssocID="{EE172B37-666A-4087-8250-523C190DC69C}" presName="thickLine" presStyleLbl="alignNode1" presStyleIdx="2" presStyleCnt="4"/>
      <dgm:spPr/>
    </dgm:pt>
    <dgm:pt modelId="{53734C1C-6215-4D30-8407-4EC23135CA9E}" type="pres">
      <dgm:prSet presAssocID="{EE172B37-666A-4087-8250-523C190DC69C}" presName="horz1" presStyleCnt="0"/>
      <dgm:spPr/>
    </dgm:pt>
    <dgm:pt modelId="{A75FAA76-14C6-49D5-8DF2-D1919CB893FD}" type="pres">
      <dgm:prSet presAssocID="{EE172B37-666A-4087-8250-523C190DC69C}" presName="tx1" presStyleLbl="revTx" presStyleIdx="2" presStyleCnt="4"/>
      <dgm:spPr/>
    </dgm:pt>
    <dgm:pt modelId="{159C8A91-63D7-4A27-A406-F08B231F8963}" type="pres">
      <dgm:prSet presAssocID="{EE172B37-666A-4087-8250-523C190DC69C}" presName="vert1" presStyleCnt="0"/>
      <dgm:spPr/>
    </dgm:pt>
    <dgm:pt modelId="{5250E692-400D-410A-8189-94E6B3340DA4}" type="pres">
      <dgm:prSet presAssocID="{838E999C-B9E9-43D0-BF0C-639E989F8F29}" presName="thickLine" presStyleLbl="alignNode1" presStyleIdx="3" presStyleCnt="4"/>
      <dgm:spPr/>
    </dgm:pt>
    <dgm:pt modelId="{2B96FCE4-768B-4786-AFEF-6AB7DDB3D711}" type="pres">
      <dgm:prSet presAssocID="{838E999C-B9E9-43D0-BF0C-639E989F8F29}" presName="horz1" presStyleCnt="0"/>
      <dgm:spPr/>
    </dgm:pt>
    <dgm:pt modelId="{9940DAEB-455B-4F21-9E41-3BED4DAC7A1D}" type="pres">
      <dgm:prSet presAssocID="{838E999C-B9E9-43D0-BF0C-639E989F8F29}" presName="tx1" presStyleLbl="revTx" presStyleIdx="3" presStyleCnt="4"/>
      <dgm:spPr/>
    </dgm:pt>
    <dgm:pt modelId="{85F52E86-34F1-42AE-82DF-65FD9CF32BC8}" type="pres">
      <dgm:prSet presAssocID="{838E999C-B9E9-43D0-BF0C-639E989F8F29}" presName="vert1" presStyleCnt="0"/>
      <dgm:spPr/>
    </dgm:pt>
  </dgm:ptLst>
  <dgm:cxnLst>
    <dgm:cxn modelId="{A788BC22-8A50-41F0-AA87-3FB0012789AB}" srcId="{738E158F-C38E-436A-BFFE-240610B8DAED}" destId="{EE172B37-666A-4087-8250-523C190DC69C}" srcOrd="2" destOrd="0" parTransId="{9C39D1AB-9DE5-426F-A84D-C17FB8D8F329}" sibTransId="{696C201E-5561-4F35-9F84-E1D4F2C6923A}"/>
    <dgm:cxn modelId="{54A76332-E636-456C-9AA4-6BB384DAF813}" srcId="{738E158F-C38E-436A-BFFE-240610B8DAED}" destId="{F8918F14-F922-466D-A6EE-412A7DBB1B76}" srcOrd="0" destOrd="0" parTransId="{18D0C0B3-99D8-4367-8E70-0380D71CF8CD}" sibTransId="{FE3E08E0-75FC-4EC1-95F3-858AB2D65DA7}"/>
    <dgm:cxn modelId="{8A871C3C-A20A-4945-AAD7-748DF38B2BAB}" srcId="{738E158F-C38E-436A-BFFE-240610B8DAED}" destId="{838E999C-B9E9-43D0-BF0C-639E989F8F29}" srcOrd="3" destOrd="0" parTransId="{B1367F73-4CBE-439F-82ED-CF345A64B401}" sibTransId="{1A6BC861-36BA-4BC7-8212-FA6B52A8E43A}"/>
    <dgm:cxn modelId="{AD19AF5C-920C-4548-B7B3-D75FFDA98EE1}" type="presOf" srcId="{738E158F-C38E-436A-BFFE-240610B8DAED}" destId="{44FE81E4-8574-4768-8C04-381CC59FF442}" srcOrd="0" destOrd="0" presId="urn:microsoft.com/office/officeart/2008/layout/LinedList"/>
    <dgm:cxn modelId="{9E68FB78-49D5-47E9-B77B-45ED845A4694}" type="presOf" srcId="{EE172B37-666A-4087-8250-523C190DC69C}" destId="{A75FAA76-14C6-49D5-8DF2-D1919CB893FD}" srcOrd="0" destOrd="0" presId="urn:microsoft.com/office/officeart/2008/layout/LinedList"/>
    <dgm:cxn modelId="{12EE8389-DF94-4E44-BB73-A53AEA82BB84}" type="presOf" srcId="{838E999C-B9E9-43D0-BF0C-639E989F8F29}" destId="{9940DAEB-455B-4F21-9E41-3BED4DAC7A1D}" srcOrd="0" destOrd="0" presId="urn:microsoft.com/office/officeart/2008/layout/LinedList"/>
    <dgm:cxn modelId="{9CF4C3A6-9285-40F4-8441-5B81A5642BD2}" type="presOf" srcId="{8A3AE32C-B2F3-46F3-AB78-C09D22637656}" destId="{9CEFFCD2-2A4E-457A-99BF-A29CA1EEBD0E}" srcOrd="0" destOrd="0" presId="urn:microsoft.com/office/officeart/2008/layout/LinedList"/>
    <dgm:cxn modelId="{31F77DD6-9907-4F80-A54E-EAAEA77F1E03}" type="presOf" srcId="{F8918F14-F922-466D-A6EE-412A7DBB1B76}" destId="{E1A4238A-93E1-4569-95BA-0B786B1AFE15}" srcOrd="0" destOrd="0" presId="urn:microsoft.com/office/officeart/2008/layout/LinedList"/>
    <dgm:cxn modelId="{710727EB-3A94-46A8-81E5-78F8DA48BD12}" srcId="{738E158F-C38E-436A-BFFE-240610B8DAED}" destId="{8A3AE32C-B2F3-46F3-AB78-C09D22637656}" srcOrd="1" destOrd="0" parTransId="{268B8231-0FA5-4369-9344-786169691207}" sibTransId="{BA0AC471-C150-418B-A822-CE9F785B09CF}"/>
    <dgm:cxn modelId="{DA1B562D-1907-4086-90E7-B8DBEBF07A81}" type="presParOf" srcId="{44FE81E4-8574-4768-8C04-381CC59FF442}" destId="{CEB97E46-F40D-4510-8B6F-454D5AA242AB}" srcOrd="0" destOrd="0" presId="urn:microsoft.com/office/officeart/2008/layout/LinedList"/>
    <dgm:cxn modelId="{C3DD238B-0E54-4A63-8EC5-B205596F25EE}" type="presParOf" srcId="{44FE81E4-8574-4768-8C04-381CC59FF442}" destId="{91FC048B-497B-43ED-BB78-26ADF0BC01F9}" srcOrd="1" destOrd="0" presId="urn:microsoft.com/office/officeart/2008/layout/LinedList"/>
    <dgm:cxn modelId="{35A64DF3-87DA-429E-87F7-7088965F3665}" type="presParOf" srcId="{91FC048B-497B-43ED-BB78-26ADF0BC01F9}" destId="{E1A4238A-93E1-4569-95BA-0B786B1AFE15}" srcOrd="0" destOrd="0" presId="urn:microsoft.com/office/officeart/2008/layout/LinedList"/>
    <dgm:cxn modelId="{4EBC832D-8707-4F77-AB2E-89951CDBE78C}" type="presParOf" srcId="{91FC048B-497B-43ED-BB78-26ADF0BC01F9}" destId="{A2613D2E-C1AD-46BB-99D6-F2882F84A52A}" srcOrd="1" destOrd="0" presId="urn:microsoft.com/office/officeart/2008/layout/LinedList"/>
    <dgm:cxn modelId="{3328D906-C216-475D-BF06-EF06F56CFA25}" type="presParOf" srcId="{44FE81E4-8574-4768-8C04-381CC59FF442}" destId="{F3BDC96A-0FB4-4878-A7DB-08DF3A643F0E}" srcOrd="2" destOrd="0" presId="urn:microsoft.com/office/officeart/2008/layout/LinedList"/>
    <dgm:cxn modelId="{F03E930C-855A-4670-BAC4-B3D5E6BB3E04}" type="presParOf" srcId="{44FE81E4-8574-4768-8C04-381CC59FF442}" destId="{12C0D3FA-56C9-4664-9140-06A86BF8F8E9}" srcOrd="3" destOrd="0" presId="urn:microsoft.com/office/officeart/2008/layout/LinedList"/>
    <dgm:cxn modelId="{11643A56-D650-45F4-9937-EDA7B6FA4DC3}" type="presParOf" srcId="{12C0D3FA-56C9-4664-9140-06A86BF8F8E9}" destId="{9CEFFCD2-2A4E-457A-99BF-A29CA1EEBD0E}" srcOrd="0" destOrd="0" presId="urn:microsoft.com/office/officeart/2008/layout/LinedList"/>
    <dgm:cxn modelId="{505EA323-9957-4251-921E-16B8AF343CA6}" type="presParOf" srcId="{12C0D3FA-56C9-4664-9140-06A86BF8F8E9}" destId="{7940D1FB-C8E6-49EF-A220-ACCF3AAB1868}" srcOrd="1" destOrd="0" presId="urn:microsoft.com/office/officeart/2008/layout/LinedList"/>
    <dgm:cxn modelId="{3D6FE41E-3C7A-44B2-80AE-87313CFCF301}" type="presParOf" srcId="{44FE81E4-8574-4768-8C04-381CC59FF442}" destId="{FE0D6CA3-61E7-41A1-BA24-3CC0ADCDA524}" srcOrd="4" destOrd="0" presId="urn:microsoft.com/office/officeart/2008/layout/LinedList"/>
    <dgm:cxn modelId="{24A838F3-FD0F-4069-8F22-C2DDF5286847}" type="presParOf" srcId="{44FE81E4-8574-4768-8C04-381CC59FF442}" destId="{53734C1C-6215-4D30-8407-4EC23135CA9E}" srcOrd="5" destOrd="0" presId="urn:microsoft.com/office/officeart/2008/layout/LinedList"/>
    <dgm:cxn modelId="{66DAC810-2BC0-45E3-9DED-B549E49D6148}" type="presParOf" srcId="{53734C1C-6215-4D30-8407-4EC23135CA9E}" destId="{A75FAA76-14C6-49D5-8DF2-D1919CB893FD}" srcOrd="0" destOrd="0" presId="urn:microsoft.com/office/officeart/2008/layout/LinedList"/>
    <dgm:cxn modelId="{B3A91090-DC02-494B-811A-21C0E1EBFEC8}" type="presParOf" srcId="{53734C1C-6215-4D30-8407-4EC23135CA9E}" destId="{159C8A91-63D7-4A27-A406-F08B231F8963}" srcOrd="1" destOrd="0" presId="urn:microsoft.com/office/officeart/2008/layout/LinedList"/>
    <dgm:cxn modelId="{968CDF33-E784-45F3-9E67-C98C9365FF73}" type="presParOf" srcId="{44FE81E4-8574-4768-8C04-381CC59FF442}" destId="{5250E692-400D-410A-8189-94E6B3340DA4}" srcOrd="6" destOrd="0" presId="urn:microsoft.com/office/officeart/2008/layout/LinedList"/>
    <dgm:cxn modelId="{2C10FCB3-6A46-4F9B-AF7D-112413EF4E34}" type="presParOf" srcId="{44FE81E4-8574-4768-8C04-381CC59FF442}" destId="{2B96FCE4-768B-4786-AFEF-6AB7DDB3D711}" srcOrd="7" destOrd="0" presId="urn:microsoft.com/office/officeart/2008/layout/LinedList"/>
    <dgm:cxn modelId="{9341E7B0-F8A1-41FC-B8D0-2CD33D3303C5}" type="presParOf" srcId="{2B96FCE4-768B-4786-AFEF-6AB7DDB3D711}" destId="{9940DAEB-455B-4F21-9E41-3BED4DAC7A1D}" srcOrd="0" destOrd="0" presId="urn:microsoft.com/office/officeart/2008/layout/LinedList"/>
    <dgm:cxn modelId="{798F808A-51CC-4E4F-873C-57DD53CCB63F}" type="presParOf" srcId="{2B96FCE4-768B-4786-AFEF-6AB7DDB3D711}" destId="{85F52E86-34F1-42AE-82DF-65FD9CF32BC8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38E158F-C38E-436A-BFFE-240610B8DAED}" type="doc">
      <dgm:prSet loTypeId="urn:microsoft.com/office/officeart/2008/layout/LinedList" loCatId="list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F8918F14-F922-466D-A6EE-412A7DBB1B76}">
      <dgm:prSet custT="1"/>
      <dgm:spPr/>
      <dgm:t>
        <a:bodyPr/>
        <a:lstStyle/>
        <a:p>
          <a:r>
            <a:rPr lang="en-US" sz="1600" dirty="0"/>
            <a:t>Vendors which account for large no of devices are </a:t>
          </a:r>
          <a:r>
            <a:rPr lang="en-GB" sz="1600" b="0" i="0" dirty="0"/>
            <a:t>Cisco IP Phone 7942(14.71%), Cisco IP Phone 7692(8.41%), Cisco IP Phone(7.67%),HP(7.51 %), Intel(7.22%)</a:t>
          </a:r>
          <a:endParaRPr lang="en-US" sz="1600" dirty="0"/>
        </a:p>
      </dgm:t>
    </dgm:pt>
    <dgm:pt modelId="{18D0C0B3-99D8-4367-8E70-0380D71CF8CD}" type="parTrans" cxnId="{54A76332-E636-456C-9AA4-6BB384DAF813}">
      <dgm:prSet/>
      <dgm:spPr/>
      <dgm:t>
        <a:bodyPr/>
        <a:lstStyle/>
        <a:p>
          <a:endParaRPr lang="en-US" sz="1600"/>
        </a:p>
      </dgm:t>
    </dgm:pt>
    <dgm:pt modelId="{FE3E08E0-75FC-4EC1-95F3-858AB2D65DA7}" type="sibTrans" cxnId="{54A76332-E636-456C-9AA4-6BB384DAF813}">
      <dgm:prSet/>
      <dgm:spPr/>
      <dgm:t>
        <a:bodyPr/>
        <a:lstStyle/>
        <a:p>
          <a:endParaRPr lang="en-US" sz="1600"/>
        </a:p>
      </dgm:t>
    </dgm:pt>
    <dgm:pt modelId="{8A3AE32C-B2F3-46F3-AB78-C09D22637656}">
      <dgm:prSet custT="1"/>
      <dgm:spPr/>
      <dgm:t>
        <a:bodyPr/>
        <a:lstStyle/>
        <a:p>
          <a:r>
            <a:rPr lang="en-US" sz="1600" dirty="0"/>
            <a:t>Valid Mac Address should be 12 hexadecimal characters or 17 characters with separators. We found multiple inconsistent format too short (2,3,4..) , Too long (20-29) and mixed formatting issues.</a:t>
          </a:r>
        </a:p>
      </dgm:t>
    </dgm:pt>
    <dgm:pt modelId="{268B8231-0FA5-4369-9344-786169691207}" type="parTrans" cxnId="{710727EB-3A94-46A8-81E5-78F8DA48BD12}">
      <dgm:prSet/>
      <dgm:spPr/>
      <dgm:t>
        <a:bodyPr/>
        <a:lstStyle/>
        <a:p>
          <a:endParaRPr lang="en-US" sz="1600"/>
        </a:p>
      </dgm:t>
    </dgm:pt>
    <dgm:pt modelId="{BA0AC471-C150-418B-A822-CE9F785B09CF}" type="sibTrans" cxnId="{710727EB-3A94-46A8-81E5-78F8DA48BD12}">
      <dgm:prSet/>
      <dgm:spPr/>
      <dgm:t>
        <a:bodyPr/>
        <a:lstStyle/>
        <a:p>
          <a:endParaRPr lang="en-US" sz="1600"/>
        </a:p>
      </dgm:t>
    </dgm:pt>
    <dgm:pt modelId="{AD5A85A6-49F2-433B-9242-DBBDF08A2A62}">
      <dgm:prSet custT="1"/>
      <dgm:spPr/>
      <dgm:t>
        <a:bodyPr/>
        <a:lstStyle/>
        <a:p>
          <a:r>
            <a:rPr lang="en-US" sz="1600" dirty="0"/>
            <a:t>The data has multiple low frequency OS and vendor categories (&lt;0.1%). Need for category consolidation.</a:t>
          </a:r>
        </a:p>
      </dgm:t>
    </dgm:pt>
    <dgm:pt modelId="{919A7CA0-B8DA-47C0-B310-D0CF24AD97D5}" type="parTrans" cxnId="{EB593589-62EB-403B-9EBE-7CCB48099FA5}">
      <dgm:prSet/>
      <dgm:spPr/>
      <dgm:t>
        <a:bodyPr/>
        <a:lstStyle/>
        <a:p>
          <a:endParaRPr lang="en-NL" sz="1600"/>
        </a:p>
      </dgm:t>
    </dgm:pt>
    <dgm:pt modelId="{C9B4DB42-F2FE-4D5A-98DB-159D8708B4D2}" type="sibTrans" cxnId="{EB593589-62EB-403B-9EBE-7CCB48099FA5}">
      <dgm:prSet/>
      <dgm:spPr/>
      <dgm:t>
        <a:bodyPr/>
        <a:lstStyle/>
        <a:p>
          <a:endParaRPr lang="en-NL" sz="1600"/>
        </a:p>
      </dgm:t>
    </dgm:pt>
    <dgm:pt modelId="{44FE81E4-8574-4768-8C04-381CC59FF442}" type="pres">
      <dgm:prSet presAssocID="{738E158F-C38E-436A-BFFE-240610B8DAED}" presName="vert0" presStyleCnt="0">
        <dgm:presLayoutVars>
          <dgm:dir/>
          <dgm:animOne val="branch"/>
          <dgm:animLvl val="lvl"/>
        </dgm:presLayoutVars>
      </dgm:prSet>
      <dgm:spPr/>
    </dgm:pt>
    <dgm:pt modelId="{CEB97E46-F40D-4510-8B6F-454D5AA242AB}" type="pres">
      <dgm:prSet presAssocID="{F8918F14-F922-466D-A6EE-412A7DBB1B76}" presName="thickLine" presStyleLbl="alignNode1" presStyleIdx="0" presStyleCnt="3"/>
      <dgm:spPr/>
    </dgm:pt>
    <dgm:pt modelId="{91FC048B-497B-43ED-BB78-26ADF0BC01F9}" type="pres">
      <dgm:prSet presAssocID="{F8918F14-F922-466D-A6EE-412A7DBB1B76}" presName="horz1" presStyleCnt="0"/>
      <dgm:spPr/>
    </dgm:pt>
    <dgm:pt modelId="{E1A4238A-93E1-4569-95BA-0B786B1AFE15}" type="pres">
      <dgm:prSet presAssocID="{F8918F14-F922-466D-A6EE-412A7DBB1B76}" presName="tx1" presStyleLbl="revTx" presStyleIdx="0" presStyleCnt="3"/>
      <dgm:spPr/>
    </dgm:pt>
    <dgm:pt modelId="{A2613D2E-C1AD-46BB-99D6-F2882F84A52A}" type="pres">
      <dgm:prSet presAssocID="{F8918F14-F922-466D-A6EE-412A7DBB1B76}" presName="vert1" presStyleCnt="0"/>
      <dgm:spPr/>
    </dgm:pt>
    <dgm:pt modelId="{F3BDC96A-0FB4-4878-A7DB-08DF3A643F0E}" type="pres">
      <dgm:prSet presAssocID="{8A3AE32C-B2F3-46F3-AB78-C09D22637656}" presName="thickLine" presStyleLbl="alignNode1" presStyleIdx="1" presStyleCnt="3"/>
      <dgm:spPr/>
    </dgm:pt>
    <dgm:pt modelId="{12C0D3FA-56C9-4664-9140-06A86BF8F8E9}" type="pres">
      <dgm:prSet presAssocID="{8A3AE32C-B2F3-46F3-AB78-C09D22637656}" presName="horz1" presStyleCnt="0"/>
      <dgm:spPr/>
    </dgm:pt>
    <dgm:pt modelId="{9CEFFCD2-2A4E-457A-99BF-A29CA1EEBD0E}" type="pres">
      <dgm:prSet presAssocID="{8A3AE32C-B2F3-46F3-AB78-C09D22637656}" presName="tx1" presStyleLbl="revTx" presStyleIdx="1" presStyleCnt="3"/>
      <dgm:spPr/>
    </dgm:pt>
    <dgm:pt modelId="{7940D1FB-C8E6-49EF-A220-ACCF3AAB1868}" type="pres">
      <dgm:prSet presAssocID="{8A3AE32C-B2F3-46F3-AB78-C09D22637656}" presName="vert1" presStyleCnt="0"/>
      <dgm:spPr/>
    </dgm:pt>
    <dgm:pt modelId="{068325E5-7485-4947-A1CA-A87864398164}" type="pres">
      <dgm:prSet presAssocID="{AD5A85A6-49F2-433B-9242-DBBDF08A2A62}" presName="thickLine" presStyleLbl="alignNode1" presStyleIdx="2" presStyleCnt="3"/>
      <dgm:spPr/>
    </dgm:pt>
    <dgm:pt modelId="{6126B188-136E-4ED4-A941-9ED705576561}" type="pres">
      <dgm:prSet presAssocID="{AD5A85A6-49F2-433B-9242-DBBDF08A2A62}" presName="horz1" presStyleCnt="0"/>
      <dgm:spPr/>
    </dgm:pt>
    <dgm:pt modelId="{0180628A-CE81-4C69-996E-6B88AC62EEF6}" type="pres">
      <dgm:prSet presAssocID="{AD5A85A6-49F2-433B-9242-DBBDF08A2A62}" presName="tx1" presStyleLbl="revTx" presStyleIdx="2" presStyleCnt="3" custScaleY="72403" custLinFactNeighborY="8266"/>
      <dgm:spPr/>
    </dgm:pt>
    <dgm:pt modelId="{7ABD392D-1E0E-496E-AD99-BFBA4E3560AA}" type="pres">
      <dgm:prSet presAssocID="{AD5A85A6-49F2-433B-9242-DBBDF08A2A62}" presName="vert1" presStyleCnt="0"/>
      <dgm:spPr/>
    </dgm:pt>
  </dgm:ptLst>
  <dgm:cxnLst>
    <dgm:cxn modelId="{54A76332-E636-456C-9AA4-6BB384DAF813}" srcId="{738E158F-C38E-436A-BFFE-240610B8DAED}" destId="{F8918F14-F922-466D-A6EE-412A7DBB1B76}" srcOrd="0" destOrd="0" parTransId="{18D0C0B3-99D8-4367-8E70-0380D71CF8CD}" sibTransId="{FE3E08E0-75FC-4EC1-95F3-858AB2D65DA7}"/>
    <dgm:cxn modelId="{AD19AF5C-920C-4548-B7B3-D75FFDA98EE1}" type="presOf" srcId="{738E158F-C38E-436A-BFFE-240610B8DAED}" destId="{44FE81E4-8574-4768-8C04-381CC59FF442}" srcOrd="0" destOrd="0" presId="urn:microsoft.com/office/officeart/2008/layout/LinedList"/>
    <dgm:cxn modelId="{8167F75A-10F3-4387-802E-C88B6A6B7BD7}" type="presOf" srcId="{AD5A85A6-49F2-433B-9242-DBBDF08A2A62}" destId="{0180628A-CE81-4C69-996E-6B88AC62EEF6}" srcOrd="0" destOrd="0" presId="urn:microsoft.com/office/officeart/2008/layout/LinedList"/>
    <dgm:cxn modelId="{EB593589-62EB-403B-9EBE-7CCB48099FA5}" srcId="{738E158F-C38E-436A-BFFE-240610B8DAED}" destId="{AD5A85A6-49F2-433B-9242-DBBDF08A2A62}" srcOrd="2" destOrd="0" parTransId="{919A7CA0-B8DA-47C0-B310-D0CF24AD97D5}" sibTransId="{C9B4DB42-F2FE-4D5A-98DB-159D8708B4D2}"/>
    <dgm:cxn modelId="{9CF4C3A6-9285-40F4-8441-5B81A5642BD2}" type="presOf" srcId="{8A3AE32C-B2F3-46F3-AB78-C09D22637656}" destId="{9CEFFCD2-2A4E-457A-99BF-A29CA1EEBD0E}" srcOrd="0" destOrd="0" presId="urn:microsoft.com/office/officeart/2008/layout/LinedList"/>
    <dgm:cxn modelId="{31F77DD6-9907-4F80-A54E-EAAEA77F1E03}" type="presOf" srcId="{F8918F14-F922-466D-A6EE-412A7DBB1B76}" destId="{E1A4238A-93E1-4569-95BA-0B786B1AFE15}" srcOrd="0" destOrd="0" presId="urn:microsoft.com/office/officeart/2008/layout/LinedList"/>
    <dgm:cxn modelId="{710727EB-3A94-46A8-81E5-78F8DA48BD12}" srcId="{738E158F-C38E-436A-BFFE-240610B8DAED}" destId="{8A3AE32C-B2F3-46F3-AB78-C09D22637656}" srcOrd="1" destOrd="0" parTransId="{268B8231-0FA5-4369-9344-786169691207}" sibTransId="{BA0AC471-C150-418B-A822-CE9F785B09CF}"/>
    <dgm:cxn modelId="{DA1B562D-1907-4086-90E7-B8DBEBF07A81}" type="presParOf" srcId="{44FE81E4-8574-4768-8C04-381CC59FF442}" destId="{CEB97E46-F40D-4510-8B6F-454D5AA242AB}" srcOrd="0" destOrd="0" presId="urn:microsoft.com/office/officeart/2008/layout/LinedList"/>
    <dgm:cxn modelId="{C3DD238B-0E54-4A63-8EC5-B205596F25EE}" type="presParOf" srcId="{44FE81E4-8574-4768-8C04-381CC59FF442}" destId="{91FC048B-497B-43ED-BB78-26ADF0BC01F9}" srcOrd="1" destOrd="0" presId="urn:microsoft.com/office/officeart/2008/layout/LinedList"/>
    <dgm:cxn modelId="{35A64DF3-87DA-429E-87F7-7088965F3665}" type="presParOf" srcId="{91FC048B-497B-43ED-BB78-26ADF0BC01F9}" destId="{E1A4238A-93E1-4569-95BA-0B786B1AFE15}" srcOrd="0" destOrd="0" presId="urn:microsoft.com/office/officeart/2008/layout/LinedList"/>
    <dgm:cxn modelId="{4EBC832D-8707-4F77-AB2E-89951CDBE78C}" type="presParOf" srcId="{91FC048B-497B-43ED-BB78-26ADF0BC01F9}" destId="{A2613D2E-C1AD-46BB-99D6-F2882F84A52A}" srcOrd="1" destOrd="0" presId="urn:microsoft.com/office/officeart/2008/layout/LinedList"/>
    <dgm:cxn modelId="{3328D906-C216-475D-BF06-EF06F56CFA25}" type="presParOf" srcId="{44FE81E4-8574-4768-8C04-381CC59FF442}" destId="{F3BDC96A-0FB4-4878-A7DB-08DF3A643F0E}" srcOrd="2" destOrd="0" presId="urn:microsoft.com/office/officeart/2008/layout/LinedList"/>
    <dgm:cxn modelId="{F03E930C-855A-4670-BAC4-B3D5E6BB3E04}" type="presParOf" srcId="{44FE81E4-8574-4768-8C04-381CC59FF442}" destId="{12C0D3FA-56C9-4664-9140-06A86BF8F8E9}" srcOrd="3" destOrd="0" presId="urn:microsoft.com/office/officeart/2008/layout/LinedList"/>
    <dgm:cxn modelId="{11643A56-D650-45F4-9937-EDA7B6FA4DC3}" type="presParOf" srcId="{12C0D3FA-56C9-4664-9140-06A86BF8F8E9}" destId="{9CEFFCD2-2A4E-457A-99BF-A29CA1EEBD0E}" srcOrd="0" destOrd="0" presId="urn:microsoft.com/office/officeart/2008/layout/LinedList"/>
    <dgm:cxn modelId="{505EA323-9957-4251-921E-16B8AF343CA6}" type="presParOf" srcId="{12C0D3FA-56C9-4664-9140-06A86BF8F8E9}" destId="{7940D1FB-C8E6-49EF-A220-ACCF3AAB1868}" srcOrd="1" destOrd="0" presId="urn:microsoft.com/office/officeart/2008/layout/LinedList"/>
    <dgm:cxn modelId="{37B8A30B-CE43-46A7-9968-4055DF3D3491}" type="presParOf" srcId="{44FE81E4-8574-4768-8C04-381CC59FF442}" destId="{068325E5-7485-4947-A1CA-A87864398164}" srcOrd="4" destOrd="0" presId="urn:microsoft.com/office/officeart/2008/layout/LinedList"/>
    <dgm:cxn modelId="{3D77E847-A9E4-44E2-A710-D8954E628EEA}" type="presParOf" srcId="{44FE81E4-8574-4768-8C04-381CC59FF442}" destId="{6126B188-136E-4ED4-A941-9ED705576561}" srcOrd="5" destOrd="0" presId="urn:microsoft.com/office/officeart/2008/layout/LinedList"/>
    <dgm:cxn modelId="{A2DA6E81-B4C1-47E7-87E8-CBD5BB9EDFE0}" type="presParOf" srcId="{6126B188-136E-4ED4-A941-9ED705576561}" destId="{0180628A-CE81-4C69-996E-6B88AC62EEF6}" srcOrd="0" destOrd="0" presId="urn:microsoft.com/office/officeart/2008/layout/LinedList"/>
    <dgm:cxn modelId="{CFEAC3B2-A565-4F21-9E50-6E46F3E71ECC}" type="presParOf" srcId="{6126B188-136E-4ED4-A941-9ED705576561}" destId="{7ABD392D-1E0E-496E-AD99-BFBA4E3560AA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FF63F82A-F144-4597-ACED-065D28DB9F05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5A76AAAB-A119-4720-BFBC-6B7CDE7C1E35}">
      <dgm:prSet custT="1"/>
      <dgm:spPr/>
      <dgm:t>
        <a:bodyPr/>
        <a:lstStyle/>
        <a:p>
          <a:r>
            <a:rPr lang="en-US" sz="1600" dirty="0"/>
            <a:t>Optimize Error computation logic. </a:t>
          </a:r>
        </a:p>
      </dgm:t>
    </dgm:pt>
    <dgm:pt modelId="{CEDE19ED-ECD0-410C-8519-23E74E8554AE}" type="parTrans" cxnId="{80D160A9-B097-46BD-ABFE-8E940A2FC2EC}">
      <dgm:prSet/>
      <dgm:spPr/>
      <dgm:t>
        <a:bodyPr/>
        <a:lstStyle/>
        <a:p>
          <a:endParaRPr lang="en-US" sz="1600"/>
        </a:p>
      </dgm:t>
    </dgm:pt>
    <dgm:pt modelId="{F515E9FE-F3E6-4CC1-AA8B-315ED7724D9A}" type="sibTrans" cxnId="{80D160A9-B097-46BD-ABFE-8E940A2FC2EC}">
      <dgm:prSet/>
      <dgm:spPr/>
      <dgm:t>
        <a:bodyPr/>
        <a:lstStyle/>
        <a:p>
          <a:endParaRPr lang="en-US" sz="1600"/>
        </a:p>
      </dgm:t>
    </dgm:pt>
    <dgm:pt modelId="{398AB460-EB82-4F00-A66D-777E1D71E3DB}">
      <dgm:prSet custT="1"/>
      <dgm:spPr/>
      <dgm:t>
        <a:bodyPr/>
        <a:lstStyle/>
        <a:p>
          <a:r>
            <a:rPr lang="en-IN" sz="1600" dirty="0"/>
            <a:t>Scalability of Dashboard filters </a:t>
          </a:r>
          <a:endParaRPr lang="en-US" sz="1600" dirty="0"/>
        </a:p>
      </dgm:t>
    </dgm:pt>
    <dgm:pt modelId="{76BAF61D-72EE-4CC9-A44F-A78BD8F0F939}" type="parTrans" cxnId="{F24CAA8E-B641-46C1-AEBE-FC24B5264C77}">
      <dgm:prSet/>
      <dgm:spPr/>
      <dgm:t>
        <a:bodyPr/>
        <a:lstStyle/>
        <a:p>
          <a:endParaRPr lang="en-US" sz="1600"/>
        </a:p>
      </dgm:t>
    </dgm:pt>
    <dgm:pt modelId="{6A10F2F2-28C3-4BA9-A2C9-84CD99A929D5}" type="sibTrans" cxnId="{F24CAA8E-B641-46C1-AEBE-FC24B5264C77}">
      <dgm:prSet/>
      <dgm:spPr/>
      <dgm:t>
        <a:bodyPr/>
        <a:lstStyle/>
        <a:p>
          <a:endParaRPr lang="en-US" sz="1600"/>
        </a:p>
      </dgm:t>
    </dgm:pt>
    <dgm:pt modelId="{E2DC0291-EB28-4531-97F6-17B5F529F6D7}">
      <dgm:prSet custT="1"/>
      <dgm:spPr/>
      <dgm:t>
        <a:bodyPr/>
        <a:lstStyle/>
        <a:p>
          <a:r>
            <a:rPr lang="en-US" sz="1600" dirty="0"/>
            <a:t>Improve the data validation layer at the data ingestion level</a:t>
          </a:r>
        </a:p>
      </dgm:t>
    </dgm:pt>
    <dgm:pt modelId="{094B6C2E-7A2A-4FAD-A448-3F7ACCB6FDC1}" type="parTrans" cxnId="{B65F22B2-FAB2-443E-8B29-066723740478}">
      <dgm:prSet/>
      <dgm:spPr/>
      <dgm:t>
        <a:bodyPr/>
        <a:lstStyle/>
        <a:p>
          <a:endParaRPr lang="en-US" sz="1600"/>
        </a:p>
      </dgm:t>
    </dgm:pt>
    <dgm:pt modelId="{6BC688C9-70A8-49B8-8071-76EEF6C6155D}" type="sibTrans" cxnId="{B65F22B2-FAB2-443E-8B29-066723740478}">
      <dgm:prSet/>
      <dgm:spPr/>
      <dgm:t>
        <a:bodyPr/>
        <a:lstStyle/>
        <a:p>
          <a:endParaRPr lang="en-US" sz="1600"/>
        </a:p>
      </dgm:t>
    </dgm:pt>
    <dgm:pt modelId="{08C01034-E6A9-4995-AEDF-EDBB44DB745B}">
      <dgm:prSet custT="1"/>
      <dgm:spPr/>
      <dgm:t>
        <a:bodyPr/>
        <a:lstStyle/>
        <a:p>
          <a:r>
            <a:rPr lang="en-US" sz="1600" dirty="0"/>
            <a:t>Continuous monitoring</a:t>
          </a:r>
          <a:r>
            <a:rPr lang="en-US" sz="1600" baseline="0" dirty="0"/>
            <a:t> and logging </a:t>
          </a:r>
          <a:endParaRPr lang="en-US" sz="1600" dirty="0"/>
        </a:p>
      </dgm:t>
    </dgm:pt>
    <dgm:pt modelId="{BEECD436-7BCB-4658-9E4C-C192478A98D4}" type="parTrans" cxnId="{B85D9F80-4EC4-4A70-8FEA-EECF3B4C33BF}">
      <dgm:prSet/>
      <dgm:spPr/>
      <dgm:t>
        <a:bodyPr/>
        <a:lstStyle/>
        <a:p>
          <a:endParaRPr lang="en-US" sz="1600"/>
        </a:p>
      </dgm:t>
    </dgm:pt>
    <dgm:pt modelId="{C54B1EE5-2D9A-482F-A657-831DE12AEA58}" type="sibTrans" cxnId="{B85D9F80-4EC4-4A70-8FEA-EECF3B4C33BF}">
      <dgm:prSet/>
      <dgm:spPr/>
      <dgm:t>
        <a:bodyPr/>
        <a:lstStyle/>
        <a:p>
          <a:endParaRPr lang="en-US" sz="1600"/>
        </a:p>
      </dgm:t>
    </dgm:pt>
    <dgm:pt modelId="{B78FFCA9-7C4C-4F59-A931-A80A05A1C958}">
      <dgm:prSet custT="1"/>
      <dgm:spPr/>
      <dgm:t>
        <a:bodyPr/>
        <a:lstStyle/>
        <a:p>
          <a:r>
            <a:rPr lang="en-US" sz="1600" dirty="0"/>
            <a:t>Enhance data model structure</a:t>
          </a:r>
        </a:p>
      </dgm:t>
    </dgm:pt>
    <dgm:pt modelId="{400798CF-7399-4CD1-907B-220761EDFFD9}" type="parTrans" cxnId="{A5568DDA-FEAE-49FF-A834-8012EB04FC9D}">
      <dgm:prSet/>
      <dgm:spPr/>
      <dgm:t>
        <a:bodyPr/>
        <a:lstStyle/>
        <a:p>
          <a:endParaRPr lang="en-US" sz="1600"/>
        </a:p>
      </dgm:t>
    </dgm:pt>
    <dgm:pt modelId="{7425973E-048C-4310-8855-9F2D17D8B3B4}" type="sibTrans" cxnId="{A5568DDA-FEAE-49FF-A834-8012EB04FC9D}">
      <dgm:prSet/>
      <dgm:spPr/>
      <dgm:t>
        <a:bodyPr/>
        <a:lstStyle/>
        <a:p>
          <a:endParaRPr lang="en-US" sz="1600"/>
        </a:p>
      </dgm:t>
    </dgm:pt>
    <dgm:pt modelId="{A1E76272-0776-4FB6-837C-F81D679BFDB2}" type="pres">
      <dgm:prSet presAssocID="{FF63F82A-F144-4597-ACED-065D28DB9F05}" presName="root" presStyleCnt="0">
        <dgm:presLayoutVars>
          <dgm:dir/>
          <dgm:resizeHandles val="exact"/>
        </dgm:presLayoutVars>
      </dgm:prSet>
      <dgm:spPr/>
    </dgm:pt>
    <dgm:pt modelId="{8A2066F4-19B2-405D-917D-86887642AFCE}" type="pres">
      <dgm:prSet presAssocID="{FF63F82A-F144-4597-ACED-065D28DB9F05}" presName="container" presStyleCnt="0">
        <dgm:presLayoutVars>
          <dgm:dir/>
          <dgm:resizeHandles val="exact"/>
        </dgm:presLayoutVars>
      </dgm:prSet>
      <dgm:spPr/>
    </dgm:pt>
    <dgm:pt modelId="{E9817D2B-C03C-47A6-AEA9-F67435F56466}" type="pres">
      <dgm:prSet presAssocID="{5A76AAAB-A119-4720-BFBC-6B7CDE7C1E35}" presName="compNode" presStyleCnt="0"/>
      <dgm:spPr/>
    </dgm:pt>
    <dgm:pt modelId="{8F4CBF49-0244-4E54-906E-6E78F591D67B}" type="pres">
      <dgm:prSet presAssocID="{5A76AAAB-A119-4720-BFBC-6B7CDE7C1E35}" presName="iconBgRect" presStyleLbl="bgShp" presStyleIdx="0" presStyleCnt="5"/>
      <dgm:spPr/>
    </dgm:pt>
    <dgm:pt modelId="{2815DA59-521B-4B06-AB87-BE14486BEBFA}" type="pres">
      <dgm:prSet presAssocID="{5A76AAAB-A119-4720-BFBC-6B7CDE7C1E35}" presName="iconRect" presStyleLbl="node1" presStyleIdx="0" presStyleCnt="5"/>
      <dgm:spPr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904859E2-4BD1-4C20-A400-C3C1738E1480}" type="pres">
      <dgm:prSet presAssocID="{5A76AAAB-A119-4720-BFBC-6B7CDE7C1E35}" presName="spaceRect" presStyleCnt="0"/>
      <dgm:spPr/>
    </dgm:pt>
    <dgm:pt modelId="{E08961E4-16F7-4CB0-9DCF-FA9F6E77DA1B}" type="pres">
      <dgm:prSet presAssocID="{5A76AAAB-A119-4720-BFBC-6B7CDE7C1E35}" presName="textRect" presStyleLbl="revTx" presStyleIdx="0" presStyleCnt="5">
        <dgm:presLayoutVars>
          <dgm:chMax val="1"/>
          <dgm:chPref val="1"/>
        </dgm:presLayoutVars>
      </dgm:prSet>
      <dgm:spPr/>
    </dgm:pt>
    <dgm:pt modelId="{9890975E-CBD2-489F-99A1-58BEB5E304EF}" type="pres">
      <dgm:prSet presAssocID="{F515E9FE-F3E6-4CC1-AA8B-315ED7724D9A}" presName="sibTrans" presStyleLbl="sibTrans2D1" presStyleIdx="0" presStyleCnt="0"/>
      <dgm:spPr/>
    </dgm:pt>
    <dgm:pt modelId="{5D728CD9-B0DA-402C-9A89-78C7080A8C08}" type="pres">
      <dgm:prSet presAssocID="{398AB460-EB82-4F00-A66D-777E1D71E3DB}" presName="compNode" presStyleCnt="0"/>
      <dgm:spPr/>
    </dgm:pt>
    <dgm:pt modelId="{DB578792-6D71-4A5B-AE75-F5A46899D0CB}" type="pres">
      <dgm:prSet presAssocID="{398AB460-EB82-4F00-A66D-777E1D71E3DB}" presName="iconBgRect" presStyleLbl="bgShp" presStyleIdx="1" presStyleCnt="5"/>
      <dgm:spPr/>
    </dgm:pt>
    <dgm:pt modelId="{634ACFAB-3667-4827-AC9D-5806FFFDD64E}" type="pres">
      <dgm:prSet presAssocID="{398AB460-EB82-4F00-A66D-777E1D71E3DB}" presName="iconRect" presStyleLbl="node1" presStyleIdx="1" presStyleCnt="5"/>
      <dgm:spPr>
        <a:blipFill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758DCB59-CA3F-4D6E-A1C1-83CC6878A86B}" type="pres">
      <dgm:prSet presAssocID="{398AB460-EB82-4F00-A66D-777E1D71E3DB}" presName="spaceRect" presStyleCnt="0"/>
      <dgm:spPr/>
    </dgm:pt>
    <dgm:pt modelId="{76ED4439-B9A1-4299-AAF2-F0E66069E4D8}" type="pres">
      <dgm:prSet presAssocID="{398AB460-EB82-4F00-A66D-777E1D71E3DB}" presName="textRect" presStyleLbl="revTx" presStyleIdx="1" presStyleCnt="5">
        <dgm:presLayoutVars>
          <dgm:chMax val="1"/>
          <dgm:chPref val="1"/>
        </dgm:presLayoutVars>
      </dgm:prSet>
      <dgm:spPr/>
    </dgm:pt>
    <dgm:pt modelId="{AFF980D6-A198-45B1-BC8E-B2E06BCE42FC}" type="pres">
      <dgm:prSet presAssocID="{6A10F2F2-28C3-4BA9-A2C9-84CD99A929D5}" presName="sibTrans" presStyleLbl="sibTrans2D1" presStyleIdx="0" presStyleCnt="0"/>
      <dgm:spPr/>
    </dgm:pt>
    <dgm:pt modelId="{4F247E73-5F2F-4C89-8899-032900BE445E}" type="pres">
      <dgm:prSet presAssocID="{E2DC0291-EB28-4531-97F6-17B5F529F6D7}" presName="compNode" presStyleCnt="0"/>
      <dgm:spPr/>
    </dgm:pt>
    <dgm:pt modelId="{200813B4-069E-4A0A-8FE7-A90DD76639B0}" type="pres">
      <dgm:prSet presAssocID="{E2DC0291-EB28-4531-97F6-17B5F529F6D7}" presName="iconBgRect" presStyleLbl="bgShp" presStyleIdx="2" presStyleCnt="5"/>
      <dgm:spPr/>
    </dgm:pt>
    <dgm:pt modelId="{095DA876-3090-46A3-893A-B41C305FE7D7}" type="pres">
      <dgm:prSet presAssocID="{E2DC0291-EB28-4531-97F6-17B5F529F6D7}" presName="iconRect" presStyleLbl="node1" presStyleIdx="2" presStyleCnt="5"/>
      <dgm:spPr>
        <a:blipFill>
          <a:blip xmlns:r="http://schemas.openxmlformats.org/officeDocument/2006/relationships"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reble clef"/>
        </a:ext>
      </dgm:extLst>
    </dgm:pt>
    <dgm:pt modelId="{CBACCB08-9551-4454-85C3-653D0BA5685D}" type="pres">
      <dgm:prSet presAssocID="{E2DC0291-EB28-4531-97F6-17B5F529F6D7}" presName="spaceRect" presStyleCnt="0"/>
      <dgm:spPr/>
    </dgm:pt>
    <dgm:pt modelId="{0FFFA5A9-77C1-4E6B-AC9E-CB0D5A571182}" type="pres">
      <dgm:prSet presAssocID="{E2DC0291-EB28-4531-97F6-17B5F529F6D7}" presName="textRect" presStyleLbl="revTx" presStyleIdx="2" presStyleCnt="5">
        <dgm:presLayoutVars>
          <dgm:chMax val="1"/>
          <dgm:chPref val="1"/>
        </dgm:presLayoutVars>
      </dgm:prSet>
      <dgm:spPr/>
    </dgm:pt>
    <dgm:pt modelId="{55B9B58D-6250-4D9E-8634-2F3160E1A0BD}" type="pres">
      <dgm:prSet presAssocID="{6BC688C9-70A8-49B8-8071-76EEF6C6155D}" presName="sibTrans" presStyleLbl="sibTrans2D1" presStyleIdx="0" presStyleCnt="0"/>
      <dgm:spPr/>
    </dgm:pt>
    <dgm:pt modelId="{F6CF03A7-3379-4536-A581-A2F8708DBD11}" type="pres">
      <dgm:prSet presAssocID="{08C01034-E6A9-4995-AEDF-EDBB44DB745B}" presName="compNode" presStyleCnt="0"/>
      <dgm:spPr/>
    </dgm:pt>
    <dgm:pt modelId="{5C634D90-B9B7-4407-AA83-12562FF49A17}" type="pres">
      <dgm:prSet presAssocID="{08C01034-E6A9-4995-AEDF-EDBB44DB745B}" presName="iconBgRect" presStyleLbl="bgShp" presStyleIdx="3" presStyleCnt="5"/>
      <dgm:spPr/>
    </dgm:pt>
    <dgm:pt modelId="{97A6457A-3458-40E9-AA9A-DBCACB4A7A85}" type="pres">
      <dgm:prSet presAssocID="{08C01034-E6A9-4995-AEDF-EDBB44DB745B}" presName="iconRect" presStyleLbl="node1" presStyleIdx="3" presStyleCnt="5"/>
      <dgm:spPr>
        <a:blipFill>
          <a:blip xmlns:r="http://schemas.openxmlformats.org/officeDocument/2006/relationships"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B0E8E9A9-DC16-46A7-843C-D34A0534EB79}" type="pres">
      <dgm:prSet presAssocID="{08C01034-E6A9-4995-AEDF-EDBB44DB745B}" presName="spaceRect" presStyleCnt="0"/>
      <dgm:spPr/>
    </dgm:pt>
    <dgm:pt modelId="{BE07E38F-7E16-4049-BF94-148871C997A8}" type="pres">
      <dgm:prSet presAssocID="{08C01034-E6A9-4995-AEDF-EDBB44DB745B}" presName="textRect" presStyleLbl="revTx" presStyleIdx="3" presStyleCnt="5">
        <dgm:presLayoutVars>
          <dgm:chMax val="1"/>
          <dgm:chPref val="1"/>
        </dgm:presLayoutVars>
      </dgm:prSet>
      <dgm:spPr/>
    </dgm:pt>
    <dgm:pt modelId="{6D346407-5198-4AD5-88FC-C98D790B8CFC}" type="pres">
      <dgm:prSet presAssocID="{C54B1EE5-2D9A-482F-A657-831DE12AEA58}" presName="sibTrans" presStyleLbl="sibTrans2D1" presStyleIdx="0" presStyleCnt="0"/>
      <dgm:spPr/>
    </dgm:pt>
    <dgm:pt modelId="{5A0E76D4-DCB9-4499-8862-28928BC072DA}" type="pres">
      <dgm:prSet presAssocID="{B78FFCA9-7C4C-4F59-A931-A80A05A1C958}" presName="compNode" presStyleCnt="0"/>
      <dgm:spPr/>
    </dgm:pt>
    <dgm:pt modelId="{8BF3D57B-5A35-4F17-B11A-AFCDECB20048}" type="pres">
      <dgm:prSet presAssocID="{B78FFCA9-7C4C-4F59-A931-A80A05A1C958}" presName="iconBgRect" presStyleLbl="bgShp" presStyleIdx="4" presStyleCnt="5"/>
      <dgm:spPr/>
    </dgm:pt>
    <dgm:pt modelId="{9E75C776-B468-4EA2-A7BF-3B693B4CB01E}" type="pres">
      <dgm:prSet presAssocID="{B78FFCA9-7C4C-4F59-A931-A80A05A1C958}" presName="iconRect" presStyleLbl="node1" presStyleIdx="4" presStyleCnt="5"/>
      <dgm:spPr>
        <a:blipFill>
          <a:blip xmlns:r="http://schemas.openxmlformats.org/officeDocument/2006/relationships"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ght Bulb and Gear"/>
        </a:ext>
      </dgm:extLst>
    </dgm:pt>
    <dgm:pt modelId="{96C76D59-9FAA-4A7B-B704-AD0AAC5BEA2E}" type="pres">
      <dgm:prSet presAssocID="{B78FFCA9-7C4C-4F59-A931-A80A05A1C958}" presName="spaceRect" presStyleCnt="0"/>
      <dgm:spPr/>
    </dgm:pt>
    <dgm:pt modelId="{3DF45E5F-9EF8-4FCD-AE10-1B91B2F8EDD6}" type="pres">
      <dgm:prSet presAssocID="{B78FFCA9-7C4C-4F59-A931-A80A05A1C958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4AEE4102-6A2E-48F4-9014-0F604B25F51E}" type="presOf" srcId="{398AB460-EB82-4F00-A66D-777E1D71E3DB}" destId="{76ED4439-B9A1-4299-AAF2-F0E66069E4D8}" srcOrd="0" destOrd="0" presId="urn:microsoft.com/office/officeart/2018/2/layout/IconCircleList"/>
    <dgm:cxn modelId="{AD46AF0E-F75C-4510-A040-E34004BBCECB}" type="presOf" srcId="{6BC688C9-70A8-49B8-8071-76EEF6C6155D}" destId="{55B9B58D-6250-4D9E-8634-2F3160E1A0BD}" srcOrd="0" destOrd="0" presId="urn:microsoft.com/office/officeart/2018/2/layout/IconCircleList"/>
    <dgm:cxn modelId="{1351632E-C8C3-4390-A454-184FC9B2F71E}" type="presOf" srcId="{B78FFCA9-7C4C-4F59-A931-A80A05A1C958}" destId="{3DF45E5F-9EF8-4FCD-AE10-1B91B2F8EDD6}" srcOrd="0" destOrd="0" presId="urn:microsoft.com/office/officeart/2018/2/layout/IconCircleList"/>
    <dgm:cxn modelId="{D0C1886E-68EE-4380-919E-1D819CDF2EC0}" type="presOf" srcId="{6A10F2F2-28C3-4BA9-A2C9-84CD99A929D5}" destId="{AFF980D6-A198-45B1-BC8E-B2E06BCE42FC}" srcOrd="0" destOrd="0" presId="urn:microsoft.com/office/officeart/2018/2/layout/IconCircleList"/>
    <dgm:cxn modelId="{7E35916F-2D1C-4EED-904E-00ADC42C09C7}" type="presOf" srcId="{E2DC0291-EB28-4531-97F6-17B5F529F6D7}" destId="{0FFFA5A9-77C1-4E6B-AC9E-CB0D5A571182}" srcOrd="0" destOrd="0" presId="urn:microsoft.com/office/officeart/2018/2/layout/IconCircleList"/>
    <dgm:cxn modelId="{26D4C653-FB07-41F2-841A-A9AFF88383F0}" type="presOf" srcId="{C54B1EE5-2D9A-482F-A657-831DE12AEA58}" destId="{6D346407-5198-4AD5-88FC-C98D790B8CFC}" srcOrd="0" destOrd="0" presId="urn:microsoft.com/office/officeart/2018/2/layout/IconCircleList"/>
    <dgm:cxn modelId="{6462F053-9BCD-48E6-BF34-D716912395B6}" type="presOf" srcId="{08C01034-E6A9-4995-AEDF-EDBB44DB745B}" destId="{BE07E38F-7E16-4049-BF94-148871C997A8}" srcOrd="0" destOrd="0" presId="urn:microsoft.com/office/officeart/2018/2/layout/IconCircleList"/>
    <dgm:cxn modelId="{B85D9F80-4EC4-4A70-8FEA-EECF3B4C33BF}" srcId="{FF63F82A-F144-4597-ACED-065D28DB9F05}" destId="{08C01034-E6A9-4995-AEDF-EDBB44DB745B}" srcOrd="3" destOrd="0" parTransId="{BEECD436-7BCB-4658-9E4C-C192478A98D4}" sibTransId="{C54B1EE5-2D9A-482F-A657-831DE12AEA58}"/>
    <dgm:cxn modelId="{9B91358D-4860-4872-B290-A42A70C2E040}" type="presOf" srcId="{5A76AAAB-A119-4720-BFBC-6B7CDE7C1E35}" destId="{E08961E4-16F7-4CB0-9DCF-FA9F6E77DA1B}" srcOrd="0" destOrd="0" presId="urn:microsoft.com/office/officeart/2018/2/layout/IconCircleList"/>
    <dgm:cxn modelId="{F24CAA8E-B641-46C1-AEBE-FC24B5264C77}" srcId="{FF63F82A-F144-4597-ACED-065D28DB9F05}" destId="{398AB460-EB82-4F00-A66D-777E1D71E3DB}" srcOrd="1" destOrd="0" parTransId="{76BAF61D-72EE-4CC9-A44F-A78BD8F0F939}" sibTransId="{6A10F2F2-28C3-4BA9-A2C9-84CD99A929D5}"/>
    <dgm:cxn modelId="{B057FD9D-77D3-4CCF-A635-AF65822B9683}" type="presOf" srcId="{F515E9FE-F3E6-4CC1-AA8B-315ED7724D9A}" destId="{9890975E-CBD2-489F-99A1-58BEB5E304EF}" srcOrd="0" destOrd="0" presId="urn:microsoft.com/office/officeart/2018/2/layout/IconCircleList"/>
    <dgm:cxn modelId="{80D160A9-B097-46BD-ABFE-8E940A2FC2EC}" srcId="{FF63F82A-F144-4597-ACED-065D28DB9F05}" destId="{5A76AAAB-A119-4720-BFBC-6B7CDE7C1E35}" srcOrd="0" destOrd="0" parTransId="{CEDE19ED-ECD0-410C-8519-23E74E8554AE}" sibTransId="{F515E9FE-F3E6-4CC1-AA8B-315ED7724D9A}"/>
    <dgm:cxn modelId="{B65F22B2-FAB2-443E-8B29-066723740478}" srcId="{FF63F82A-F144-4597-ACED-065D28DB9F05}" destId="{E2DC0291-EB28-4531-97F6-17B5F529F6D7}" srcOrd="2" destOrd="0" parTransId="{094B6C2E-7A2A-4FAD-A448-3F7ACCB6FDC1}" sibTransId="{6BC688C9-70A8-49B8-8071-76EEF6C6155D}"/>
    <dgm:cxn modelId="{1A74C6BA-0FC9-4F86-985B-D858D61AAD86}" type="presOf" srcId="{FF63F82A-F144-4597-ACED-065D28DB9F05}" destId="{A1E76272-0776-4FB6-837C-F81D679BFDB2}" srcOrd="0" destOrd="0" presId="urn:microsoft.com/office/officeart/2018/2/layout/IconCircleList"/>
    <dgm:cxn modelId="{A5568DDA-FEAE-49FF-A834-8012EB04FC9D}" srcId="{FF63F82A-F144-4597-ACED-065D28DB9F05}" destId="{B78FFCA9-7C4C-4F59-A931-A80A05A1C958}" srcOrd="4" destOrd="0" parTransId="{400798CF-7399-4CD1-907B-220761EDFFD9}" sibTransId="{7425973E-048C-4310-8855-9F2D17D8B3B4}"/>
    <dgm:cxn modelId="{475FF1C0-E776-45B9-9F7C-70A33A5A7123}" type="presParOf" srcId="{A1E76272-0776-4FB6-837C-F81D679BFDB2}" destId="{8A2066F4-19B2-405D-917D-86887642AFCE}" srcOrd="0" destOrd="0" presId="urn:microsoft.com/office/officeart/2018/2/layout/IconCircleList"/>
    <dgm:cxn modelId="{B562FA8F-BA25-45EC-ADD9-7164B8750DD5}" type="presParOf" srcId="{8A2066F4-19B2-405D-917D-86887642AFCE}" destId="{E9817D2B-C03C-47A6-AEA9-F67435F56466}" srcOrd="0" destOrd="0" presId="urn:microsoft.com/office/officeart/2018/2/layout/IconCircleList"/>
    <dgm:cxn modelId="{A6BCFC9D-543F-407F-9A7D-146FC1969DB6}" type="presParOf" srcId="{E9817D2B-C03C-47A6-AEA9-F67435F56466}" destId="{8F4CBF49-0244-4E54-906E-6E78F591D67B}" srcOrd="0" destOrd="0" presId="urn:microsoft.com/office/officeart/2018/2/layout/IconCircleList"/>
    <dgm:cxn modelId="{869E2C82-208F-4914-AB31-1D763920AAE4}" type="presParOf" srcId="{E9817D2B-C03C-47A6-AEA9-F67435F56466}" destId="{2815DA59-521B-4B06-AB87-BE14486BEBFA}" srcOrd="1" destOrd="0" presId="urn:microsoft.com/office/officeart/2018/2/layout/IconCircleList"/>
    <dgm:cxn modelId="{E40E8D9E-D34D-4BE7-AADE-E0B0FFC30462}" type="presParOf" srcId="{E9817D2B-C03C-47A6-AEA9-F67435F56466}" destId="{904859E2-4BD1-4C20-A400-C3C1738E1480}" srcOrd="2" destOrd="0" presId="urn:microsoft.com/office/officeart/2018/2/layout/IconCircleList"/>
    <dgm:cxn modelId="{8F162E2C-E9FA-4A74-B1B1-0AF02684EF7D}" type="presParOf" srcId="{E9817D2B-C03C-47A6-AEA9-F67435F56466}" destId="{E08961E4-16F7-4CB0-9DCF-FA9F6E77DA1B}" srcOrd="3" destOrd="0" presId="urn:microsoft.com/office/officeart/2018/2/layout/IconCircleList"/>
    <dgm:cxn modelId="{CC2CDA30-9EA4-46E6-BF45-4E4789190B1C}" type="presParOf" srcId="{8A2066F4-19B2-405D-917D-86887642AFCE}" destId="{9890975E-CBD2-489F-99A1-58BEB5E304EF}" srcOrd="1" destOrd="0" presId="urn:microsoft.com/office/officeart/2018/2/layout/IconCircleList"/>
    <dgm:cxn modelId="{E3B9B80E-A22B-4A8E-98EB-A527FA8ADD7E}" type="presParOf" srcId="{8A2066F4-19B2-405D-917D-86887642AFCE}" destId="{5D728CD9-B0DA-402C-9A89-78C7080A8C08}" srcOrd="2" destOrd="0" presId="urn:microsoft.com/office/officeart/2018/2/layout/IconCircleList"/>
    <dgm:cxn modelId="{27FA86C3-B1CB-4D8C-A5DE-53A4C66D6365}" type="presParOf" srcId="{5D728CD9-B0DA-402C-9A89-78C7080A8C08}" destId="{DB578792-6D71-4A5B-AE75-F5A46899D0CB}" srcOrd="0" destOrd="0" presId="urn:microsoft.com/office/officeart/2018/2/layout/IconCircleList"/>
    <dgm:cxn modelId="{3F544C0C-8A01-459F-96FB-D4D1083D7331}" type="presParOf" srcId="{5D728CD9-B0DA-402C-9A89-78C7080A8C08}" destId="{634ACFAB-3667-4827-AC9D-5806FFFDD64E}" srcOrd="1" destOrd="0" presId="urn:microsoft.com/office/officeart/2018/2/layout/IconCircleList"/>
    <dgm:cxn modelId="{A5298A07-C16B-4EA9-B206-1D593359BC21}" type="presParOf" srcId="{5D728CD9-B0DA-402C-9A89-78C7080A8C08}" destId="{758DCB59-CA3F-4D6E-A1C1-83CC6878A86B}" srcOrd="2" destOrd="0" presId="urn:microsoft.com/office/officeart/2018/2/layout/IconCircleList"/>
    <dgm:cxn modelId="{EBEC144E-61EC-40FF-99FD-20FF5B1AB565}" type="presParOf" srcId="{5D728CD9-B0DA-402C-9A89-78C7080A8C08}" destId="{76ED4439-B9A1-4299-AAF2-F0E66069E4D8}" srcOrd="3" destOrd="0" presId="urn:microsoft.com/office/officeart/2018/2/layout/IconCircleList"/>
    <dgm:cxn modelId="{90B3FC25-09AB-4303-A531-B4772841F4EB}" type="presParOf" srcId="{8A2066F4-19B2-405D-917D-86887642AFCE}" destId="{AFF980D6-A198-45B1-BC8E-B2E06BCE42FC}" srcOrd="3" destOrd="0" presId="urn:microsoft.com/office/officeart/2018/2/layout/IconCircleList"/>
    <dgm:cxn modelId="{B3CF24E9-2517-4D5D-AD86-E9D783E51658}" type="presParOf" srcId="{8A2066F4-19B2-405D-917D-86887642AFCE}" destId="{4F247E73-5F2F-4C89-8899-032900BE445E}" srcOrd="4" destOrd="0" presId="urn:microsoft.com/office/officeart/2018/2/layout/IconCircleList"/>
    <dgm:cxn modelId="{00D49EA5-AA4E-466B-97AB-6A2AF0797C7F}" type="presParOf" srcId="{4F247E73-5F2F-4C89-8899-032900BE445E}" destId="{200813B4-069E-4A0A-8FE7-A90DD76639B0}" srcOrd="0" destOrd="0" presId="urn:microsoft.com/office/officeart/2018/2/layout/IconCircleList"/>
    <dgm:cxn modelId="{2A9FC02C-86D5-4AD2-9D3F-A49A18EA90A3}" type="presParOf" srcId="{4F247E73-5F2F-4C89-8899-032900BE445E}" destId="{095DA876-3090-46A3-893A-B41C305FE7D7}" srcOrd="1" destOrd="0" presId="urn:microsoft.com/office/officeart/2018/2/layout/IconCircleList"/>
    <dgm:cxn modelId="{DE7A3682-0184-404B-98D8-DDBF11FB025A}" type="presParOf" srcId="{4F247E73-5F2F-4C89-8899-032900BE445E}" destId="{CBACCB08-9551-4454-85C3-653D0BA5685D}" srcOrd="2" destOrd="0" presId="urn:microsoft.com/office/officeart/2018/2/layout/IconCircleList"/>
    <dgm:cxn modelId="{9242AD2D-2198-4673-98E0-18DC9C08666A}" type="presParOf" srcId="{4F247E73-5F2F-4C89-8899-032900BE445E}" destId="{0FFFA5A9-77C1-4E6B-AC9E-CB0D5A571182}" srcOrd="3" destOrd="0" presId="urn:microsoft.com/office/officeart/2018/2/layout/IconCircleList"/>
    <dgm:cxn modelId="{236E6E83-47BE-4DF3-860D-8383D89A7122}" type="presParOf" srcId="{8A2066F4-19B2-405D-917D-86887642AFCE}" destId="{55B9B58D-6250-4D9E-8634-2F3160E1A0BD}" srcOrd="5" destOrd="0" presId="urn:microsoft.com/office/officeart/2018/2/layout/IconCircleList"/>
    <dgm:cxn modelId="{F8D22CA2-40AA-43CA-B425-DA6D025AC476}" type="presParOf" srcId="{8A2066F4-19B2-405D-917D-86887642AFCE}" destId="{F6CF03A7-3379-4536-A581-A2F8708DBD11}" srcOrd="6" destOrd="0" presId="urn:microsoft.com/office/officeart/2018/2/layout/IconCircleList"/>
    <dgm:cxn modelId="{481DAE30-2033-47A5-9BEE-04A1A91DAA78}" type="presParOf" srcId="{F6CF03A7-3379-4536-A581-A2F8708DBD11}" destId="{5C634D90-B9B7-4407-AA83-12562FF49A17}" srcOrd="0" destOrd="0" presId="urn:microsoft.com/office/officeart/2018/2/layout/IconCircleList"/>
    <dgm:cxn modelId="{D933D5BF-84BA-4E76-84C1-41BAC910F13A}" type="presParOf" srcId="{F6CF03A7-3379-4536-A581-A2F8708DBD11}" destId="{97A6457A-3458-40E9-AA9A-DBCACB4A7A85}" srcOrd="1" destOrd="0" presId="urn:microsoft.com/office/officeart/2018/2/layout/IconCircleList"/>
    <dgm:cxn modelId="{FF4FA63E-BC0C-4057-877B-4D9365A1AA24}" type="presParOf" srcId="{F6CF03A7-3379-4536-A581-A2F8708DBD11}" destId="{B0E8E9A9-DC16-46A7-843C-D34A0534EB79}" srcOrd="2" destOrd="0" presId="urn:microsoft.com/office/officeart/2018/2/layout/IconCircleList"/>
    <dgm:cxn modelId="{1EFA2EC7-B63A-4D1C-9064-B236B9426076}" type="presParOf" srcId="{F6CF03A7-3379-4536-A581-A2F8708DBD11}" destId="{BE07E38F-7E16-4049-BF94-148871C997A8}" srcOrd="3" destOrd="0" presId="urn:microsoft.com/office/officeart/2018/2/layout/IconCircleList"/>
    <dgm:cxn modelId="{D3E72107-A368-41E7-9AB4-C42DB43D6C9D}" type="presParOf" srcId="{8A2066F4-19B2-405D-917D-86887642AFCE}" destId="{6D346407-5198-4AD5-88FC-C98D790B8CFC}" srcOrd="7" destOrd="0" presId="urn:microsoft.com/office/officeart/2018/2/layout/IconCircleList"/>
    <dgm:cxn modelId="{00A7ADEC-B06B-4105-86DC-A735474F9CC5}" type="presParOf" srcId="{8A2066F4-19B2-405D-917D-86887642AFCE}" destId="{5A0E76D4-DCB9-4499-8862-28928BC072DA}" srcOrd="8" destOrd="0" presId="urn:microsoft.com/office/officeart/2018/2/layout/IconCircleList"/>
    <dgm:cxn modelId="{CD5CBF8F-6FDC-4EC8-9067-439E17573811}" type="presParOf" srcId="{5A0E76D4-DCB9-4499-8862-28928BC072DA}" destId="{8BF3D57B-5A35-4F17-B11A-AFCDECB20048}" srcOrd="0" destOrd="0" presId="urn:microsoft.com/office/officeart/2018/2/layout/IconCircleList"/>
    <dgm:cxn modelId="{8DE6B316-D445-40B0-8BA8-4C8EB80E42A8}" type="presParOf" srcId="{5A0E76D4-DCB9-4499-8862-28928BC072DA}" destId="{9E75C776-B468-4EA2-A7BF-3B693B4CB01E}" srcOrd="1" destOrd="0" presId="urn:microsoft.com/office/officeart/2018/2/layout/IconCircleList"/>
    <dgm:cxn modelId="{0DE4C6CA-1106-4ED7-AD82-5CF5A2775651}" type="presParOf" srcId="{5A0E76D4-DCB9-4499-8862-28928BC072DA}" destId="{96C76D59-9FAA-4A7B-B704-AD0AAC5BEA2E}" srcOrd="2" destOrd="0" presId="urn:microsoft.com/office/officeart/2018/2/layout/IconCircleList"/>
    <dgm:cxn modelId="{A1EB00DF-2D9D-48ED-9620-6567BCD10364}" type="presParOf" srcId="{5A0E76D4-DCB9-4499-8862-28928BC072DA}" destId="{3DF45E5F-9EF8-4FCD-AE10-1B91B2F8EDD6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50DE36ED-E19B-4751-BB8C-0829B0A47B00}" type="doc">
      <dgm:prSet loTypeId="urn:microsoft.com/office/officeart/2005/8/layout/hierarchy1" loCatId="hierarchy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466CC3D7-DD52-463A-89E6-3AD27EA0A609}">
      <dgm:prSet custT="1"/>
      <dgm:spPr/>
      <dgm:t>
        <a:bodyPr/>
        <a:lstStyle/>
        <a:p>
          <a:r>
            <a:rPr lang="en-IN" sz="1200" dirty="0"/>
            <a:t>Focus on High-Error Assets </a:t>
          </a:r>
          <a:endParaRPr lang="en-US" sz="1200" dirty="0"/>
        </a:p>
      </dgm:t>
    </dgm:pt>
    <dgm:pt modelId="{838A869C-5E73-4CEF-B425-D49664A4B3EC}" type="parTrans" cxnId="{88F7E478-3792-4306-B5D3-1803B52152FC}">
      <dgm:prSet/>
      <dgm:spPr/>
      <dgm:t>
        <a:bodyPr/>
        <a:lstStyle/>
        <a:p>
          <a:endParaRPr lang="en-US" sz="1200"/>
        </a:p>
      </dgm:t>
    </dgm:pt>
    <dgm:pt modelId="{81EDF791-9334-4E5A-B807-FF684F4C2BF7}" type="sibTrans" cxnId="{88F7E478-3792-4306-B5D3-1803B52152FC}">
      <dgm:prSet/>
      <dgm:spPr/>
      <dgm:t>
        <a:bodyPr/>
        <a:lstStyle/>
        <a:p>
          <a:endParaRPr lang="en-US" sz="1200"/>
        </a:p>
      </dgm:t>
    </dgm:pt>
    <dgm:pt modelId="{69A668C0-88F2-4064-861A-310050AF1783}">
      <dgm:prSet custT="1"/>
      <dgm:spPr/>
      <dgm:t>
        <a:bodyPr/>
        <a:lstStyle/>
        <a:p>
          <a:r>
            <a:rPr lang="en-US" sz="1200" dirty="0"/>
            <a:t>Fix critical Data Quality Issues like missing fingerprints, duplicate MAC address.  </a:t>
          </a:r>
        </a:p>
      </dgm:t>
    </dgm:pt>
    <dgm:pt modelId="{C34B9279-2FD9-4DAF-AD81-F4786095223C}" type="parTrans" cxnId="{9A3F20A2-EA4E-42FE-ACA9-F19AAF5D2A29}">
      <dgm:prSet/>
      <dgm:spPr/>
      <dgm:t>
        <a:bodyPr/>
        <a:lstStyle/>
        <a:p>
          <a:endParaRPr lang="en-US" sz="1200"/>
        </a:p>
      </dgm:t>
    </dgm:pt>
    <dgm:pt modelId="{AA27D7CB-B340-41F7-9C45-E864674A77A4}" type="sibTrans" cxnId="{9A3F20A2-EA4E-42FE-ACA9-F19AAF5D2A29}">
      <dgm:prSet/>
      <dgm:spPr/>
      <dgm:t>
        <a:bodyPr/>
        <a:lstStyle/>
        <a:p>
          <a:endParaRPr lang="en-US" sz="1200"/>
        </a:p>
      </dgm:t>
    </dgm:pt>
    <dgm:pt modelId="{5CC692F5-9C36-40D2-BFB7-B5AAB123F8B2}">
      <dgm:prSet custT="1"/>
      <dgm:spPr/>
      <dgm:t>
        <a:bodyPr/>
        <a:lstStyle/>
        <a:p>
          <a:r>
            <a:rPr lang="en-US" sz="1200" dirty="0"/>
            <a:t>Risk Based Asset Management as it shows higher error.</a:t>
          </a:r>
        </a:p>
      </dgm:t>
    </dgm:pt>
    <dgm:pt modelId="{6D19F907-FD35-4D76-89CF-9A72125CA98A}" type="parTrans" cxnId="{C1D2D130-C7E7-4F06-BC33-D63C2D2E83F1}">
      <dgm:prSet/>
      <dgm:spPr/>
      <dgm:t>
        <a:bodyPr/>
        <a:lstStyle/>
        <a:p>
          <a:endParaRPr lang="en-US" sz="1200"/>
        </a:p>
      </dgm:t>
    </dgm:pt>
    <dgm:pt modelId="{A0991369-1995-440B-AB88-CFFA060E1797}" type="sibTrans" cxnId="{C1D2D130-C7E7-4F06-BC33-D63C2D2E83F1}">
      <dgm:prSet/>
      <dgm:spPr/>
      <dgm:t>
        <a:bodyPr/>
        <a:lstStyle/>
        <a:p>
          <a:endParaRPr lang="en-US" sz="1200"/>
        </a:p>
      </dgm:t>
    </dgm:pt>
    <dgm:pt modelId="{42D7CBE3-7808-4C11-8D74-6BA73FDD61B1}">
      <dgm:prSet custT="1"/>
      <dgm:spPr/>
      <dgm:t>
        <a:bodyPr/>
        <a:lstStyle/>
        <a:p>
          <a:r>
            <a:rPr lang="en-US" sz="1200" dirty="0"/>
            <a:t>OS and Model Type standardization</a:t>
          </a:r>
        </a:p>
      </dgm:t>
    </dgm:pt>
    <dgm:pt modelId="{F7CD28D1-6F77-488F-8A30-0443C718DA99}" type="parTrans" cxnId="{A63068EE-CA59-4A73-AD7D-2F7079A9AD67}">
      <dgm:prSet/>
      <dgm:spPr/>
      <dgm:t>
        <a:bodyPr/>
        <a:lstStyle/>
        <a:p>
          <a:endParaRPr lang="en-US" sz="1200"/>
        </a:p>
      </dgm:t>
    </dgm:pt>
    <dgm:pt modelId="{CEFFAFC7-3016-4F8F-B687-6CE1ADB63D61}" type="sibTrans" cxnId="{A63068EE-CA59-4A73-AD7D-2F7079A9AD67}">
      <dgm:prSet/>
      <dgm:spPr/>
      <dgm:t>
        <a:bodyPr/>
        <a:lstStyle/>
        <a:p>
          <a:endParaRPr lang="en-US" sz="1200"/>
        </a:p>
      </dgm:t>
    </dgm:pt>
    <dgm:pt modelId="{A1548615-C7CC-419B-96B9-150ECAE8B77B}">
      <dgm:prSet custT="1"/>
      <dgm:spPr/>
      <dgm:t>
        <a:bodyPr/>
        <a:lstStyle/>
        <a:p>
          <a:r>
            <a:rPr lang="en-US" sz="1200" dirty="0"/>
            <a:t>Data Quality Score as Governance Metric</a:t>
          </a:r>
        </a:p>
      </dgm:t>
    </dgm:pt>
    <dgm:pt modelId="{A2164E8B-E3B3-4715-BF44-A87CF93EAF51}" type="parTrans" cxnId="{097A7F9C-6F21-48B3-B7E4-F058E28BEBC5}">
      <dgm:prSet/>
      <dgm:spPr/>
      <dgm:t>
        <a:bodyPr/>
        <a:lstStyle/>
        <a:p>
          <a:endParaRPr lang="en-NL" sz="1200"/>
        </a:p>
      </dgm:t>
    </dgm:pt>
    <dgm:pt modelId="{D7F1510E-A7F8-47DB-ACDF-CB996639A4D3}" type="sibTrans" cxnId="{097A7F9C-6F21-48B3-B7E4-F058E28BEBC5}">
      <dgm:prSet/>
      <dgm:spPr/>
      <dgm:t>
        <a:bodyPr/>
        <a:lstStyle/>
        <a:p>
          <a:endParaRPr lang="en-NL" sz="1200"/>
        </a:p>
      </dgm:t>
    </dgm:pt>
    <dgm:pt modelId="{3B91759F-4153-481E-8840-4BE79B9BE030}" type="pres">
      <dgm:prSet presAssocID="{50DE36ED-E19B-4751-BB8C-0829B0A47B00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579D6AB4-55B5-42CF-891E-3C6394894F23}" type="pres">
      <dgm:prSet presAssocID="{466CC3D7-DD52-463A-89E6-3AD27EA0A609}" presName="hierRoot1" presStyleCnt="0"/>
      <dgm:spPr/>
    </dgm:pt>
    <dgm:pt modelId="{C50ACDFE-21B2-4483-8D23-CC5A7B8F03D1}" type="pres">
      <dgm:prSet presAssocID="{466CC3D7-DD52-463A-89E6-3AD27EA0A609}" presName="composite" presStyleCnt="0"/>
      <dgm:spPr/>
    </dgm:pt>
    <dgm:pt modelId="{56A30828-1B41-4B98-8BAC-8DD6F1B740E1}" type="pres">
      <dgm:prSet presAssocID="{466CC3D7-DD52-463A-89E6-3AD27EA0A609}" presName="background" presStyleLbl="node0" presStyleIdx="0" presStyleCnt="5"/>
      <dgm:spPr/>
    </dgm:pt>
    <dgm:pt modelId="{2B07F3A7-B7D8-4D1B-AC12-5B771D62C76C}" type="pres">
      <dgm:prSet presAssocID="{466CC3D7-DD52-463A-89E6-3AD27EA0A609}" presName="text" presStyleLbl="fgAcc0" presStyleIdx="0" presStyleCnt="5">
        <dgm:presLayoutVars>
          <dgm:chPref val="3"/>
        </dgm:presLayoutVars>
      </dgm:prSet>
      <dgm:spPr/>
    </dgm:pt>
    <dgm:pt modelId="{BE42C129-DAE6-4CDF-AAE8-EF489DD670E5}" type="pres">
      <dgm:prSet presAssocID="{466CC3D7-DD52-463A-89E6-3AD27EA0A609}" presName="hierChild2" presStyleCnt="0"/>
      <dgm:spPr/>
    </dgm:pt>
    <dgm:pt modelId="{0765CFAC-D637-472C-84F7-AB229F742C82}" type="pres">
      <dgm:prSet presAssocID="{69A668C0-88F2-4064-861A-310050AF1783}" presName="hierRoot1" presStyleCnt="0"/>
      <dgm:spPr/>
    </dgm:pt>
    <dgm:pt modelId="{CE9D7CDB-30EA-4A3F-B09E-F50D205DE903}" type="pres">
      <dgm:prSet presAssocID="{69A668C0-88F2-4064-861A-310050AF1783}" presName="composite" presStyleCnt="0"/>
      <dgm:spPr/>
    </dgm:pt>
    <dgm:pt modelId="{655078DE-F407-4BE3-8BCD-DAA8F227FCF3}" type="pres">
      <dgm:prSet presAssocID="{69A668C0-88F2-4064-861A-310050AF1783}" presName="background" presStyleLbl="node0" presStyleIdx="1" presStyleCnt="5"/>
      <dgm:spPr/>
    </dgm:pt>
    <dgm:pt modelId="{C558470D-CB79-4D01-A90F-1022B1DB7825}" type="pres">
      <dgm:prSet presAssocID="{69A668C0-88F2-4064-861A-310050AF1783}" presName="text" presStyleLbl="fgAcc0" presStyleIdx="1" presStyleCnt="5">
        <dgm:presLayoutVars>
          <dgm:chPref val="3"/>
        </dgm:presLayoutVars>
      </dgm:prSet>
      <dgm:spPr/>
    </dgm:pt>
    <dgm:pt modelId="{8BF58DBE-F253-48FE-BB0C-82CC629790AE}" type="pres">
      <dgm:prSet presAssocID="{69A668C0-88F2-4064-861A-310050AF1783}" presName="hierChild2" presStyleCnt="0"/>
      <dgm:spPr/>
    </dgm:pt>
    <dgm:pt modelId="{8D9AA3F3-BD01-4567-B359-3A78971EAB62}" type="pres">
      <dgm:prSet presAssocID="{5CC692F5-9C36-40D2-BFB7-B5AAB123F8B2}" presName="hierRoot1" presStyleCnt="0"/>
      <dgm:spPr/>
    </dgm:pt>
    <dgm:pt modelId="{B2B98AD7-1036-4BC8-ADF8-04F0906CBA0C}" type="pres">
      <dgm:prSet presAssocID="{5CC692F5-9C36-40D2-BFB7-B5AAB123F8B2}" presName="composite" presStyleCnt="0"/>
      <dgm:spPr/>
    </dgm:pt>
    <dgm:pt modelId="{7B66A267-CABA-4649-B408-CD090CEBDB7E}" type="pres">
      <dgm:prSet presAssocID="{5CC692F5-9C36-40D2-BFB7-B5AAB123F8B2}" presName="background" presStyleLbl="node0" presStyleIdx="2" presStyleCnt="5"/>
      <dgm:spPr/>
    </dgm:pt>
    <dgm:pt modelId="{9AB13063-0A11-4A0A-A625-80A14A88FC86}" type="pres">
      <dgm:prSet presAssocID="{5CC692F5-9C36-40D2-BFB7-B5AAB123F8B2}" presName="text" presStyleLbl="fgAcc0" presStyleIdx="2" presStyleCnt="5">
        <dgm:presLayoutVars>
          <dgm:chPref val="3"/>
        </dgm:presLayoutVars>
      </dgm:prSet>
      <dgm:spPr/>
    </dgm:pt>
    <dgm:pt modelId="{71D61528-1ABA-4460-B0B4-294C410380C1}" type="pres">
      <dgm:prSet presAssocID="{5CC692F5-9C36-40D2-BFB7-B5AAB123F8B2}" presName="hierChild2" presStyleCnt="0"/>
      <dgm:spPr/>
    </dgm:pt>
    <dgm:pt modelId="{53A316DC-BF2A-49F4-BA0F-443C9DE39A70}" type="pres">
      <dgm:prSet presAssocID="{42D7CBE3-7808-4C11-8D74-6BA73FDD61B1}" presName="hierRoot1" presStyleCnt="0"/>
      <dgm:spPr/>
    </dgm:pt>
    <dgm:pt modelId="{51F50DA0-141C-4DFB-BD7A-9471D98A25F8}" type="pres">
      <dgm:prSet presAssocID="{42D7CBE3-7808-4C11-8D74-6BA73FDD61B1}" presName="composite" presStyleCnt="0"/>
      <dgm:spPr/>
    </dgm:pt>
    <dgm:pt modelId="{785C8794-F1A2-4090-A809-C500604D382A}" type="pres">
      <dgm:prSet presAssocID="{42D7CBE3-7808-4C11-8D74-6BA73FDD61B1}" presName="background" presStyleLbl="node0" presStyleIdx="3" presStyleCnt="5"/>
      <dgm:spPr/>
    </dgm:pt>
    <dgm:pt modelId="{DA1C60F8-A9D5-405A-9682-896EB59872EC}" type="pres">
      <dgm:prSet presAssocID="{42D7CBE3-7808-4C11-8D74-6BA73FDD61B1}" presName="text" presStyleLbl="fgAcc0" presStyleIdx="3" presStyleCnt="5">
        <dgm:presLayoutVars>
          <dgm:chPref val="3"/>
        </dgm:presLayoutVars>
      </dgm:prSet>
      <dgm:spPr/>
    </dgm:pt>
    <dgm:pt modelId="{C48B4D4B-768F-47DF-AF44-F1745D052B64}" type="pres">
      <dgm:prSet presAssocID="{42D7CBE3-7808-4C11-8D74-6BA73FDD61B1}" presName="hierChild2" presStyleCnt="0"/>
      <dgm:spPr/>
    </dgm:pt>
    <dgm:pt modelId="{CCFF1514-6F2F-45BD-8B9B-346178B1CFDC}" type="pres">
      <dgm:prSet presAssocID="{A1548615-C7CC-419B-96B9-150ECAE8B77B}" presName="hierRoot1" presStyleCnt="0"/>
      <dgm:spPr/>
    </dgm:pt>
    <dgm:pt modelId="{6BD03B5C-571E-4811-989F-47CA94685053}" type="pres">
      <dgm:prSet presAssocID="{A1548615-C7CC-419B-96B9-150ECAE8B77B}" presName="composite" presStyleCnt="0"/>
      <dgm:spPr/>
    </dgm:pt>
    <dgm:pt modelId="{3873082F-6A58-4E01-8296-1883DD0F3DD4}" type="pres">
      <dgm:prSet presAssocID="{A1548615-C7CC-419B-96B9-150ECAE8B77B}" presName="background" presStyleLbl="node0" presStyleIdx="4" presStyleCnt="5"/>
      <dgm:spPr/>
    </dgm:pt>
    <dgm:pt modelId="{400A7F6A-FAAD-4C87-95EF-BC629686607F}" type="pres">
      <dgm:prSet presAssocID="{A1548615-C7CC-419B-96B9-150ECAE8B77B}" presName="text" presStyleLbl="fgAcc0" presStyleIdx="4" presStyleCnt="5">
        <dgm:presLayoutVars>
          <dgm:chPref val="3"/>
        </dgm:presLayoutVars>
      </dgm:prSet>
      <dgm:spPr/>
    </dgm:pt>
    <dgm:pt modelId="{4F4B4AAF-2B3C-4443-BE31-67E538D83F17}" type="pres">
      <dgm:prSet presAssocID="{A1548615-C7CC-419B-96B9-150ECAE8B77B}" presName="hierChild2" presStyleCnt="0"/>
      <dgm:spPr/>
    </dgm:pt>
  </dgm:ptLst>
  <dgm:cxnLst>
    <dgm:cxn modelId="{1A143F1E-7868-41F5-A6C5-FC81BA18D5A2}" type="presOf" srcId="{69A668C0-88F2-4064-861A-310050AF1783}" destId="{C558470D-CB79-4D01-A90F-1022B1DB7825}" srcOrd="0" destOrd="0" presId="urn:microsoft.com/office/officeart/2005/8/layout/hierarchy1"/>
    <dgm:cxn modelId="{C1D2D130-C7E7-4F06-BC33-D63C2D2E83F1}" srcId="{50DE36ED-E19B-4751-BB8C-0829B0A47B00}" destId="{5CC692F5-9C36-40D2-BFB7-B5AAB123F8B2}" srcOrd="2" destOrd="0" parTransId="{6D19F907-FD35-4D76-89CF-9A72125CA98A}" sibTransId="{A0991369-1995-440B-AB88-CFFA060E1797}"/>
    <dgm:cxn modelId="{6970D736-CFF9-4401-9EAC-DB98F0D5AFB2}" type="presOf" srcId="{50DE36ED-E19B-4751-BB8C-0829B0A47B00}" destId="{3B91759F-4153-481E-8840-4BE79B9BE030}" srcOrd="0" destOrd="0" presId="urn:microsoft.com/office/officeart/2005/8/layout/hierarchy1"/>
    <dgm:cxn modelId="{B6EE065E-5439-4C40-99D0-90D5B2F5D0EF}" type="presOf" srcId="{5CC692F5-9C36-40D2-BFB7-B5AAB123F8B2}" destId="{9AB13063-0A11-4A0A-A625-80A14A88FC86}" srcOrd="0" destOrd="0" presId="urn:microsoft.com/office/officeart/2005/8/layout/hierarchy1"/>
    <dgm:cxn modelId="{88F7E478-3792-4306-B5D3-1803B52152FC}" srcId="{50DE36ED-E19B-4751-BB8C-0829B0A47B00}" destId="{466CC3D7-DD52-463A-89E6-3AD27EA0A609}" srcOrd="0" destOrd="0" parTransId="{838A869C-5E73-4CEF-B425-D49664A4B3EC}" sibTransId="{81EDF791-9334-4E5A-B807-FF684F4C2BF7}"/>
    <dgm:cxn modelId="{5CEE8E5A-22A1-46AE-803E-688B8DC531D7}" type="presOf" srcId="{466CC3D7-DD52-463A-89E6-3AD27EA0A609}" destId="{2B07F3A7-B7D8-4D1B-AC12-5B771D62C76C}" srcOrd="0" destOrd="0" presId="urn:microsoft.com/office/officeart/2005/8/layout/hierarchy1"/>
    <dgm:cxn modelId="{097A7F9C-6F21-48B3-B7E4-F058E28BEBC5}" srcId="{50DE36ED-E19B-4751-BB8C-0829B0A47B00}" destId="{A1548615-C7CC-419B-96B9-150ECAE8B77B}" srcOrd="4" destOrd="0" parTransId="{A2164E8B-E3B3-4715-BF44-A87CF93EAF51}" sibTransId="{D7F1510E-A7F8-47DB-ACDF-CB996639A4D3}"/>
    <dgm:cxn modelId="{9A3F20A2-EA4E-42FE-ACA9-F19AAF5D2A29}" srcId="{50DE36ED-E19B-4751-BB8C-0829B0A47B00}" destId="{69A668C0-88F2-4064-861A-310050AF1783}" srcOrd="1" destOrd="0" parTransId="{C34B9279-2FD9-4DAF-AD81-F4786095223C}" sibTransId="{AA27D7CB-B340-41F7-9C45-E864674A77A4}"/>
    <dgm:cxn modelId="{28FA72A7-0C48-478D-9B52-3537B8F8D850}" type="presOf" srcId="{A1548615-C7CC-419B-96B9-150ECAE8B77B}" destId="{400A7F6A-FAAD-4C87-95EF-BC629686607F}" srcOrd="0" destOrd="0" presId="urn:microsoft.com/office/officeart/2005/8/layout/hierarchy1"/>
    <dgm:cxn modelId="{61FCDDDC-198D-40A9-8F12-050BDE5DA7E9}" type="presOf" srcId="{42D7CBE3-7808-4C11-8D74-6BA73FDD61B1}" destId="{DA1C60F8-A9D5-405A-9682-896EB59872EC}" srcOrd="0" destOrd="0" presId="urn:microsoft.com/office/officeart/2005/8/layout/hierarchy1"/>
    <dgm:cxn modelId="{A63068EE-CA59-4A73-AD7D-2F7079A9AD67}" srcId="{50DE36ED-E19B-4751-BB8C-0829B0A47B00}" destId="{42D7CBE3-7808-4C11-8D74-6BA73FDD61B1}" srcOrd="3" destOrd="0" parTransId="{F7CD28D1-6F77-488F-8A30-0443C718DA99}" sibTransId="{CEFFAFC7-3016-4F8F-B687-6CE1ADB63D61}"/>
    <dgm:cxn modelId="{011E8CA1-DC8E-4E5D-9C9D-D40E0599B6BD}" type="presParOf" srcId="{3B91759F-4153-481E-8840-4BE79B9BE030}" destId="{579D6AB4-55B5-42CF-891E-3C6394894F23}" srcOrd="0" destOrd="0" presId="urn:microsoft.com/office/officeart/2005/8/layout/hierarchy1"/>
    <dgm:cxn modelId="{4E63797C-DA0B-4703-BCA6-1D9CE5E28DA5}" type="presParOf" srcId="{579D6AB4-55B5-42CF-891E-3C6394894F23}" destId="{C50ACDFE-21B2-4483-8D23-CC5A7B8F03D1}" srcOrd="0" destOrd="0" presId="urn:microsoft.com/office/officeart/2005/8/layout/hierarchy1"/>
    <dgm:cxn modelId="{01F2D051-D67F-4783-843A-0DF11387D013}" type="presParOf" srcId="{C50ACDFE-21B2-4483-8D23-CC5A7B8F03D1}" destId="{56A30828-1B41-4B98-8BAC-8DD6F1B740E1}" srcOrd="0" destOrd="0" presId="urn:microsoft.com/office/officeart/2005/8/layout/hierarchy1"/>
    <dgm:cxn modelId="{C0533BBC-7132-4F0F-B364-1AE7184FD9C0}" type="presParOf" srcId="{C50ACDFE-21B2-4483-8D23-CC5A7B8F03D1}" destId="{2B07F3A7-B7D8-4D1B-AC12-5B771D62C76C}" srcOrd="1" destOrd="0" presId="urn:microsoft.com/office/officeart/2005/8/layout/hierarchy1"/>
    <dgm:cxn modelId="{EF895361-5D09-43EB-A755-C1AA3258CDB4}" type="presParOf" srcId="{579D6AB4-55B5-42CF-891E-3C6394894F23}" destId="{BE42C129-DAE6-4CDF-AAE8-EF489DD670E5}" srcOrd="1" destOrd="0" presId="urn:microsoft.com/office/officeart/2005/8/layout/hierarchy1"/>
    <dgm:cxn modelId="{5304CA58-6E7F-4225-89C9-346E42A9CA54}" type="presParOf" srcId="{3B91759F-4153-481E-8840-4BE79B9BE030}" destId="{0765CFAC-D637-472C-84F7-AB229F742C82}" srcOrd="1" destOrd="0" presId="urn:microsoft.com/office/officeart/2005/8/layout/hierarchy1"/>
    <dgm:cxn modelId="{CB0D92DE-423F-4BA5-828D-6DCE6CF64967}" type="presParOf" srcId="{0765CFAC-D637-472C-84F7-AB229F742C82}" destId="{CE9D7CDB-30EA-4A3F-B09E-F50D205DE903}" srcOrd="0" destOrd="0" presId="urn:microsoft.com/office/officeart/2005/8/layout/hierarchy1"/>
    <dgm:cxn modelId="{CFC3809D-5677-49C1-B592-C0F702CD1F95}" type="presParOf" srcId="{CE9D7CDB-30EA-4A3F-B09E-F50D205DE903}" destId="{655078DE-F407-4BE3-8BCD-DAA8F227FCF3}" srcOrd="0" destOrd="0" presId="urn:microsoft.com/office/officeart/2005/8/layout/hierarchy1"/>
    <dgm:cxn modelId="{25BA705B-121C-4B85-ADD4-7971B4E0DDCE}" type="presParOf" srcId="{CE9D7CDB-30EA-4A3F-B09E-F50D205DE903}" destId="{C558470D-CB79-4D01-A90F-1022B1DB7825}" srcOrd="1" destOrd="0" presId="urn:microsoft.com/office/officeart/2005/8/layout/hierarchy1"/>
    <dgm:cxn modelId="{6A0D0ED1-7281-407A-8152-5B07989401C7}" type="presParOf" srcId="{0765CFAC-D637-472C-84F7-AB229F742C82}" destId="{8BF58DBE-F253-48FE-BB0C-82CC629790AE}" srcOrd="1" destOrd="0" presId="urn:microsoft.com/office/officeart/2005/8/layout/hierarchy1"/>
    <dgm:cxn modelId="{09BB8CE0-DF91-48CD-9BC5-F9EFD79CD4CA}" type="presParOf" srcId="{3B91759F-4153-481E-8840-4BE79B9BE030}" destId="{8D9AA3F3-BD01-4567-B359-3A78971EAB62}" srcOrd="2" destOrd="0" presId="urn:microsoft.com/office/officeart/2005/8/layout/hierarchy1"/>
    <dgm:cxn modelId="{A91FEA3A-EC26-45DF-9784-CC0C2449D088}" type="presParOf" srcId="{8D9AA3F3-BD01-4567-B359-3A78971EAB62}" destId="{B2B98AD7-1036-4BC8-ADF8-04F0906CBA0C}" srcOrd="0" destOrd="0" presId="urn:microsoft.com/office/officeart/2005/8/layout/hierarchy1"/>
    <dgm:cxn modelId="{1FD30081-0725-4248-B1AF-3B357B0DC856}" type="presParOf" srcId="{B2B98AD7-1036-4BC8-ADF8-04F0906CBA0C}" destId="{7B66A267-CABA-4649-B408-CD090CEBDB7E}" srcOrd="0" destOrd="0" presId="urn:microsoft.com/office/officeart/2005/8/layout/hierarchy1"/>
    <dgm:cxn modelId="{D1BECEB1-3E7B-42C1-B615-CB92B5CE6F8A}" type="presParOf" srcId="{B2B98AD7-1036-4BC8-ADF8-04F0906CBA0C}" destId="{9AB13063-0A11-4A0A-A625-80A14A88FC86}" srcOrd="1" destOrd="0" presId="urn:microsoft.com/office/officeart/2005/8/layout/hierarchy1"/>
    <dgm:cxn modelId="{DF690737-83F4-4011-A1AA-84438F1B2AA0}" type="presParOf" srcId="{8D9AA3F3-BD01-4567-B359-3A78971EAB62}" destId="{71D61528-1ABA-4460-B0B4-294C410380C1}" srcOrd="1" destOrd="0" presId="urn:microsoft.com/office/officeart/2005/8/layout/hierarchy1"/>
    <dgm:cxn modelId="{31DB57F3-3BF1-4888-9E59-2BDB4BC531EA}" type="presParOf" srcId="{3B91759F-4153-481E-8840-4BE79B9BE030}" destId="{53A316DC-BF2A-49F4-BA0F-443C9DE39A70}" srcOrd="3" destOrd="0" presId="urn:microsoft.com/office/officeart/2005/8/layout/hierarchy1"/>
    <dgm:cxn modelId="{AEB1AB06-7321-40A8-83B1-6BE0DBED732A}" type="presParOf" srcId="{53A316DC-BF2A-49F4-BA0F-443C9DE39A70}" destId="{51F50DA0-141C-4DFB-BD7A-9471D98A25F8}" srcOrd="0" destOrd="0" presId="urn:microsoft.com/office/officeart/2005/8/layout/hierarchy1"/>
    <dgm:cxn modelId="{B391083F-C1DB-442F-9EDD-F16546D25988}" type="presParOf" srcId="{51F50DA0-141C-4DFB-BD7A-9471D98A25F8}" destId="{785C8794-F1A2-4090-A809-C500604D382A}" srcOrd="0" destOrd="0" presId="urn:microsoft.com/office/officeart/2005/8/layout/hierarchy1"/>
    <dgm:cxn modelId="{C59A5D0C-EE49-468B-ABD5-99F60A52104F}" type="presParOf" srcId="{51F50DA0-141C-4DFB-BD7A-9471D98A25F8}" destId="{DA1C60F8-A9D5-405A-9682-896EB59872EC}" srcOrd="1" destOrd="0" presId="urn:microsoft.com/office/officeart/2005/8/layout/hierarchy1"/>
    <dgm:cxn modelId="{298F5AA4-7425-4233-9CD1-2C23F90664FC}" type="presParOf" srcId="{53A316DC-BF2A-49F4-BA0F-443C9DE39A70}" destId="{C48B4D4B-768F-47DF-AF44-F1745D052B64}" srcOrd="1" destOrd="0" presId="urn:microsoft.com/office/officeart/2005/8/layout/hierarchy1"/>
    <dgm:cxn modelId="{115F99FC-33EC-45E2-AD85-FA623B4E59E1}" type="presParOf" srcId="{3B91759F-4153-481E-8840-4BE79B9BE030}" destId="{CCFF1514-6F2F-45BD-8B9B-346178B1CFDC}" srcOrd="4" destOrd="0" presId="urn:microsoft.com/office/officeart/2005/8/layout/hierarchy1"/>
    <dgm:cxn modelId="{BC6BDECB-5F6C-4685-9ED1-965B293EF324}" type="presParOf" srcId="{CCFF1514-6F2F-45BD-8B9B-346178B1CFDC}" destId="{6BD03B5C-571E-4811-989F-47CA94685053}" srcOrd="0" destOrd="0" presId="urn:microsoft.com/office/officeart/2005/8/layout/hierarchy1"/>
    <dgm:cxn modelId="{A5303169-8155-434C-A2FF-BE496FEA9B26}" type="presParOf" srcId="{6BD03B5C-571E-4811-989F-47CA94685053}" destId="{3873082F-6A58-4E01-8296-1883DD0F3DD4}" srcOrd="0" destOrd="0" presId="urn:microsoft.com/office/officeart/2005/8/layout/hierarchy1"/>
    <dgm:cxn modelId="{1CD61AD2-FE0B-4642-8D9E-B8BB19756C09}" type="presParOf" srcId="{6BD03B5C-571E-4811-989F-47CA94685053}" destId="{400A7F6A-FAAD-4C87-95EF-BC629686607F}" srcOrd="1" destOrd="0" presId="urn:microsoft.com/office/officeart/2005/8/layout/hierarchy1"/>
    <dgm:cxn modelId="{AEDF828B-FA8F-4DD9-945A-A491CAE5F756}" type="presParOf" srcId="{CCFF1514-6F2F-45BD-8B9B-346178B1CFDC}" destId="{4F4B4AAF-2B3C-4443-BE31-67E538D83F17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FA736D-95E5-4BB3-8543-19E1BC9DDEE2}">
      <dsp:nvSpPr>
        <dsp:cNvPr id="0" name=""/>
        <dsp:cNvSpPr/>
      </dsp:nvSpPr>
      <dsp:spPr>
        <a:xfrm>
          <a:off x="0" y="1181"/>
          <a:ext cx="8987404" cy="50366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A690356-26E0-4429-A470-56323D36E36E}">
      <dsp:nvSpPr>
        <dsp:cNvPr id="0" name=""/>
        <dsp:cNvSpPr/>
      </dsp:nvSpPr>
      <dsp:spPr>
        <a:xfrm>
          <a:off x="152358" y="114506"/>
          <a:ext cx="277016" cy="27701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3359BF-505F-4A67-A83A-50637A47797A}">
      <dsp:nvSpPr>
        <dsp:cNvPr id="0" name=""/>
        <dsp:cNvSpPr/>
      </dsp:nvSpPr>
      <dsp:spPr>
        <a:xfrm>
          <a:off x="581733" y="1181"/>
          <a:ext cx="8405670" cy="5036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05" tIns="53305" rIns="53305" bIns="53305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 dirty="0"/>
            <a:t>Improve Asset Visibility for better tracking and management </a:t>
          </a:r>
          <a:endParaRPr lang="en-US" sz="1900" kern="1200" dirty="0"/>
        </a:p>
      </dsp:txBody>
      <dsp:txXfrm>
        <a:off x="581733" y="1181"/>
        <a:ext cx="8405670" cy="503665"/>
      </dsp:txXfrm>
    </dsp:sp>
    <dsp:sp modelId="{4EEC6FC6-4187-4570-9F22-5741D7E0F09A}">
      <dsp:nvSpPr>
        <dsp:cNvPr id="0" name=""/>
        <dsp:cNvSpPr/>
      </dsp:nvSpPr>
      <dsp:spPr>
        <a:xfrm>
          <a:off x="0" y="630764"/>
          <a:ext cx="8987404" cy="50366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72913CD-1826-48ED-B44C-9A9EBFBF81DC}">
      <dsp:nvSpPr>
        <dsp:cNvPr id="0" name=""/>
        <dsp:cNvSpPr/>
      </dsp:nvSpPr>
      <dsp:spPr>
        <a:xfrm>
          <a:off x="152358" y="744089"/>
          <a:ext cx="277016" cy="27701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D4E2C0-724E-431A-9431-45D48026AF9F}">
      <dsp:nvSpPr>
        <dsp:cNvPr id="0" name=""/>
        <dsp:cNvSpPr/>
      </dsp:nvSpPr>
      <dsp:spPr>
        <a:xfrm>
          <a:off x="581733" y="630764"/>
          <a:ext cx="8405670" cy="5036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05" tIns="53305" rIns="53305" bIns="53305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Enhance Data Quality to reduce inconsistencies and incorrect classifications</a:t>
          </a:r>
        </a:p>
      </dsp:txBody>
      <dsp:txXfrm>
        <a:off x="581733" y="630764"/>
        <a:ext cx="8405670" cy="503665"/>
      </dsp:txXfrm>
    </dsp:sp>
    <dsp:sp modelId="{E0A74E84-BE0E-449B-A02D-B702950456EF}">
      <dsp:nvSpPr>
        <dsp:cNvPr id="0" name=""/>
        <dsp:cNvSpPr/>
      </dsp:nvSpPr>
      <dsp:spPr>
        <a:xfrm>
          <a:off x="0" y="1260346"/>
          <a:ext cx="8987404" cy="50366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76F8A02-400A-4BC1-92A8-441A16BE53C8}">
      <dsp:nvSpPr>
        <dsp:cNvPr id="0" name=""/>
        <dsp:cNvSpPr/>
      </dsp:nvSpPr>
      <dsp:spPr>
        <a:xfrm>
          <a:off x="152358" y="1373671"/>
          <a:ext cx="277016" cy="27701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2F4CF1-590E-4005-B4C7-27EAF7382984}">
      <dsp:nvSpPr>
        <dsp:cNvPr id="0" name=""/>
        <dsp:cNvSpPr/>
      </dsp:nvSpPr>
      <dsp:spPr>
        <a:xfrm>
          <a:off x="581733" y="1260346"/>
          <a:ext cx="8405670" cy="5036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05" tIns="53305" rIns="53305" bIns="53305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Enable reliable Insights for accurate reporting and decision making </a:t>
          </a:r>
        </a:p>
      </dsp:txBody>
      <dsp:txXfrm>
        <a:off x="581733" y="1260346"/>
        <a:ext cx="8405670" cy="503665"/>
      </dsp:txXfrm>
    </dsp:sp>
    <dsp:sp modelId="{351D022D-FF0E-4400-BAED-DAD5FE5E83A8}">
      <dsp:nvSpPr>
        <dsp:cNvPr id="0" name=""/>
        <dsp:cNvSpPr/>
      </dsp:nvSpPr>
      <dsp:spPr>
        <a:xfrm>
          <a:off x="0" y="1889928"/>
          <a:ext cx="8987404" cy="50366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498ED7C-7189-40DF-B43F-F75739F9239D}">
      <dsp:nvSpPr>
        <dsp:cNvPr id="0" name=""/>
        <dsp:cNvSpPr/>
      </dsp:nvSpPr>
      <dsp:spPr>
        <a:xfrm>
          <a:off x="152358" y="2003253"/>
          <a:ext cx="277016" cy="27701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1FD271-109B-43C8-A049-9A191C7BA9C7}">
      <dsp:nvSpPr>
        <dsp:cNvPr id="0" name=""/>
        <dsp:cNvSpPr/>
      </dsp:nvSpPr>
      <dsp:spPr>
        <a:xfrm>
          <a:off x="581733" y="1889928"/>
          <a:ext cx="8405670" cy="5036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05" tIns="53305" rIns="53305" bIns="53305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Build scalable framework to handle (~ 90K devices) efficiently.</a:t>
          </a:r>
        </a:p>
      </dsp:txBody>
      <dsp:txXfrm>
        <a:off x="581733" y="1889928"/>
        <a:ext cx="8405670" cy="503665"/>
      </dsp:txXfrm>
    </dsp:sp>
    <dsp:sp modelId="{50E8F0D9-7A82-46E8-B18A-06A23E809316}">
      <dsp:nvSpPr>
        <dsp:cNvPr id="0" name=""/>
        <dsp:cNvSpPr/>
      </dsp:nvSpPr>
      <dsp:spPr>
        <a:xfrm>
          <a:off x="0" y="2519510"/>
          <a:ext cx="8987404" cy="50366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C89054A-C0DC-4A36-A3A0-F9FAEB432FA7}">
      <dsp:nvSpPr>
        <dsp:cNvPr id="0" name=""/>
        <dsp:cNvSpPr/>
      </dsp:nvSpPr>
      <dsp:spPr>
        <a:xfrm>
          <a:off x="152358" y="2632835"/>
          <a:ext cx="277016" cy="277016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A3E9AE-6FDB-4F76-AADF-37A2CDC30E76}">
      <dsp:nvSpPr>
        <dsp:cNvPr id="0" name=""/>
        <dsp:cNvSpPr/>
      </dsp:nvSpPr>
      <dsp:spPr>
        <a:xfrm>
          <a:off x="581733" y="2519510"/>
          <a:ext cx="8405670" cy="5036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05" tIns="53305" rIns="53305" bIns="53305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Data Enrichment with derived attributes(e.g. category, device_type) </a:t>
          </a:r>
        </a:p>
      </dsp:txBody>
      <dsp:txXfrm>
        <a:off x="581733" y="2519510"/>
        <a:ext cx="8405670" cy="503665"/>
      </dsp:txXfrm>
    </dsp:sp>
    <dsp:sp modelId="{89F5DE8E-2592-4228-A37C-9404A3AE4CD1}">
      <dsp:nvSpPr>
        <dsp:cNvPr id="0" name=""/>
        <dsp:cNvSpPr/>
      </dsp:nvSpPr>
      <dsp:spPr>
        <a:xfrm>
          <a:off x="0" y="3149093"/>
          <a:ext cx="8987404" cy="50366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752B809-E14B-450A-ADD5-F29C513A7151}">
      <dsp:nvSpPr>
        <dsp:cNvPr id="0" name=""/>
        <dsp:cNvSpPr/>
      </dsp:nvSpPr>
      <dsp:spPr>
        <a:xfrm>
          <a:off x="152358" y="3262418"/>
          <a:ext cx="277016" cy="277016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01BCAE-72E5-444E-B60A-5A79D0188916}">
      <dsp:nvSpPr>
        <dsp:cNvPr id="0" name=""/>
        <dsp:cNvSpPr/>
      </dsp:nvSpPr>
      <dsp:spPr>
        <a:xfrm>
          <a:off x="581733" y="3149093"/>
          <a:ext cx="8405670" cy="5036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05" tIns="53305" rIns="53305" bIns="53305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Threat Detection and asset-level risk visibility </a:t>
          </a:r>
        </a:p>
      </dsp:txBody>
      <dsp:txXfrm>
        <a:off x="581733" y="3149093"/>
        <a:ext cx="8405670" cy="50366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599205F-D17C-4372-BC42-A9E4D1A771B5}">
      <dsp:nvSpPr>
        <dsp:cNvPr id="0" name=""/>
        <dsp:cNvSpPr/>
      </dsp:nvSpPr>
      <dsp:spPr>
        <a:xfrm>
          <a:off x="0" y="1516"/>
          <a:ext cx="8987404" cy="76861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C5DF8BC-FD50-41A2-B5CF-3D939414225D}">
      <dsp:nvSpPr>
        <dsp:cNvPr id="0" name=""/>
        <dsp:cNvSpPr/>
      </dsp:nvSpPr>
      <dsp:spPr>
        <a:xfrm>
          <a:off x="232505" y="174454"/>
          <a:ext cx="422736" cy="42273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A9A536-A821-44E6-A2BC-260F116E0582}">
      <dsp:nvSpPr>
        <dsp:cNvPr id="0" name=""/>
        <dsp:cNvSpPr/>
      </dsp:nvSpPr>
      <dsp:spPr>
        <a:xfrm>
          <a:off x="887747" y="1516"/>
          <a:ext cx="8099656" cy="7686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345" tIns="81345" rIns="81345" bIns="81345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/>
            <a:t>The raw dataset contained 2 columns: id and encoded(Base64 format)</a:t>
          </a:r>
          <a:endParaRPr lang="en-US" sz="1600" kern="1200" dirty="0"/>
        </a:p>
      </dsp:txBody>
      <dsp:txXfrm>
        <a:off x="887747" y="1516"/>
        <a:ext cx="8099656" cy="768612"/>
      </dsp:txXfrm>
    </dsp:sp>
    <dsp:sp modelId="{BA9D33A4-5014-4BAC-AB41-32A939D185BD}">
      <dsp:nvSpPr>
        <dsp:cNvPr id="0" name=""/>
        <dsp:cNvSpPr/>
      </dsp:nvSpPr>
      <dsp:spPr>
        <a:xfrm>
          <a:off x="0" y="962281"/>
          <a:ext cx="8987404" cy="76861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EE9E7DF-6069-47C2-99E8-E4A419D494F5}">
      <dsp:nvSpPr>
        <dsp:cNvPr id="0" name=""/>
        <dsp:cNvSpPr/>
      </dsp:nvSpPr>
      <dsp:spPr>
        <a:xfrm>
          <a:off x="232505" y="1135219"/>
          <a:ext cx="422736" cy="42273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D96C63-BF9E-4797-B3F2-DED97523DE8A}">
      <dsp:nvSpPr>
        <dsp:cNvPr id="0" name=""/>
        <dsp:cNvSpPr/>
      </dsp:nvSpPr>
      <dsp:spPr>
        <a:xfrm>
          <a:off x="887747" y="962281"/>
          <a:ext cx="8099656" cy="7686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345" tIns="81345" rIns="81345" bIns="81345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Encoded columns was decoded from Base64 into structured JSON format and identified invalid/failed decoding row(~1 row).</a:t>
          </a:r>
        </a:p>
      </dsp:txBody>
      <dsp:txXfrm>
        <a:off x="887747" y="962281"/>
        <a:ext cx="8099656" cy="768612"/>
      </dsp:txXfrm>
    </dsp:sp>
    <dsp:sp modelId="{4F5D7875-1076-459D-B917-CA2E2D1429DF}">
      <dsp:nvSpPr>
        <dsp:cNvPr id="0" name=""/>
        <dsp:cNvSpPr/>
      </dsp:nvSpPr>
      <dsp:spPr>
        <a:xfrm>
          <a:off x="0" y="1923047"/>
          <a:ext cx="8987404" cy="76861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D247F90-BB11-4AD6-BD14-C5E0EFBF2792}">
      <dsp:nvSpPr>
        <dsp:cNvPr id="0" name=""/>
        <dsp:cNvSpPr/>
      </dsp:nvSpPr>
      <dsp:spPr>
        <a:xfrm>
          <a:off x="232505" y="2095984"/>
          <a:ext cx="422736" cy="42273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310D3B-E8EF-428C-AFCA-A62015D698F3}">
      <dsp:nvSpPr>
        <dsp:cNvPr id="0" name=""/>
        <dsp:cNvSpPr/>
      </dsp:nvSpPr>
      <dsp:spPr>
        <a:xfrm>
          <a:off x="887747" y="1923047"/>
          <a:ext cx="8099656" cy="7686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345" tIns="81345" rIns="81345" bIns="81345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/>
            <a:t>Extracted multiple attributes contain id, Asset ID,MAC Address, OS, Function, DHCP Options Fingerprint etc. </a:t>
          </a:r>
          <a:endParaRPr lang="en-US" sz="1600" kern="1200" dirty="0"/>
        </a:p>
      </dsp:txBody>
      <dsp:txXfrm>
        <a:off x="887747" y="1923047"/>
        <a:ext cx="8099656" cy="768612"/>
      </dsp:txXfrm>
    </dsp:sp>
    <dsp:sp modelId="{A7894251-C876-4449-80DC-1DEE51882BB2}">
      <dsp:nvSpPr>
        <dsp:cNvPr id="0" name=""/>
        <dsp:cNvSpPr/>
      </dsp:nvSpPr>
      <dsp:spPr>
        <a:xfrm>
          <a:off x="0" y="2883812"/>
          <a:ext cx="8987404" cy="76861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AC3E292-C985-4980-977A-178DFB64C505}">
      <dsp:nvSpPr>
        <dsp:cNvPr id="0" name=""/>
        <dsp:cNvSpPr/>
      </dsp:nvSpPr>
      <dsp:spPr>
        <a:xfrm>
          <a:off x="232505" y="3056750"/>
          <a:ext cx="422736" cy="42273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E98B13-14E9-40D7-8FC6-CEF10FBECB8F}">
      <dsp:nvSpPr>
        <dsp:cNvPr id="0" name=""/>
        <dsp:cNvSpPr/>
      </dsp:nvSpPr>
      <dsp:spPr>
        <a:xfrm>
          <a:off x="887747" y="2883812"/>
          <a:ext cx="8099656" cy="7686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345" tIns="81345" rIns="81345" bIns="81345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/>
            <a:t>There are total 88513 records with 10 columns</a:t>
          </a:r>
          <a:endParaRPr lang="en-US" sz="1600" kern="1200" dirty="0"/>
        </a:p>
      </dsp:txBody>
      <dsp:txXfrm>
        <a:off x="887747" y="2883812"/>
        <a:ext cx="8099656" cy="76861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EB97E46-F40D-4510-8B6F-454D5AA242AB}">
      <dsp:nvSpPr>
        <dsp:cNvPr id="0" name=""/>
        <dsp:cNvSpPr/>
      </dsp:nvSpPr>
      <dsp:spPr>
        <a:xfrm>
          <a:off x="0" y="0"/>
          <a:ext cx="8987404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A4238A-93E1-4569-95BA-0B786B1AFE15}">
      <dsp:nvSpPr>
        <dsp:cNvPr id="0" name=""/>
        <dsp:cNvSpPr/>
      </dsp:nvSpPr>
      <dsp:spPr>
        <a:xfrm>
          <a:off x="0" y="0"/>
          <a:ext cx="8987404" cy="9134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/>
            <a:t>There are high null percentage for certain columns like DHCP Device Class(55.8 %),DHCP Vendor Class (45.1%), OS (35.3 %), DHCP Options Fingerprint(29.4 %),DHCP Request Fingerprint(29.4%)</a:t>
          </a:r>
          <a:endParaRPr lang="en-US" sz="1600" kern="1200" dirty="0"/>
        </a:p>
      </dsp:txBody>
      <dsp:txXfrm>
        <a:off x="0" y="0"/>
        <a:ext cx="8987404" cy="913485"/>
      </dsp:txXfrm>
    </dsp:sp>
    <dsp:sp modelId="{F3BDC96A-0FB4-4878-A7DB-08DF3A643F0E}">
      <dsp:nvSpPr>
        <dsp:cNvPr id="0" name=""/>
        <dsp:cNvSpPr/>
      </dsp:nvSpPr>
      <dsp:spPr>
        <a:xfrm>
          <a:off x="0" y="913485"/>
          <a:ext cx="8987404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EFFCD2-2A4E-457A-99BF-A29CA1EEBD0E}">
      <dsp:nvSpPr>
        <dsp:cNvPr id="0" name=""/>
        <dsp:cNvSpPr/>
      </dsp:nvSpPr>
      <dsp:spPr>
        <a:xfrm>
          <a:off x="0" y="913485"/>
          <a:ext cx="8987404" cy="9134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Detected unique values for </a:t>
          </a:r>
          <a:r>
            <a:rPr lang="en-GB" sz="1600" b="0" i="0" kern="1200" dirty="0"/>
            <a:t>Asset ID(</a:t>
          </a:r>
          <a:r>
            <a:rPr lang="en-NL" sz="1600" b="0" i="0" kern="1200" dirty="0"/>
            <a:t>88513</a:t>
          </a:r>
          <a:r>
            <a:rPr lang="en-GB" sz="1600" b="0" i="0" kern="1200" dirty="0"/>
            <a:t>),OS(32),Function(83),Vendor and Model(314), </a:t>
          </a:r>
          <a:r>
            <a:rPr lang="en-IN" sz="1600" kern="1200" dirty="0"/>
            <a:t>DHCP Options Fingerprint(162), DHCP Request Fingerprint(135),</a:t>
          </a:r>
          <a:r>
            <a:rPr lang="en-GB" sz="1600" b="0" i="0" kern="1200" dirty="0"/>
            <a:t> DHCP Vendor Class(121), DHCP Device Class(14)</a:t>
          </a:r>
          <a:endParaRPr lang="en-US" sz="1600" kern="1200" dirty="0"/>
        </a:p>
      </dsp:txBody>
      <dsp:txXfrm>
        <a:off x="0" y="913485"/>
        <a:ext cx="8987404" cy="913485"/>
      </dsp:txXfrm>
    </dsp:sp>
    <dsp:sp modelId="{FE0D6CA3-61E7-41A1-BA24-3CC0ADCDA524}">
      <dsp:nvSpPr>
        <dsp:cNvPr id="0" name=""/>
        <dsp:cNvSpPr/>
      </dsp:nvSpPr>
      <dsp:spPr>
        <a:xfrm>
          <a:off x="0" y="1826970"/>
          <a:ext cx="8987404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5FAA76-14C6-49D5-8DF2-D1919CB893FD}">
      <dsp:nvSpPr>
        <dsp:cNvPr id="0" name=""/>
        <dsp:cNvSpPr/>
      </dsp:nvSpPr>
      <dsp:spPr>
        <a:xfrm>
          <a:off x="0" y="1826970"/>
          <a:ext cx="8987404" cy="9134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The majority of the devices run on the Top OS - </a:t>
          </a:r>
          <a:r>
            <a:rPr lang="en-GB" sz="1600" b="0" i="0" kern="1200" dirty="0"/>
            <a:t>Apple Desktop OS(16.68 %), Linux (16.10%), Embedded Firmware(15.22 %), Chrome OS(11.59%).</a:t>
          </a:r>
        </a:p>
      </dsp:txBody>
      <dsp:txXfrm>
        <a:off x="0" y="1826970"/>
        <a:ext cx="8987404" cy="913485"/>
      </dsp:txXfrm>
    </dsp:sp>
    <dsp:sp modelId="{5250E692-400D-410A-8189-94E6B3340DA4}">
      <dsp:nvSpPr>
        <dsp:cNvPr id="0" name=""/>
        <dsp:cNvSpPr/>
      </dsp:nvSpPr>
      <dsp:spPr>
        <a:xfrm>
          <a:off x="0" y="2740455"/>
          <a:ext cx="8987404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40DAEB-455B-4F21-9E41-3BED4DAC7A1D}">
      <dsp:nvSpPr>
        <dsp:cNvPr id="0" name=""/>
        <dsp:cNvSpPr/>
      </dsp:nvSpPr>
      <dsp:spPr>
        <a:xfrm>
          <a:off x="0" y="2740455"/>
          <a:ext cx="8987404" cy="9134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Most</a:t>
          </a:r>
          <a:r>
            <a:rPr lang="en-US" sz="1600" kern="1200" baseline="0" dirty="0"/>
            <a:t> Devices are classified as Top Function- IP Phone (33.72%), Workstation(20.92 %), Switch(10.49%),Computer(7.30 %) </a:t>
          </a:r>
          <a:endParaRPr lang="en-US" sz="1600" kern="1200" dirty="0"/>
        </a:p>
      </dsp:txBody>
      <dsp:txXfrm>
        <a:off x="0" y="2740455"/>
        <a:ext cx="8987404" cy="91348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EB97E46-F40D-4510-8B6F-454D5AA242AB}">
      <dsp:nvSpPr>
        <dsp:cNvPr id="0" name=""/>
        <dsp:cNvSpPr/>
      </dsp:nvSpPr>
      <dsp:spPr>
        <a:xfrm>
          <a:off x="0" y="1543"/>
          <a:ext cx="8987404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A4238A-93E1-4569-95BA-0B786B1AFE15}">
      <dsp:nvSpPr>
        <dsp:cNvPr id="0" name=""/>
        <dsp:cNvSpPr/>
      </dsp:nvSpPr>
      <dsp:spPr>
        <a:xfrm>
          <a:off x="0" y="1543"/>
          <a:ext cx="8987404" cy="10290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Vendors which account for large no of devices are </a:t>
          </a:r>
          <a:r>
            <a:rPr lang="en-GB" sz="1600" b="0" i="0" kern="1200" dirty="0"/>
            <a:t>Cisco IP Phone 7942(14.71%), Cisco IP Phone 7692(8.41%), Cisco IP Phone(7.67%),HP(7.51 %), Intel(7.22%)</a:t>
          </a:r>
          <a:endParaRPr lang="en-US" sz="1600" kern="1200" dirty="0"/>
        </a:p>
      </dsp:txBody>
      <dsp:txXfrm>
        <a:off x="0" y="1543"/>
        <a:ext cx="8987404" cy="1029037"/>
      </dsp:txXfrm>
    </dsp:sp>
    <dsp:sp modelId="{F3BDC96A-0FB4-4878-A7DB-08DF3A643F0E}">
      <dsp:nvSpPr>
        <dsp:cNvPr id="0" name=""/>
        <dsp:cNvSpPr/>
      </dsp:nvSpPr>
      <dsp:spPr>
        <a:xfrm>
          <a:off x="0" y="1030581"/>
          <a:ext cx="8987404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EFFCD2-2A4E-457A-99BF-A29CA1EEBD0E}">
      <dsp:nvSpPr>
        <dsp:cNvPr id="0" name=""/>
        <dsp:cNvSpPr/>
      </dsp:nvSpPr>
      <dsp:spPr>
        <a:xfrm>
          <a:off x="0" y="1030581"/>
          <a:ext cx="8987404" cy="10290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Valid Mac Address should be 12 hexadecimal characters or 17 characters with separators. We found multiple inconsistent format too short (2,3,4..) , Too long (20-29) and mixed formatting issues.</a:t>
          </a:r>
        </a:p>
      </dsp:txBody>
      <dsp:txXfrm>
        <a:off x="0" y="1030581"/>
        <a:ext cx="8987404" cy="1029037"/>
      </dsp:txXfrm>
    </dsp:sp>
    <dsp:sp modelId="{068325E5-7485-4947-A1CA-A87864398164}">
      <dsp:nvSpPr>
        <dsp:cNvPr id="0" name=""/>
        <dsp:cNvSpPr/>
      </dsp:nvSpPr>
      <dsp:spPr>
        <a:xfrm>
          <a:off x="0" y="2059619"/>
          <a:ext cx="8987404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80628A-CE81-4C69-996E-6B88AC62EEF6}">
      <dsp:nvSpPr>
        <dsp:cNvPr id="0" name=""/>
        <dsp:cNvSpPr/>
      </dsp:nvSpPr>
      <dsp:spPr>
        <a:xfrm>
          <a:off x="0" y="2061162"/>
          <a:ext cx="8987404" cy="7450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The data has multiple low frequency OS and vendor categories (&lt;0.1%). Need for category consolidation.</a:t>
          </a:r>
        </a:p>
      </dsp:txBody>
      <dsp:txXfrm>
        <a:off x="0" y="2061162"/>
        <a:ext cx="8987404" cy="74505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F4CBF49-0244-4E54-906E-6E78F591D67B}">
      <dsp:nvSpPr>
        <dsp:cNvPr id="0" name=""/>
        <dsp:cNvSpPr/>
      </dsp:nvSpPr>
      <dsp:spPr>
        <a:xfrm>
          <a:off x="1171607" y="38939"/>
          <a:ext cx="1018197" cy="101819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815DA59-521B-4B06-AB87-BE14486BEBFA}">
      <dsp:nvSpPr>
        <dsp:cNvPr id="0" name=""/>
        <dsp:cNvSpPr/>
      </dsp:nvSpPr>
      <dsp:spPr>
        <a:xfrm>
          <a:off x="1385429" y="252761"/>
          <a:ext cx="590554" cy="590554"/>
        </a:xfrm>
        <a:prstGeom prst="rect">
          <a:avLst/>
        </a:prstGeom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8961E4-16F7-4CB0-9DCF-FA9F6E77DA1B}">
      <dsp:nvSpPr>
        <dsp:cNvPr id="0" name=""/>
        <dsp:cNvSpPr/>
      </dsp:nvSpPr>
      <dsp:spPr>
        <a:xfrm>
          <a:off x="2407990" y="38939"/>
          <a:ext cx="2400037" cy="1018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Optimize Error computation logic. </a:t>
          </a:r>
        </a:p>
      </dsp:txBody>
      <dsp:txXfrm>
        <a:off x="2407990" y="38939"/>
        <a:ext cx="2400037" cy="1018197"/>
      </dsp:txXfrm>
    </dsp:sp>
    <dsp:sp modelId="{DB578792-6D71-4A5B-AE75-F5A46899D0CB}">
      <dsp:nvSpPr>
        <dsp:cNvPr id="0" name=""/>
        <dsp:cNvSpPr/>
      </dsp:nvSpPr>
      <dsp:spPr>
        <a:xfrm>
          <a:off x="5226217" y="38939"/>
          <a:ext cx="1018197" cy="1018197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34ACFAB-3667-4827-AC9D-5806FFFDD64E}">
      <dsp:nvSpPr>
        <dsp:cNvPr id="0" name=""/>
        <dsp:cNvSpPr/>
      </dsp:nvSpPr>
      <dsp:spPr>
        <a:xfrm>
          <a:off x="5440038" y="252761"/>
          <a:ext cx="590554" cy="590554"/>
        </a:xfrm>
        <a:prstGeom prst="rect">
          <a:avLst/>
        </a:prstGeom>
        <a:blipFill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ED4439-B9A1-4299-AAF2-F0E66069E4D8}">
      <dsp:nvSpPr>
        <dsp:cNvPr id="0" name=""/>
        <dsp:cNvSpPr/>
      </dsp:nvSpPr>
      <dsp:spPr>
        <a:xfrm>
          <a:off x="6462600" y="38939"/>
          <a:ext cx="2400037" cy="1018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/>
            <a:t>Scalability of Dashboard filters </a:t>
          </a:r>
          <a:endParaRPr lang="en-US" sz="1600" kern="1200" dirty="0"/>
        </a:p>
      </dsp:txBody>
      <dsp:txXfrm>
        <a:off x="6462600" y="38939"/>
        <a:ext cx="2400037" cy="1018197"/>
      </dsp:txXfrm>
    </dsp:sp>
    <dsp:sp modelId="{200813B4-069E-4A0A-8FE7-A90DD76639B0}">
      <dsp:nvSpPr>
        <dsp:cNvPr id="0" name=""/>
        <dsp:cNvSpPr/>
      </dsp:nvSpPr>
      <dsp:spPr>
        <a:xfrm>
          <a:off x="1171607" y="1863986"/>
          <a:ext cx="1018197" cy="1018197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95DA876-3090-46A3-893A-B41C305FE7D7}">
      <dsp:nvSpPr>
        <dsp:cNvPr id="0" name=""/>
        <dsp:cNvSpPr/>
      </dsp:nvSpPr>
      <dsp:spPr>
        <a:xfrm>
          <a:off x="1385429" y="2077808"/>
          <a:ext cx="590554" cy="590554"/>
        </a:xfrm>
        <a:prstGeom prst="rect">
          <a:avLst/>
        </a:prstGeom>
        <a:blipFill>
          <a:blip xmlns:r="http://schemas.openxmlformats.org/officeDocument/2006/relationships"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FFA5A9-77C1-4E6B-AC9E-CB0D5A571182}">
      <dsp:nvSpPr>
        <dsp:cNvPr id="0" name=""/>
        <dsp:cNvSpPr/>
      </dsp:nvSpPr>
      <dsp:spPr>
        <a:xfrm>
          <a:off x="2407990" y="1863986"/>
          <a:ext cx="2400037" cy="1018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Improve the data validation layer at the data ingestion level</a:t>
          </a:r>
        </a:p>
      </dsp:txBody>
      <dsp:txXfrm>
        <a:off x="2407990" y="1863986"/>
        <a:ext cx="2400037" cy="1018197"/>
      </dsp:txXfrm>
    </dsp:sp>
    <dsp:sp modelId="{5C634D90-B9B7-4407-AA83-12562FF49A17}">
      <dsp:nvSpPr>
        <dsp:cNvPr id="0" name=""/>
        <dsp:cNvSpPr/>
      </dsp:nvSpPr>
      <dsp:spPr>
        <a:xfrm>
          <a:off x="5226217" y="1863986"/>
          <a:ext cx="1018197" cy="1018197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7A6457A-3458-40E9-AA9A-DBCACB4A7A85}">
      <dsp:nvSpPr>
        <dsp:cNvPr id="0" name=""/>
        <dsp:cNvSpPr/>
      </dsp:nvSpPr>
      <dsp:spPr>
        <a:xfrm>
          <a:off x="5440038" y="2077808"/>
          <a:ext cx="590554" cy="590554"/>
        </a:xfrm>
        <a:prstGeom prst="rect">
          <a:avLst/>
        </a:prstGeom>
        <a:blipFill>
          <a:blip xmlns:r="http://schemas.openxmlformats.org/officeDocument/2006/relationships"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07E38F-7E16-4049-BF94-148871C997A8}">
      <dsp:nvSpPr>
        <dsp:cNvPr id="0" name=""/>
        <dsp:cNvSpPr/>
      </dsp:nvSpPr>
      <dsp:spPr>
        <a:xfrm>
          <a:off x="6462600" y="1863986"/>
          <a:ext cx="2400037" cy="1018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Continuous monitoring</a:t>
          </a:r>
          <a:r>
            <a:rPr lang="en-US" sz="1600" kern="1200" baseline="0" dirty="0"/>
            <a:t> and logging </a:t>
          </a:r>
          <a:endParaRPr lang="en-US" sz="1600" kern="1200" dirty="0"/>
        </a:p>
      </dsp:txBody>
      <dsp:txXfrm>
        <a:off x="6462600" y="1863986"/>
        <a:ext cx="2400037" cy="1018197"/>
      </dsp:txXfrm>
    </dsp:sp>
    <dsp:sp modelId="{8BF3D57B-5A35-4F17-B11A-AFCDECB20048}">
      <dsp:nvSpPr>
        <dsp:cNvPr id="0" name=""/>
        <dsp:cNvSpPr/>
      </dsp:nvSpPr>
      <dsp:spPr>
        <a:xfrm>
          <a:off x="1171607" y="3689033"/>
          <a:ext cx="1018197" cy="1018197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E75C776-B468-4EA2-A7BF-3B693B4CB01E}">
      <dsp:nvSpPr>
        <dsp:cNvPr id="0" name=""/>
        <dsp:cNvSpPr/>
      </dsp:nvSpPr>
      <dsp:spPr>
        <a:xfrm>
          <a:off x="1385429" y="3902855"/>
          <a:ext cx="590554" cy="590554"/>
        </a:xfrm>
        <a:prstGeom prst="rect">
          <a:avLst/>
        </a:prstGeom>
        <a:blipFill>
          <a:blip xmlns:r="http://schemas.openxmlformats.org/officeDocument/2006/relationships"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F45E5F-9EF8-4FCD-AE10-1B91B2F8EDD6}">
      <dsp:nvSpPr>
        <dsp:cNvPr id="0" name=""/>
        <dsp:cNvSpPr/>
      </dsp:nvSpPr>
      <dsp:spPr>
        <a:xfrm>
          <a:off x="2407990" y="3689033"/>
          <a:ext cx="2400037" cy="1018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Enhance data model structure</a:t>
          </a:r>
        </a:p>
      </dsp:txBody>
      <dsp:txXfrm>
        <a:off x="2407990" y="3689033"/>
        <a:ext cx="2400037" cy="1018197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A30828-1B41-4B98-8BAC-8DD6F1B740E1}">
      <dsp:nvSpPr>
        <dsp:cNvPr id="0" name=""/>
        <dsp:cNvSpPr/>
      </dsp:nvSpPr>
      <dsp:spPr>
        <a:xfrm>
          <a:off x="3827" y="1602048"/>
          <a:ext cx="1865183" cy="118439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07F3A7-B7D8-4D1B-AC12-5B771D62C76C}">
      <dsp:nvSpPr>
        <dsp:cNvPr id="0" name=""/>
        <dsp:cNvSpPr/>
      </dsp:nvSpPr>
      <dsp:spPr>
        <a:xfrm>
          <a:off x="211070" y="1798928"/>
          <a:ext cx="1865183" cy="118439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 dirty="0"/>
            <a:t>Focus on High-Error Assets </a:t>
          </a:r>
          <a:endParaRPr lang="en-US" sz="1200" kern="1200" dirty="0"/>
        </a:p>
      </dsp:txBody>
      <dsp:txXfrm>
        <a:off x="245760" y="1833618"/>
        <a:ext cx="1795803" cy="1115011"/>
      </dsp:txXfrm>
    </dsp:sp>
    <dsp:sp modelId="{655078DE-F407-4BE3-8BCD-DAA8F227FCF3}">
      <dsp:nvSpPr>
        <dsp:cNvPr id="0" name=""/>
        <dsp:cNvSpPr/>
      </dsp:nvSpPr>
      <dsp:spPr>
        <a:xfrm>
          <a:off x="2283496" y="1602048"/>
          <a:ext cx="1865183" cy="118439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58470D-CB79-4D01-A90F-1022B1DB7825}">
      <dsp:nvSpPr>
        <dsp:cNvPr id="0" name=""/>
        <dsp:cNvSpPr/>
      </dsp:nvSpPr>
      <dsp:spPr>
        <a:xfrm>
          <a:off x="2490738" y="1798928"/>
          <a:ext cx="1865183" cy="118439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Fix critical Data Quality Issues like missing fingerprints, duplicate MAC address.  </a:t>
          </a:r>
        </a:p>
      </dsp:txBody>
      <dsp:txXfrm>
        <a:off x="2525428" y="1833618"/>
        <a:ext cx="1795803" cy="1115011"/>
      </dsp:txXfrm>
    </dsp:sp>
    <dsp:sp modelId="{7B66A267-CABA-4649-B408-CD090CEBDB7E}">
      <dsp:nvSpPr>
        <dsp:cNvPr id="0" name=""/>
        <dsp:cNvSpPr/>
      </dsp:nvSpPr>
      <dsp:spPr>
        <a:xfrm>
          <a:off x="4563164" y="1602048"/>
          <a:ext cx="1865183" cy="118439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B13063-0A11-4A0A-A625-80A14A88FC86}">
      <dsp:nvSpPr>
        <dsp:cNvPr id="0" name=""/>
        <dsp:cNvSpPr/>
      </dsp:nvSpPr>
      <dsp:spPr>
        <a:xfrm>
          <a:off x="4770407" y="1798928"/>
          <a:ext cx="1865183" cy="118439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Risk Based Asset Management as it shows higher error.</a:t>
          </a:r>
        </a:p>
      </dsp:txBody>
      <dsp:txXfrm>
        <a:off x="4805097" y="1833618"/>
        <a:ext cx="1795803" cy="1115011"/>
      </dsp:txXfrm>
    </dsp:sp>
    <dsp:sp modelId="{785C8794-F1A2-4090-A809-C500604D382A}">
      <dsp:nvSpPr>
        <dsp:cNvPr id="0" name=""/>
        <dsp:cNvSpPr/>
      </dsp:nvSpPr>
      <dsp:spPr>
        <a:xfrm>
          <a:off x="6842833" y="1602048"/>
          <a:ext cx="1865183" cy="118439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1C60F8-A9D5-405A-9682-896EB59872EC}">
      <dsp:nvSpPr>
        <dsp:cNvPr id="0" name=""/>
        <dsp:cNvSpPr/>
      </dsp:nvSpPr>
      <dsp:spPr>
        <a:xfrm>
          <a:off x="7050076" y="1798928"/>
          <a:ext cx="1865183" cy="118439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OS and Model Type standardization</a:t>
          </a:r>
        </a:p>
      </dsp:txBody>
      <dsp:txXfrm>
        <a:off x="7084766" y="1833618"/>
        <a:ext cx="1795803" cy="1115011"/>
      </dsp:txXfrm>
    </dsp:sp>
    <dsp:sp modelId="{3873082F-6A58-4E01-8296-1883DD0F3DD4}">
      <dsp:nvSpPr>
        <dsp:cNvPr id="0" name=""/>
        <dsp:cNvSpPr/>
      </dsp:nvSpPr>
      <dsp:spPr>
        <a:xfrm>
          <a:off x="9122502" y="1602048"/>
          <a:ext cx="1865183" cy="118439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0A7F6A-FAAD-4C87-95EF-BC629686607F}">
      <dsp:nvSpPr>
        <dsp:cNvPr id="0" name=""/>
        <dsp:cNvSpPr/>
      </dsp:nvSpPr>
      <dsp:spPr>
        <a:xfrm>
          <a:off x="9329744" y="1798928"/>
          <a:ext cx="1865183" cy="118439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Data Quality Score as Governance Metric</a:t>
          </a:r>
        </a:p>
      </dsp:txBody>
      <dsp:txXfrm>
        <a:off x="9364434" y="1833618"/>
        <a:ext cx="1795803" cy="111501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193E94-11AD-4616-B635-E0475C2CA088}" type="datetimeFigureOut">
              <a:rPr lang="en-NL" smtClean="0"/>
              <a:t>29/03/2026</a:t>
            </a:fld>
            <a:endParaRPr lang="en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3E92A7-FA15-4902-9D83-8B5D7D156758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2485767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3E92A7-FA15-4902-9D83-8B5D7D156758}" type="slidenum">
              <a:rPr lang="en-NL" smtClean="0"/>
              <a:t>4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7601560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1E3FD-FFE9-438C-A495-1667D436A772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EC4BB7A5-155E-4B3A-9A16-5717115F9F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81659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1E3FD-FFE9-438C-A495-1667D436A772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BB7A5-155E-4B3A-9A16-5717115F9F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09297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1E3FD-FFE9-438C-A495-1667D436A772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EC4BB7A5-155E-4B3A-9A16-5717115F9F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49893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1E3FD-FFE9-438C-A495-1667D436A772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EC4BB7A5-155E-4B3A-9A16-5717115F9F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2235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1E3FD-FFE9-438C-A495-1667D436A772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EC4BB7A5-155E-4B3A-9A16-5717115F9F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78770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1E3FD-FFE9-438C-A495-1667D436A772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BB7A5-155E-4B3A-9A16-5717115F9F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47022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1E3FD-FFE9-438C-A495-1667D436A772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BB7A5-155E-4B3A-9A16-5717115F9F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43658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1E3FD-FFE9-438C-A495-1667D436A772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BB7A5-155E-4B3A-9A16-5717115F9F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29232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1E3FD-FFE9-438C-A495-1667D436A772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C4BB7A5-155E-4B3A-9A16-5717115F9F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89063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1E3FD-FFE9-438C-A495-1667D436A772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EC4BB7A5-155E-4B3A-9A16-5717115F9F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37498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1E3FD-FFE9-438C-A495-1667D436A772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EC4BB7A5-155E-4B3A-9A16-5717115F9F87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13070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1E3FD-FFE9-438C-A495-1667D436A772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C4BB7A5-155E-4B3A-9A16-5717115F9F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47703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1E3FD-FFE9-438C-A495-1667D436A772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C4BB7A5-155E-4B3A-9A16-5717115F9F87}" type="slidenum">
              <a:rPr lang="en-IN" smtClean="0"/>
              <a:t>‹#›</a:t>
            </a:fld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020281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1E3FD-FFE9-438C-A495-1667D436A772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C4BB7A5-155E-4B3A-9A16-5717115F9F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85767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1E3FD-FFE9-438C-A495-1667D436A772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BB7A5-155E-4B3A-9A16-5717115F9F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29639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1E3FD-FFE9-438C-A495-1667D436A772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BB7A5-155E-4B3A-9A16-5717115F9F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07575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32"/>
            <a:ext cx="2356674" cy="6853285"/>
            <a:chOff x="6627813" y="195454"/>
            <a:chExt cx="1952625" cy="5678297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454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61E3FD-FFE9-438C-A495-1667D436A772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EC4BB7A5-155E-4B3A-9A16-5717115F9F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77458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6" r:id="rId1"/>
    <p:sldLayoutId id="2147483767" r:id="rId2"/>
    <p:sldLayoutId id="2147483768" r:id="rId3"/>
    <p:sldLayoutId id="2147483769" r:id="rId4"/>
    <p:sldLayoutId id="2147483770" r:id="rId5"/>
    <p:sldLayoutId id="2147483771" r:id="rId6"/>
    <p:sldLayoutId id="2147483772" r:id="rId7"/>
    <p:sldLayoutId id="2147483773" r:id="rId8"/>
    <p:sldLayoutId id="2147483774" r:id="rId9"/>
    <p:sldLayoutId id="2147483775" r:id="rId10"/>
    <p:sldLayoutId id="2147483776" r:id="rId11"/>
    <p:sldLayoutId id="2147483777" r:id="rId12"/>
    <p:sldLayoutId id="2147483778" r:id="rId13"/>
    <p:sldLayoutId id="2147483779" r:id="rId14"/>
    <p:sldLayoutId id="2147483780" r:id="rId15"/>
    <p:sldLayoutId id="2147483781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013C2CBB-FBA9-4601-A756-927997BF9E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</p:grpSpPr>
        <p:sp>
          <p:nvSpPr>
            <p:cNvPr id="9" name="Freeform 11">
              <a:extLst>
                <a:ext uri="{FF2B5EF4-FFF2-40B4-BE49-F238E27FC236}">
                  <a16:creationId xmlns:a16="http://schemas.microsoft.com/office/drawing/2014/main" id="{471AD1B6-2D6A-41A3-AAFA-548C3C82B7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nl-NL"/>
            </a:p>
          </p:txBody>
        </p:sp>
        <p:sp>
          <p:nvSpPr>
            <p:cNvPr id="10" name="Freeform 12">
              <a:extLst>
                <a:ext uri="{FF2B5EF4-FFF2-40B4-BE49-F238E27FC236}">
                  <a16:creationId xmlns:a16="http://schemas.microsoft.com/office/drawing/2014/main" id="{008B2D67-18BC-46CD-B558-71B0C027A0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nl-NL"/>
            </a:p>
          </p:txBody>
        </p:sp>
        <p:sp>
          <p:nvSpPr>
            <p:cNvPr id="11" name="Freeform 13">
              <a:extLst>
                <a:ext uri="{FF2B5EF4-FFF2-40B4-BE49-F238E27FC236}">
                  <a16:creationId xmlns:a16="http://schemas.microsoft.com/office/drawing/2014/main" id="{02349D49-844A-4732-B74F-A633E4F909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nl-NL"/>
            </a:p>
          </p:txBody>
        </p:sp>
        <p:sp>
          <p:nvSpPr>
            <p:cNvPr id="12" name="Freeform 14">
              <a:extLst>
                <a:ext uri="{FF2B5EF4-FFF2-40B4-BE49-F238E27FC236}">
                  <a16:creationId xmlns:a16="http://schemas.microsoft.com/office/drawing/2014/main" id="{C6B70679-34C8-45DA-A982-7C94DB2A8A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nl-NL"/>
            </a:p>
          </p:txBody>
        </p:sp>
        <p:sp>
          <p:nvSpPr>
            <p:cNvPr id="13" name="Freeform 15">
              <a:extLst>
                <a:ext uri="{FF2B5EF4-FFF2-40B4-BE49-F238E27FC236}">
                  <a16:creationId xmlns:a16="http://schemas.microsoft.com/office/drawing/2014/main" id="{058DE69F-ECB5-46CD-B0CD-526CB7A7D6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nl-NL"/>
            </a:p>
          </p:txBody>
        </p:sp>
        <p:sp>
          <p:nvSpPr>
            <p:cNvPr id="14" name="Freeform 16">
              <a:extLst>
                <a:ext uri="{FF2B5EF4-FFF2-40B4-BE49-F238E27FC236}">
                  <a16:creationId xmlns:a16="http://schemas.microsoft.com/office/drawing/2014/main" id="{5A106322-670F-4CE5-96C6-5779E42C3B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nl-NL"/>
            </a:p>
          </p:txBody>
        </p:sp>
        <p:sp>
          <p:nvSpPr>
            <p:cNvPr id="15" name="Freeform 17">
              <a:extLst>
                <a:ext uri="{FF2B5EF4-FFF2-40B4-BE49-F238E27FC236}">
                  <a16:creationId xmlns:a16="http://schemas.microsoft.com/office/drawing/2014/main" id="{841566A8-C662-4164-8DAC-4ECE012DD2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nl-NL"/>
            </a:p>
          </p:txBody>
        </p:sp>
        <p:sp>
          <p:nvSpPr>
            <p:cNvPr id="16" name="Freeform 18">
              <a:extLst>
                <a:ext uri="{FF2B5EF4-FFF2-40B4-BE49-F238E27FC236}">
                  <a16:creationId xmlns:a16="http://schemas.microsoft.com/office/drawing/2014/main" id="{8AA41139-9478-4631-83AC-CACF510E22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nl-NL"/>
            </a:p>
          </p:txBody>
        </p:sp>
        <p:sp>
          <p:nvSpPr>
            <p:cNvPr id="17" name="Freeform 19">
              <a:extLst>
                <a:ext uri="{FF2B5EF4-FFF2-40B4-BE49-F238E27FC236}">
                  <a16:creationId xmlns:a16="http://schemas.microsoft.com/office/drawing/2014/main" id="{2757AEA2-47D3-4F15-8965-CF5ACB9FBB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nl-NL"/>
            </a:p>
          </p:txBody>
        </p:sp>
        <p:sp>
          <p:nvSpPr>
            <p:cNvPr id="18" name="Freeform 20">
              <a:extLst>
                <a:ext uri="{FF2B5EF4-FFF2-40B4-BE49-F238E27FC236}">
                  <a16:creationId xmlns:a16="http://schemas.microsoft.com/office/drawing/2014/main" id="{9A724763-FC28-428A-8C6C-22C1D04F2C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nl-NL"/>
            </a:p>
          </p:txBody>
        </p:sp>
        <p:sp>
          <p:nvSpPr>
            <p:cNvPr id="19" name="Freeform 21">
              <a:extLst>
                <a:ext uri="{FF2B5EF4-FFF2-40B4-BE49-F238E27FC236}">
                  <a16:creationId xmlns:a16="http://schemas.microsoft.com/office/drawing/2014/main" id="{5A6B8103-BF34-4758-A663-1060D0D05A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nl-NL"/>
            </a:p>
          </p:txBody>
        </p:sp>
        <p:sp>
          <p:nvSpPr>
            <p:cNvPr id="20" name="Freeform 22">
              <a:extLst>
                <a:ext uri="{FF2B5EF4-FFF2-40B4-BE49-F238E27FC236}">
                  <a16:creationId xmlns:a16="http://schemas.microsoft.com/office/drawing/2014/main" id="{BCE9E2B0-1FB5-4D63-ABD1-0C645BFDDE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nl-NL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1A54B10D-23ED-48C3-B878-DB4D22D70C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32"/>
            <a:ext cx="2356675" cy="6853285"/>
            <a:chOff x="6627813" y="195454"/>
            <a:chExt cx="1952625" cy="5678297"/>
          </a:xfrm>
        </p:grpSpPr>
        <p:sp>
          <p:nvSpPr>
            <p:cNvPr id="23" name="Freeform 27">
              <a:extLst>
                <a:ext uri="{FF2B5EF4-FFF2-40B4-BE49-F238E27FC236}">
                  <a16:creationId xmlns:a16="http://schemas.microsoft.com/office/drawing/2014/main" id="{427FE77E-63C3-43BF-91DD-60C1C11D9E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5454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nl-NL"/>
            </a:p>
          </p:txBody>
        </p:sp>
        <p:sp>
          <p:nvSpPr>
            <p:cNvPr id="24" name="Freeform 28">
              <a:extLst>
                <a:ext uri="{FF2B5EF4-FFF2-40B4-BE49-F238E27FC236}">
                  <a16:creationId xmlns:a16="http://schemas.microsoft.com/office/drawing/2014/main" id="{904C998C-3D2D-42D6-B78F-9ABE6D4AA4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nl-NL"/>
            </a:p>
          </p:txBody>
        </p:sp>
        <p:sp>
          <p:nvSpPr>
            <p:cNvPr id="25" name="Freeform 29">
              <a:extLst>
                <a:ext uri="{FF2B5EF4-FFF2-40B4-BE49-F238E27FC236}">
                  <a16:creationId xmlns:a16="http://schemas.microsoft.com/office/drawing/2014/main" id="{23E5FB0C-0803-42A2-8F72-7BADB103F2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nl-NL"/>
            </a:p>
          </p:txBody>
        </p:sp>
        <p:sp>
          <p:nvSpPr>
            <p:cNvPr id="26" name="Freeform 30">
              <a:extLst>
                <a:ext uri="{FF2B5EF4-FFF2-40B4-BE49-F238E27FC236}">
                  <a16:creationId xmlns:a16="http://schemas.microsoft.com/office/drawing/2014/main" id="{62E2BC20-5586-4EAB-B00A-9D8A4C1DCC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nl-NL"/>
            </a:p>
          </p:txBody>
        </p:sp>
        <p:sp>
          <p:nvSpPr>
            <p:cNvPr id="27" name="Freeform 31">
              <a:extLst>
                <a:ext uri="{FF2B5EF4-FFF2-40B4-BE49-F238E27FC236}">
                  <a16:creationId xmlns:a16="http://schemas.microsoft.com/office/drawing/2014/main" id="{8D072118-6DC0-4325-84D1-9A091A947D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nl-NL"/>
            </a:p>
          </p:txBody>
        </p:sp>
        <p:sp>
          <p:nvSpPr>
            <p:cNvPr id="28" name="Freeform 32">
              <a:extLst>
                <a:ext uri="{FF2B5EF4-FFF2-40B4-BE49-F238E27FC236}">
                  <a16:creationId xmlns:a16="http://schemas.microsoft.com/office/drawing/2014/main" id="{B301CE86-EB1F-4CCB-A241-E55CEC25E3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nl-NL"/>
            </a:p>
          </p:txBody>
        </p:sp>
        <p:sp>
          <p:nvSpPr>
            <p:cNvPr id="29" name="Freeform 33">
              <a:extLst>
                <a:ext uri="{FF2B5EF4-FFF2-40B4-BE49-F238E27FC236}">
                  <a16:creationId xmlns:a16="http://schemas.microsoft.com/office/drawing/2014/main" id="{BC6F83ED-79B1-4B8A-859B-688CBBD362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nl-NL"/>
            </a:p>
          </p:txBody>
        </p:sp>
        <p:sp>
          <p:nvSpPr>
            <p:cNvPr id="30" name="Freeform 34">
              <a:extLst>
                <a:ext uri="{FF2B5EF4-FFF2-40B4-BE49-F238E27FC236}">
                  <a16:creationId xmlns:a16="http://schemas.microsoft.com/office/drawing/2014/main" id="{25AF9289-F5D5-458E-9690-F41146DE0E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nl-NL"/>
            </a:p>
          </p:txBody>
        </p:sp>
        <p:sp>
          <p:nvSpPr>
            <p:cNvPr id="31" name="Freeform 35">
              <a:extLst>
                <a:ext uri="{FF2B5EF4-FFF2-40B4-BE49-F238E27FC236}">
                  <a16:creationId xmlns:a16="http://schemas.microsoft.com/office/drawing/2014/main" id="{A36A93EA-AE44-4149-90F1-741509CC29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nl-NL"/>
            </a:p>
          </p:txBody>
        </p:sp>
        <p:sp>
          <p:nvSpPr>
            <p:cNvPr id="32" name="Freeform 36">
              <a:extLst>
                <a:ext uri="{FF2B5EF4-FFF2-40B4-BE49-F238E27FC236}">
                  <a16:creationId xmlns:a16="http://schemas.microsoft.com/office/drawing/2014/main" id="{99944D26-7135-409D-9254-8A82B14BD3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nl-NL"/>
            </a:p>
          </p:txBody>
        </p:sp>
        <p:sp>
          <p:nvSpPr>
            <p:cNvPr id="33" name="Freeform 37">
              <a:extLst>
                <a:ext uri="{FF2B5EF4-FFF2-40B4-BE49-F238E27FC236}">
                  <a16:creationId xmlns:a16="http://schemas.microsoft.com/office/drawing/2014/main" id="{98086B18-EF68-4DCB-94D7-3E3928D40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nl-NL"/>
            </a:p>
          </p:txBody>
        </p:sp>
        <p:sp>
          <p:nvSpPr>
            <p:cNvPr id="34" name="Freeform 38">
              <a:extLst>
                <a:ext uri="{FF2B5EF4-FFF2-40B4-BE49-F238E27FC236}">
                  <a16:creationId xmlns:a16="http://schemas.microsoft.com/office/drawing/2014/main" id="{B8EF7AB5-060E-4C7D-BB79-E2A671C52E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nl-NL"/>
            </a:p>
          </p:txBody>
        </p:sp>
      </p:grpSp>
      <p:sp>
        <p:nvSpPr>
          <p:cNvPr id="36" name="Rectangle 35">
            <a:extLst>
              <a:ext uri="{FF2B5EF4-FFF2-40B4-BE49-F238E27FC236}">
                <a16:creationId xmlns:a16="http://schemas.microsoft.com/office/drawing/2014/main" id="{72EA7E7A-2786-4974-974E-596DF24123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l-NL"/>
          </a:p>
        </p:txBody>
      </p:sp>
      <p:sp>
        <p:nvSpPr>
          <p:cNvPr id="38" name="Freeform 6">
            <a:extLst>
              <a:ext uri="{FF2B5EF4-FFF2-40B4-BE49-F238E27FC236}">
                <a16:creationId xmlns:a16="http://schemas.microsoft.com/office/drawing/2014/main" id="{1C84F1F1-4602-447E-9A65-91C7D6D2E5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nl-NL"/>
          </a:p>
        </p:txBody>
      </p:sp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F81819F9-8CAC-4A6C-8F06-0482027F97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body" idx="1"/>
          </p:nvPr>
        </p:nvSpPr>
        <p:spPr>
          <a:xfrm>
            <a:off x="3538224" y="3920858"/>
            <a:ext cx="8131550" cy="1126283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GB" sz="1600" dirty="0"/>
              <a:t>Data Enrichment, Anomaly Detection, and Quality Scoring for Assets.</a:t>
            </a:r>
            <a:r>
              <a:rPr lang="en-US" sz="1800" b="1" dirty="0"/>
              <a:t>							</a:t>
            </a:r>
          </a:p>
          <a:p>
            <a:pPr>
              <a:lnSpc>
                <a:spcPct val="90000"/>
              </a:lnSpc>
            </a:pPr>
            <a:r>
              <a:rPr lang="en-US" sz="1800" b="1" dirty="0"/>
              <a:t>											-Saurav Anand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73062" y="1289202"/>
            <a:ext cx="8043612" cy="230439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400" b="1" dirty="0"/>
              <a:t>Network Asset Classification &amp;Data Quality Analysis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4A98CC08-AEC2-4E8F-8F52-0F5C6372DB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285151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5D1545E6-EB3C-4478-A661-A2CA963F12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" y="234737"/>
            <a:ext cx="2851523" cy="6638625"/>
            <a:chOff x="2487613" y="285750"/>
            <a:chExt cx="2428875" cy="5654676"/>
          </a:xfrm>
          <a:solidFill>
            <a:schemeClr val="tx2">
              <a:lumMod val="60000"/>
              <a:lumOff val="40000"/>
              <a:alpha val="40000"/>
            </a:schemeClr>
          </a:solidFill>
        </p:grpSpPr>
        <p:sp>
          <p:nvSpPr>
            <p:cNvPr id="45" name="Freeform 11">
              <a:extLst>
                <a:ext uri="{FF2B5EF4-FFF2-40B4-BE49-F238E27FC236}">
                  <a16:creationId xmlns:a16="http://schemas.microsoft.com/office/drawing/2014/main" id="{B2E5B960-0C5D-4F77-8E9F-9F3D883D83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l-NL"/>
            </a:p>
          </p:txBody>
        </p:sp>
        <p:sp>
          <p:nvSpPr>
            <p:cNvPr id="46" name="Freeform 12">
              <a:extLst>
                <a:ext uri="{FF2B5EF4-FFF2-40B4-BE49-F238E27FC236}">
                  <a16:creationId xmlns:a16="http://schemas.microsoft.com/office/drawing/2014/main" id="{258E44FC-92AD-43A0-BB05-DB268C82D8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l-NL"/>
            </a:p>
          </p:txBody>
        </p:sp>
        <p:sp>
          <p:nvSpPr>
            <p:cNvPr id="47" name="Freeform 13">
              <a:extLst>
                <a:ext uri="{FF2B5EF4-FFF2-40B4-BE49-F238E27FC236}">
                  <a16:creationId xmlns:a16="http://schemas.microsoft.com/office/drawing/2014/main" id="{C63D3083-A56C-4199-8DE0-63C8BE9EDF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l-NL"/>
            </a:p>
          </p:txBody>
        </p:sp>
        <p:sp>
          <p:nvSpPr>
            <p:cNvPr id="48" name="Freeform 14">
              <a:extLst>
                <a:ext uri="{FF2B5EF4-FFF2-40B4-BE49-F238E27FC236}">
                  <a16:creationId xmlns:a16="http://schemas.microsoft.com/office/drawing/2014/main" id="{C7CD3581-635D-438F-A64F-68404E7AE0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l-NL"/>
            </a:p>
          </p:txBody>
        </p:sp>
        <p:sp>
          <p:nvSpPr>
            <p:cNvPr id="49" name="Freeform 15">
              <a:extLst>
                <a:ext uri="{FF2B5EF4-FFF2-40B4-BE49-F238E27FC236}">
                  <a16:creationId xmlns:a16="http://schemas.microsoft.com/office/drawing/2014/main" id="{AD6904C0-211C-41A2-BDB8-3B07C90BBB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l-NL"/>
            </a:p>
          </p:txBody>
        </p:sp>
        <p:sp>
          <p:nvSpPr>
            <p:cNvPr id="50" name="Freeform 16">
              <a:extLst>
                <a:ext uri="{FF2B5EF4-FFF2-40B4-BE49-F238E27FC236}">
                  <a16:creationId xmlns:a16="http://schemas.microsoft.com/office/drawing/2014/main" id="{B0837DA6-CAF9-4E78-A39E-6358EDE2B1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l-NL"/>
            </a:p>
          </p:txBody>
        </p:sp>
        <p:sp>
          <p:nvSpPr>
            <p:cNvPr id="51" name="Freeform 17">
              <a:extLst>
                <a:ext uri="{FF2B5EF4-FFF2-40B4-BE49-F238E27FC236}">
                  <a16:creationId xmlns:a16="http://schemas.microsoft.com/office/drawing/2014/main" id="{0A99DD7D-3AB3-471E-842F-8AFEA09D07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l-NL"/>
            </a:p>
          </p:txBody>
        </p:sp>
        <p:sp>
          <p:nvSpPr>
            <p:cNvPr id="52" name="Freeform 18">
              <a:extLst>
                <a:ext uri="{FF2B5EF4-FFF2-40B4-BE49-F238E27FC236}">
                  <a16:creationId xmlns:a16="http://schemas.microsoft.com/office/drawing/2014/main" id="{9C70B0D4-92FE-478F-86BD-93BA2C4DFC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l-NL"/>
            </a:p>
          </p:txBody>
        </p:sp>
        <p:sp>
          <p:nvSpPr>
            <p:cNvPr id="53" name="Freeform 19">
              <a:extLst>
                <a:ext uri="{FF2B5EF4-FFF2-40B4-BE49-F238E27FC236}">
                  <a16:creationId xmlns:a16="http://schemas.microsoft.com/office/drawing/2014/main" id="{C9156BE6-11D4-4696-9E3F-C325BFAC81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l-NL"/>
            </a:p>
          </p:txBody>
        </p:sp>
        <p:sp>
          <p:nvSpPr>
            <p:cNvPr id="54" name="Freeform 20">
              <a:extLst>
                <a:ext uri="{FF2B5EF4-FFF2-40B4-BE49-F238E27FC236}">
                  <a16:creationId xmlns:a16="http://schemas.microsoft.com/office/drawing/2014/main" id="{4E667226-1D20-4A9D-BBE3-AC17EA436F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l-NL"/>
            </a:p>
          </p:txBody>
        </p:sp>
        <p:sp>
          <p:nvSpPr>
            <p:cNvPr id="55" name="Freeform 21">
              <a:extLst>
                <a:ext uri="{FF2B5EF4-FFF2-40B4-BE49-F238E27FC236}">
                  <a16:creationId xmlns:a16="http://schemas.microsoft.com/office/drawing/2014/main" id="{2F87E3B6-5202-4434-9B26-42B46774F3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l-NL"/>
            </a:p>
          </p:txBody>
        </p:sp>
        <p:sp>
          <p:nvSpPr>
            <p:cNvPr id="56" name="Freeform 22">
              <a:extLst>
                <a:ext uri="{FF2B5EF4-FFF2-40B4-BE49-F238E27FC236}">
                  <a16:creationId xmlns:a16="http://schemas.microsoft.com/office/drawing/2014/main" id="{AEA5E85F-F1F4-40E4-A62C-95324F6749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l-NL"/>
            </a:p>
          </p:txBody>
        </p:sp>
      </p:grpSp>
      <p:sp>
        <p:nvSpPr>
          <p:cNvPr id="58" name="Freeform 11">
            <a:extLst>
              <a:ext uri="{FF2B5EF4-FFF2-40B4-BE49-F238E27FC236}">
                <a16:creationId xmlns:a16="http://schemas.microsoft.com/office/drawing/2014/main" id="{1310EFE2-B91D-47E7-B117-C2A802800A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159" y="3411452"/>
            <a:ext cx="1098194" cy="514066"/>
          </a:xfrm>
          <a:custGeom>
            <a:avLst/>
            <a:gdLst>
              <a:gd name="connsiteX0" fmla="*/ 10000 w 10044"/>
              <a:gd name="connsiteY0" fmla="*/ 4701 h 9966"/>
              <a:gd name="connsiteX1" fmla="*/ 8559 w 10044"/>
              <a:gd name="connsiteY1" fmla="*/ 188 h 9966"/>
              <a:gd name="connsiteX2" fmla="*/ 8527 w 10044"/>
              <a:gd name="connsiteY2" fmla="*/ 94 h 9966"/>
              <a:gd name="connsiteX3" fmla="*/ 8438 w 10044"/>
              <a:gd name="connsiteY3" fmla="*/ 0 h 9966"/>
              <a:gd name="connsiteX4" fmla="*/ 7867 w 10044"/>
              <a:gd name="connsiteY4" fmla="*/ 0 h 9966"/>
              <a:gd name="connsiteX5" fmla="*/ 0 w 10044"/>
              <a:gd name="connsiteY5" fmla="*/ 70 h 9966"/>
              <a:gd name="connsiteX6" fmla="*/ 3132 w 10044"/>
              <a:gd name="connsiteY6" fmla="*/ 9763 h 9966"/>
              <a:gd name="connsiteX7" fmla="*/ 7867 w 10044"/>
              <a:gd name="connsiteY7" fmla="*/ 9966 h 9966"/>
              <a:gd name="connsiteX8" fmla="*/ 8438 w 10044"/>
              <a:gd name="connsiteY8" fmla="*/ 9966 h 9966"/>
              <a:gd name="connsiteX9" fmla="*/ 8527 w 10044"/>
              <a:gd name="connsiteY9" fmla="*/ 9872 h 9966"/>
              <a:gd name="connsiteX10" fmla="*/ 8559 w 10044"/>
              <a:gd name="connsiteY10" fmla="*/ 9778 h 9966"/>
              <a:gd name="connsiteX11" fmla="*/ 10000 w 10044"/>
              <a:gd name="connsiteY11" fmla="*/ 5265 h 9966"/>
              <a:gd name="connsiteX12" fmla="*/ 10000 w 10044"/>
              <a:gd name="connsiteY12" fmla="*/ 4701 h 9966"/>
              <a:gd name="connsiteX0" fmla="*/ 6839 w 6883"/>
              <a:gd name="connsiteY0" fmla="*/ 4885 h 10168"/>
              <a:gd name="connsiteX1" fmla="*/ 5405 w 6883"/>
              <a:gd name="connsiteY1" fmla="*/ 357 h 10168"/>
              <a:gd name="connsiteX2" fmla="*/ 5373 w 6883"/>
              <a:gd name="connsiteY2" fmla="*/ 262 h 10168"/>
              <a:gd name="connsiteX3" fmla="*/ 5284 w 6883"/>
              <a:gd name="connsiteY3" fmla="*/ 168 h 10168"/>
              <a:gd name="connsiteX4" fmla="*/ 4716 w 6883"/>
              <a:gd name="connsiteY4" fmla="*/ 168 h 10168"/>
              <a:gd name="connsiteX5" fmla="*/ 50 w 6883"/>
              <a:gd name="connsiteY5" fmla="*/ 0 h 10168"/>
              <a:gd name="connsiteX6" fmla="*/ 1 w 6883"/>
              <a:gd name="connsiteY6" fmla="*/ 9964 h 10168"/>
              <a:gd name="connsiteX7" fmla="*/ 4716 w 6883"/>
              <a:gd name="connsiteY7" fmla="*/ 10168 h 10168"/>
              <a:gd name="connsiteX8" fmla="*/ 5284 w 6883"/>
              <a:gd name="connsiteY8" fmla="*/ 10168 h 10168"/>
              <a:gd name="connsiteX9" fmla="*/ 5373 w 6883"/>
              <a:gd name="connsiteY9" fmla="*/ 10074 h 10168"/>
              <a:gd name="connsiteX10" fmla="*/ 5405 w 6883"/>
              <a:gd name="connsiteY10" fmla="*/ 9979 h 10168"/>
              <a:gd name="connsiteX11" fmla="*/ 6839 w 6883"/>
              <a:gd name="connsiteY11" fmla="*/ 5451 h 10168"/>
              <a:gd name="connsiteX12" fmla="*/ 6839 w 6883"/>
              <a:gd name="connsiteY12" fmla="*/ 4885 h 10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83" h="10168">
                <a:moveTo>
                  <a:pt x="6839" y="4885"/>
                </a:moveTo>
                <a:lnTo>
                  <a:pt x="5405" y="357"/>
                </a:lnTo>
                <a:cubicBezTo>
                  <a:pt x="5395" y="325"/>
                  <a:pt x="5383" y="294"/>
                  <a:pt x="5373" y="262"/>
                </a:cubicBezTo>
                <a:cubicBezTo>
                  <a:pt x="5344" y="168"/>
                  <a:pt x="5314" y="168"/>
                  <a:pt x="5284" y="168"/>
                </a:cubicBezTo>
                <a:lnTo>
                  <a:pt x="4716" y="168"/>
                </a:lnTo>
                <a:lnTo>
                  <a:pt x="50" y="0"/>
                </a:lnTo>
                <a:cubicBezTo>
                  <a:pt x="59" y="3322"/>
                  <a:pt x="-8" y="6643"/>
                  <a:pt x="1" y="9964"/>
                </a:cubicBezTo>
                <a:lnTo>
                  <a:pt x="4716" y="10168"/>
                </a:lnTo>
                <a:lnTo>
                  <a:pt x="5284" y="10168"/>
                </a:lnTo>
                <a:cubicBezTo>
                  <a:pt x="5314" y="10168"/>
                  <a:pt x="5344" y="10074"/>
                  <a:pt x="5373" y="10074"/>
                </a:cubicBezTo>
                <a:cubicBezTo>
                  <a:pt x="5373" y="9979"/>
                  <a:pt x="5405" y="9979"/>
                  <a:pt x="5405" y="9979"/>
                </a:cubicBezTo>
                <a:lnTo>
                  <a:pt x="6839" y="5451"/>
                </a:lnTo>
                <a:cubicBezTo>
                  <a:pt x="6898" y="5262"/>
                  <a:pt x="6898" y="5074"/>
                  <a:pt x="6839" y="48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869694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C2ED0803-0133-49C2-9858-E132FF173A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4897" y="624110"/>
            <a:ext cx="9712998" cy="1280890"/>
          </a:xfrm>
        </p:spPr>
        <p:txBody>
          <a:bodyPr>
            <a:normAutofit/>
          </a:bodyPr>
          <a:lstStyle/>
          <a:p>
            <a:r>
              <a:rPr lang="en-IN" sz="3200" dirty="0">
                <a:latin typeface="+mn-lt"/>
              </a:rPr>
              <a:t>Business Goals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379F6D6-AB42-424F-9B81-E57F502B6A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l-NL"/>
          </a:p>
        </p:txBody>
      </p:sp>
      <p:sp>
        <p:nvSpPr>
          <p:cNvPr id="36" name="Freeform 11">
            <a:extLst>
              <a:ext uri="{FF2B5EF4-FFF2-40B4-BE49-F238E27FC236}">
                <a16:creationId xmlns:a16="http://schemas.microsoft.com/office/drawing/2014/main" id="{5BAFE5D0-C0A7-4C07-B852-6F0A7CF2AD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nl-NL"/>
          </a:p>
        </p:txBody>
      </p: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DEBEE31C-352F-FF6F-C68A-0C8775A57C3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43275700"/>
              </p:ext>
            </p:extLst>
          </p:nvPr>
        </p:nvGraphicFramePr>
        <p:xfrm>
          <a:off x="1794897" y="2222983"/>
          <a:ext cx="8987404" cy="36539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987258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C8C9F670-D457-4F9E-BDA1-B6468C7782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4897" y="624110"/>
            <a:ext cx="9712998" cy="1280890"/>
          </a:xfrm>
        </p:spPr>
        <p:txBody>
          <a:bodyPr>
            <a:normAutofit/>
          </a:bodyPr>
          <a:lstStyle/>
          <a:p>
            <a:r>
              <a:rPr lang="en-IN" sz="3200" dirty="0">
                <a:latin typeface="+mn-lt"/>
              </a:rPr>
              <a:t>Dataset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40E2333-C7BB-42CB-A674-0BE0C8ED7B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l-NL"/>
          </a:p>
        </p:txBody>
      </p:sp>
      <p:sp>
        <p:nvSpPr>
          <p:cNvPr id="33" name="Freeform 11">
            <a:extLst>
              <a:ext uri="{FF2B5EF4-FFF2-40B4-BE49-F238E27FC236}">
                <a16:creationId xmlns:a16="http://schemas.microsoft.com/office/drawing/2014/main" id="{6CADF7DA-72EF-4990-9F27-D443BAF7D8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nl-NL"/>
          </a:p>
        </p:txBody>
      </p:sp>
      <p:graphicFrame>
        <p:nvGraphicFramePr>
          <p:cNvPr id="20" name="Content Placeholder 2">
            <a:extLst>
              <a:ext uri="{FF2B5EF4-FFF2-40B4-BE49-F238E27FC236}">
                <a16:creationId xmlns:a16="http://schemas.microsoft.com/office/drawing/2014/main" id="{920EBDDB-C465-0A9F-6A0F-519631E1114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6452045"/>
              </p:ext>
            </p:extLst>
          </p:nvPr>
        </p:nvGraphicFramePr>
        <p:xfrm>
          <a:off x="1794897" y="2222983"/>
          <a:ext cx="8987404" cy="36539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54893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C8C9F670-D457-4F9E-BDA1-B6468C7782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40E2333-C7BB-42CB-A674-0BE0C8ED7B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l-NL"/>
          </a:p>
        </p:txBody>
      </p:sp>
      <p:sp>
        <p:nvSpPr>
          <p:cNvPr id="33" name="Freeform 11">
            <a:extLst>
              <a:ext uri="{FF2B5EF4-FFF2-40B4-BE49-F238E27FC236}">
                <a16:creationId xmlns:a16="http://schemas.microsoft.com/office/drawing/2014/main" id="{6CADF7DA-72EF-4990-9F27-D443BAF7D8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nl-NL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E8C3BD2-C522-D3E3-0892-EC83E2D2CC92}"/>
              </a:ext>
            </a:extLst>
          </p:cNvPr>
          <p:cNvSpPr txBox="1">
            <a:spLocks/>
          </p:cNvSpPr>
          <p:nvPr/>
        </p:nvSpPr>
        <p:spPr>
          <a:xfrm>
            <a:off x="2207697" y="604205"/>
            <a:ext cx="8161803" cy="149604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sz="3200" dirty="0">
                <a:latin typeface="+mn-lt"/>
              </a:rPr>
              <a:t>Data Dictionary 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236DA11-A79A-B979-9151-537D0CDBD4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42258" y="1462394"/>
            <a:ext cx="4028884" cy="5249301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sz="1600" dirty="0"/>
              <a:t>id = unique record identifier from raw dataset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IN" sz="1600" dirty="0"/>
              <a:t>Asset ID = unique identifier assigned to each network asset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sz="1600" dirty="0"/>
              <a:t>MAC Address = hardware address used to identify devices on the network.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sz="1600" dirty="0"/>
              <a:t>OS = Operating system of the device(e.g. Windows,Android,iOS)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IN" sz="1600" dirty="0"/>
              <a:t>Function = Role of the device(e.g.  Workstation, Switch, IP Phone)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IN" sz="1600" dirty="0"/>
              <a:t>Vendor and Model = Manufacturer and model information of the device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IN" sz="1600" dirty="0"/>
              <a:t>DHCP Options Fingerprints = DHCP options used for device fingerprinting</a:t>
            </a:r>
          </a:p>
          <a:p>
            <a:pPr marL="0" indent="0">
              <a:lnSpc>
                <a:spcPct val="90000"/>
              </a:lnSpc>
              <a:buNone/>
            </a:pPr>
            <a:br>
              <a:rPr lang="en-US" sz="1600" dirty="0"/>
            </a:br>
            <a:br>
              <a:rPr lang="en-US" sz="1600" dirty="0"/>
            </a:br>
            <a:br>
              <a:rPr lang="en-IN" sz="1600" dirty="0"/>
            </a:br>
            <a:br>
              <a:rPr lang="en-IN" sz="1600" dirty="0"/>
            </a:br>
            <a:br>
              <a:rPr lang="en-IN" sz="1600" dirty="0"/>
            </a:br>
            <a:br>
              <a:rPr lang="en-IN" sz="1600" dirty="0"/>
            </a:br>
            <a:br>
              <a:rPr lang="en-US" sz="1600" dirty="0"/>
            </a:br>
            <a:br>
              <a:rPr lang="en-US" sz="1600" dirty="0"/>
            </a:br>
            <a:br>
              <a:rPr lang="en-IN" sz="1600" dirty="0"/>
            </a:br>
            <a:endParaRPr lang="en-IN" sz="1600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46CABA3-7A8F-7190-3804-94637CDCA089}"/>
              </a:ext>
            </a:extLst>
          </p:cNvPr>
          <p:cNvSpPr txBox="1">
            <a:spLocks/>
          </p:cNvSpPr>
          <p:nvPr/>
        </p:nvSpPr>
        <p:spPr>
          <a:xfrm>
            <a:off x="7375601" y="1221672"/>
            <a:ext cx="4214144" cy="48513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sz="1600" dirty="0"/>
              <a:t>DHCP Request Fingerprint = DHCP request pattern used to identify device behavior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sz="1600" dirty="0"/>
              <a:t>DHCP Vendor Class = Vendor specific DHCP classification string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IN" sz="1600" dirty="0"/>
              <a:t>DHCP Device Class = Device type classification based on DHCP data</a:t>
            </a:r>
          </a:p>
        </p:txBody>
      </p:sp>
    </p:spTree>
    <p:extLst>
      <p:ext uri="{BB962C8B-B14F-4D97-AF65-F5344CB8AC3E}">
        <p14:creationId xmlns:p14="http://schemas.microsoft.com/office/powerpoint/2010/main" val="39907385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C8C9F670-D457-4F9E-BDA1-B6468C7782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4897" y="624110"/>
            <a:ext cx="9712998" cy="1280890"/>
          </a:xfrm>
        </p:spPr>
        <p:txBody>
          <a:bodyPr>
            <a:normAutofit/>
          </a:bodyPr>
          <a:lstStyle/>
          <a:p>
            <a:r>
              <a:rPr lang="en-IN" sz="3200" dirty="0">
                <a:latin typeface="+mn-lt"/>
              </a:rPr>
              <a:t>Data Exploration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240E2333-C7BB-42CB-A674-0BE0C8ED7B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l-NL"/>
          </a:p>
        </p:txBody>
      </p:sp>
      <p:sp>
        <p:nvSpPr>
          <p:cNvPr id="47" name="Freeform 11">
            <a:extLst>
              <a:ext uri="{FF2B5EF4-FFF2-40B4-BE49-F238E27FC236}">
                <a16:creationId xmlns:a16="http://schemas.microsoft.com/office/drawing/2014/main" id="{6CADF7DA-72EF-4990-9F27-D443BAF7D8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nl-NL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54079BE-1E79-ADCD-91C4-0D5767459B4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31172692"/>
              </p:ext>
            </p:extLst>
          </p:nvPr>
        </p:nvGraphicFramePr>
        <p:xfrm>
          <a:off x="1794897" y="2222983"/>
          <a:ext cx="8987404" cy="36539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9689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C8C9F670-D457-4F9E-BDA1-B6468C7782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4897" y="624110"/>
            <a:ext cx="9712998" cy="1280890"/>
          </a:xfrm>
        </p:spPr>
        <p:txBody>
          <a:bodyPr>
            <a:normAutofit/>
          </a:bodyPr>
          <a:lstStyle/>
          <a:p>
            <a:r>
              <a:rPr lang="en-IN" sz="3200" dirty="0">
                <a:latin typeface="+mn-lt"/>
              </a:rPr>
              <a:t>Data Exploration (cont..)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240E2333-C7BB-42CB-A674-0BE0C8ED7B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l-NL"/>
          </a:p>
        </p:txBody>
      </p:sp>
      <p:sp>
        <p:nvSpPr>
          <p:cNvPr id="47" name="Freeform 11">
            <a:extLst>
              <a:ext uri="{FF2B5EF4-FFF2-40B4-BE49-F238E27FC236}">
                <a16:creationId xmlns:a16="http://schemas.microsoft.com/office/drawing/2014/main" id="{6CADF7DA-72EF-4990-9F27-D443BAF7D8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nl-NL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54079BE-1E79-ADCD-91C4-0D5767459B4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20154615"/>
              </p:ext>
            </p:extLst>
          </p:nvPr>
        </p:nvGraphicFramePr>
        <p:xfrm>
          <a:off x="1693738" y="1820647"/>
          <a:ext cx="8987404" cy="28062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97116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2ED0803-0133-49C2-9858-E132FF173A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4897" y="624110"/>
            <a:ext cx="9712998" cy="1280890"/>
          </a:xfrm>
        </p:spPr>
        <p:txBody>
          <a:bodyPr>
            <a:normAutofit/>
          </a:bodyPr>
          <a:lstStyle/>
          <a:p>
            <a:r>
              <a:rPr lang="en-IN" sz="3200" dirty="0">
                <a:latin typeface="+mn-lt"/>
              </a:rPr>
              <a:t>Data Exploration (cont..)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379F6D6-AB42-424F-9B81-E57F502B6A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l-NL"/>
          </a:p>
        </p:txBody>
      </p:sp>
      <p:sp>
        <p:nvSpPr>
          <p:cNvPr id="14" name="Freeform 11">
            <a:extLst>
              <a:ext uri="{FF2B5EF4-FFF2-40B4-BE49-F238E27FC236}">
                <a16:creationId xmlns:a16="http://schemas.microsoft.com/office/drawing/2014/main" id="{5BAFE5D0-C0A7-4C07-B852-6F0A7CF2AD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nl-NL"/>
          </a:p>
        </p:txBody>
      </p:sp>
      <p:sp>
        <p:nvSpPr>
          <p:cNvPr id="3" name="Content Placeholder 2"/>
          <p:cNvSpPr>
            <a:spLocks/>
          </p:cNvSpPr>
          <p:nvPr/>
        </p:nvSpPr>
        <p:spPr>
          <a:xfrm>
            <a:off x="1584338" y="1737361"/>
            <a:ext cx="9487094" cy="5120640"/>
          </a:xfrm>
          <a:prstGeom prst="rect">
            <a:avLst/>
          </a:prstGeom>
        </p:spPr>
        <p:txBody>
          <a:bodyPr/>
          <a:lstStyle/>
          <a:p>
            <a:pPr defTabSz="393192">
              <a:spcAft>
                <a:spcPts val="600"/>
              </a:spcAft>
            </a:pPr>
            <a:r>
              <a:rPr lang="en-GB" sz="1600" dirty="0">
                <a:cs typeface="Times New Roman" panose="02020603050405020304" pitchFamily="18" charset="0"/>
              </a:rPr>
              <a:t>This cross-tab shows how different device types (Functions) are distributed across various Operating Systems.</a:t>
            </a:r>
          </a:p>
          <a:p>
            <a:pPr defTabSz="393192">
              <a:spcAft>
                <a:spcPts val="600"/>
              </a:spcAft>
            </a:pPr>
            <a:endParaRPr lang="en-GB" sz="1600" dirty="0">
              <a:cs typeface="Times New Roman" panose="02020603050405020304" pitchFamily="18" charset="0"/>
            </a:endParaRPr>
          </a:p>
          <a:p>
            <a:pPr defTabSz="393192">
              <a:spcAft>
                <a:spcPts val="600"/>
              </a:spcAft>
            </a:pPr>
            <a:endParaRPr lang="en-GB" sz="1600" dirty="0">
              <a:cs typeface="Times New Roman" panose="02020603050405020304" pitchFamily="18" charset="0"/>
            </a:endParaRPr>
          </a:p>
          <a:p>
            <a:pPr defTabSz="393192">
              <a:spcAft>
                <a:spcPts val="600"/>
              </a:spcAft>
            </a:pPr>
            <a:endParaRPr lang="en-GB" sz="1600" dirty="0">
              <a:cs typeface="Times New Roman" panose="02020603050405020304" pitchFamily="18" charset="0"/>
            </a:endParaRPr>
          </a:p>
          <a:p>
            <a:pPr defTabSz="393192">
              <a:spcAft>
                <a:spcPts val="600"/>
              </a:spcAft>
            </a:pPr>
            <a:endParaRPr lang="en-GB" sz="1600" dirty="0">
              <a:cs typeface="Times New Roman" panose="02020603050405020304" pitchFamily="18" charset="0"/>
            </a:endParaRPr>
          </a:p>
          <a:p>
            <a:pPr defTabSz="393192">
              <a:spcAft>
                <a:spcPts val="600"/>
              </a:spcAft>
            </a:pPr>
            <a:endParaRPr lang="en-GB" sz="1600" dirty="0">
              <a:cs typeface="Times New Roman" panose="02020603050405020304" pitchFamily="18" charset="0"/>
            </a:endParaRPr>
          </a:p>
          <a:p>
            <a:pPr marL="285750" indent="-285750" defTabSz="393192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600" dirty="0">
                <a:cs typeface="Times New Roman" panose="02020603050405020304" pitchFamily="18" charset="0"/>
              </a:rPr>
              <a:t>Strong OS-Device Alignment :- Routers/Switches 100 % on the Cisco IOS variants.</a:t>
            </a:r>
          </a:p>
          <a:p>
            <a:pPr marL="285750" indent="-285750" defTabSz="393192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600" dirty="0">
                <a:cs typeface="Times New Roman" panose="02020603050405020304" pitchFamily="18" charset="0"/>
              </a:rPr>
              <a:t>Smartphones are highly concentrated :- ~99% on Apple Desktop OS(mislabelling for iOS).</a:t>
            </a:r>
          </a:p>
          <a:p>
            <a:pPr marL="285750" indent="-285750" defTabSz="393192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600" dirty="0">
                <a:cs typeface="Times New Roman" panose="02020603050405020304" pitchFamily="18" charset="0"/>
              </a:rPr>
              <a:t>Data Quality :- Apple Desktop OS showing for Smartphones.</a:t>
            </a:r>
          </a:p>
          <a:p>
            <a:pPr marL="285750" indent="-285750" defTabSz="393192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600" dirty="0">
                <a:cs typeface="Times New Roman" panose="02020603050405020304" pitchFamily="18" charset="0"/>
              </a:rPr>
              <a:t>Computers Have Mixed OS Distribution :- a diverse OS distribution, indicating multiple device types grouped together.</a:t>
            </a:r>
          </a:p>
          <a:p>
            <a:pPr marL="285750" indent="-285750" defTabSz="393192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600" dirty="0">
                <a:cs typeface="Times New Roman" panose="02020603050405020304" pitchFamily="18" charset="0"/>
              </a:rPr>
              <a:t>Printers Mostly Linux-Based :- ~92% Linux</a:t>
            </a:r>
          </a:p>
          <a:p>
            <a:pPr marL="285750" indent="-285750" defTabSz="393192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600" dirty="0">
                <a:cs typeface="Times New Roman" panose="02020603050405020304" pitchFamily="18" charset="0"/>
              </a:rPr>
              <a:t>Networking Devices Pattern :- Mostly Android (72%),</a:t>
            </a:r>
            <a:r>
              <a:rPr lang="en-GB" sz="1600" dirty="0"/>
              <a:t> </a:t>
            </a:r>
            <a:r>
              <a:rPr lang="en-GB" sz="1600" dirty="0">
                <a:cs typeface="Times New Roman" panose="02020603050405020304" pitchFamily="18" charset="0"/>
              </a:rPr>
              <a:t>Some Linux (18%).</a:t>
            </a:r>
          </a:p>
          <a:p>
            <a:pPr marL="285750" indent="-285750" defTabSz="393192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600" dirty="0">
                <a:cs typeface="Times New Roman" panose="02020603050405020304" pitchFamily="18" charset="0"/>
              </a:rPr>
              <a:t>Embedded Devices Are Specialized :- IP Phone has 100% Embedded Firmware.</a:t>
            </a:r>
          </a:p>
          <a:p>
            <a:pPr marL="285750" indent="-285750" defTabSz="393192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600" dirty="0">
                <a:cs typeface="Times New Roman" panose="02020603050405020304" pitchFamily="18" charset="0"/>
              </a:rPr>
              <a:t>Wireless Access Points :- 100 % Linux</a:t>
            </a:r>
          </a:p>
          <a:p>
            <a:pPr marL="285750" indent="-285750" defTabSz="393192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GB" sz="1600" dirty="0">
              <a:cs typeface="Times New Roman" panose="02020603050405020304" pitchFamily="18" charset="0"/>
            </a:endParaRPr>
          </a:p>
          <a:p>
            <a:pPr marL="285750" indent="-285750" defTabSz="393192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GB" sz="1600" dirty="0">
              <a:cs typeface="Times New Roman" panose="02020603050405020304" pitchFamily="18" charset="0"/>
            </a:endParaRPr>
          </a:p>
          <a:p>
            <a:pPr defTabSz="393192">
              <a:spcAft>
                <a:spcPts val="600"/>
              </a:spcAft>
            </a:pPr>
            <a:endParaRPr lang="en-IN" sz="1600" kern="1200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</a:pPr>
            <a:endParaRPr lang="en-IN" sz="1600" dirty="0"/>
          </a:p>
          <a:p>
            <a:pPr>
              <a:spcAft>
                <a:spcPts val="600"/>
              </a:spcAft>
            </a:pPr>
            <a:endParaRPr lang="en-IN" sz="16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6E1F6F4-51C3-6152-9E7B-C6DEE1583B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8217" y="2354199"/>
            <a:ext cx="4727447" cy="1211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8533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2ED0803-0133-49C2-9858-E132FF173A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4897" y="624110"/>
            <a:ext cx="9712998" cy="1280890"/>
          </a:xfrm>
        </p:spPr>
        <p:txBody>
          <a:bodyPr>
            <a:normAutofit/>
          </a:bodyPr>
          <a:lstStyle/>
          <a:p>
            <a:r>
              <a:rPr lang="en-IN" sz="3200" dirty="0">
                <a:latin typeface="+mn-lt"/>
              </a:rPr>
              <a:t>Data Exploration (cont..)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379F6D6-AB42-424F-9B81-E57F502B6A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l-NL"/>
          </a:p>
        </p:txBody>
      </p:sp>
      <p:sp>
        <p:nvSpPr>
          <p:cNvPr id="14" name="Freeform 11">
            <a:extLst>
              <a:ext uri="{FF2B5EF4-FFF2-40B4-BE49-F238E27FC236}">
                <a16:creationId xmlns:a16="http://schemas.microsoft.com/office/drawing/2014/main" id="{5BAFE5D0-C0A7-4C07-B852-6F0A7CF2AD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nl-NL"/>
          </a:p>
        </p:txBody>
      </p:sp>
      <p:sp>
        <p:nvSpPr>
          <p:cNvPr id="3" name="Content Placeholder 2"/>
          <p:cNvSpPr>
            <a:spLocks/>
          </p:cNvSpPr>
          <p:nvPr/>
        </p:nvSpPr>
        <p:spPr>
          <a:xfrm>
            <a:off x="1584338" y="1737361"/>
            <a:ext cx="9487094" cy="5120640"/>
          </a:xfrm>
          <a:prstGeom prst="rect">
            <a:avLst/>
          </a:prstGeom>
        </p:spPr>
        <p:txBody>
          <a:bodyPr/>
          <a:lstStyle/>
          <a:p>
            <a:pPr defTabSz="393192">
              <a:spcAft>
                <a:spcPts val="600"/>
              </a:spcAft>
            </a:pPr>
            <a:r>
              <a:rPr lang="en-GB" sz="1600" dirty="0">
                <a:cs typeface="Times New Roman" panose="02020603050405020304" pitchFamily="18" charset="0"/>
              </a:rPr>
              <a:t>Certain fields exhibit correlated missing patterns, indicating that data is often missing together, likely due to shared data collection limitations</a:t>
            </a:r>
          </a:p>
          <a:p>
            <a:pPr defTabSz="393192">
              <a:spcAft>
                <a:spcPts val="600"/>
              </a:spcAft>
            </a:pPr>
            <a:endParaRPr lang="en-GB" sz="1600" dirty="0">
              <a:cs typeface="Times New Roman" panose="02020603050405020304" pitchFamily="18" charset="0"/>
            </a:endParaRPr>
          </a:p>
          <a:p>
            <a:pPr defTabSz="393192">
              <a:spcAft>
                <a:spcPts val="600"/>
              </a:spcAft>
            </a:pPr>
            <a:endParaRPr lang="en-GB" sz="1600" dirty="0">
              <a:cs typeface="Times New Roman" panose="02020603050405020304" pitchFamily="18" charset="0"/>
            </a:endParaRPr>
          </a:p>
          <a:p>
            <a:pPr defTabSz="393192">
              <a:spcAft>
                <a:spcPts val="600"/>
              </a:spcAft>
            </a:pPr>
            <a:endParaRPr lang="en-GB" sz="1600" dirty="0">
              <a:cs typeface="Times New Roman" panose="02020603050405020304" pitchFamily="18" charset="0"/>
            </a:endParaRPr>
          </a:p>
          <a:p>
            <a:pPr defTabSz="393192">
              <a:spcAft>
                <a:spcPts val="600"/>
              </a:spcAft>
            </a:pPr>
            <a:endParaRPr lang="en-GB" sz="1600" dirty="0">
              <a:cs typeface="Times New Roman" panose="02020603050405020304" pitchFamily="18" charset="0"/>
            </a:endParaRPr>
          </a:p>
          <a:p>
            <a:pPr defTabSz="393192">
              <a:spcAft>
                <a:spcPts val="600"/>
              </a:spcAft>
            </a:pPr>
            <a:endParaRPr lang="en-GB" sz="1600" dirty="0">
              <a:cs typeface="Times New Roman" panose="02020603050405020304" pitchFamily="18" charset="0"/>
            </a:endParaRPr>
          </a:p>
          <a:p>
            <a:pPr defTabSz="393192">
              <a:spcAft>
                <a:spcPts val="600"/>
              </a:spcAft>
            </a:pPr>
            <a:endParaRPr lang="en-GB" sz="1600" dirty="0">
              <a:cs typeface="Times New Roman" panose="02020603050405020304" pitchFamily="18" charset="0"/>
            </a:endParaRPr>
          </a:p>
          <a:p>
            <a:pPr defTabSz="393192">
              <a:spcAft>
                <a:spcPts val="600"/>
              </a:spcAft>
            </a:pPr>
            <a:endParaRPr lang="en-GB" sz="1600" dirty="0">
              <a:cs typeface="Times New Roman" panose="02020603050405020304" pitchFamily="18" charset="0"/>
            </a:endParaRPr>
          </a:p>
          <a:p>
            <a:pPr marL="285750" indent="-285750" defTabSz="393192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GB" sz="1600" dirty="0">
              <a:cs typeface="Times New Roman" panose="02020603050405020304" pitchFamily="18" charset="0"/>
            </a:endParaRPr>
          </a:p>
          <a:p>
            <a:pPr marL="285750" indent="-285750" defTabSz="393192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GB" sz="1600" dirty="0">
              <a:cs typeface="Times New Roman" panose="02020603050405020304" pitchFamily="18" charset="0"/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600" dirty="0">
                <a:cs typeface="Times New Roman" panose="02020603050405020304" pitchFamily="18" charset="0"/>
              </a:rPr>
              <a:t>Strong correlation observed among DHCP-related fields (up to 1.0), indicating shared data availability patterns.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600" dirty="0">
                <a:cs typeface="Times New Roman" panose="02020603050405020304" pitchFamily="18" charset="0"/>
              </a:rPr>
              <a:t>Highly correlated missing patterns suggest upstream data ingestion dependencies, where DHCP-related attributes are either fully captured or entirely absent. So the missing data is not random but occurs in groups, especially for DHCP-related features. </a:t>
            </a:r>
            <a:endParaRPr lang="en-IN" sz="1600" dirty="0"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9D4341-C7EB-E53E-22BB-5FD926B245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0634" y="2347537"/>
            <a:ext cx="3120822" cy="2863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08936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2ED0803-0133-49C2-9858-E132FF173A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4897" y="624110"/>
            <a:ext cx="9712998" cy="1280890"/>
          </a:xfrm>
        </p:spPr>
        <p:txBody>
          <a:bodyPr>
            <a:normAutofit/>
          </a:bodyPr>
          <a:lstStyle/>
          <a:p>
            <a:r>
              <a:rPr lang="en-IN" sz="3200" dirty="0">
                <a:latin typeface="+mn-lt"/>
              </a:rPr>
              <a:t>Feature Engineering – Device Categorization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379F6D6-AB42-424F-9B81-E57F502B6A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l-NL"/>
          </a:p>
        </p:txBody>
      </p:sp>
      <p:sp>
        <p:nvSpPr>
          <p:cNvPr id="14" name="Freeform 11">
            <a:extLst>
              <a:ext uri="{FF2B5EF4-FFF2-40B4-BE49-F238E27FC236}">
                <a16:creationId xmlns:a16="http://schemas.microsoft.com/office/drawing/2014/main" id="{5BAFE5D0-C0A7-4C07-B852-6F0A7CF2AD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nl-NL"/>
          </a:p>
        </p:txBody>
      </p:sp>
      <p:sp>
        <p:nvSpPr>
          <p:cNvPr id="3" name="Content Placeholder 2"/>
          <p:cNvSpPr>
            <a:spLocks/>
          </p:cNvSpPr>
          <p:nvPr/>
        </p:nvSpPr>
        <p:spPr>
          <a:xfrm>
            <a:off x="1584337" y="1936047"/>
            <a:ext cx="9923557" cy="4492185"/>
          </a:xfrm>
          <a:prstGeom prst="rect">
            <a:avLst/>
          </a:prstGeom>
        </p:spPr>
        <p:txBody>
          <a:bodyPr/>
          <a:lstStyle/>
          <a:p>
            <a:pPr defTabSz="393192">
              <a:spcAft>
                <a:spcPts val="600"/>
              </a:spcAft>
            </a:pPr>
            <a:r>
              <a:rPr lang="en-IN" sz="1600" kern="1200" dirty="0">
                <a:solidFill>
                  <a:schemeClr val="tx1"/>
                </a:solidFill>
                <a:ea typeface="+mn-ea"/>
                <a:cs typeface="Times New Roman" panose="02020603050405020304" pitchFamily="18" charset="0"/>
              </a:rPr>
              <a:t>Device categorization was made based on rule-based mapping from the Function column</a:t>
            </a:r>
          </a:p>
          <a:p>
            <a:pPr defTabSz="393192">
              <a:spcAft>
                <a:spcPts val="600"/>
              </a:spcAft>
            </a:pPr>
            <a:r>
              <a:rPr lang="en-GB" sz="1600" dirty="0">
                <a:cs typeface="Times New Roman" panose="02020603050405020304" pitchFamily="18" charset="0"/>
              </a:rPr>
              <a:t>Keywords in the function were used to assign categories:</a:t>
            </a:r>
          </a:p>
          <a:p>
            <a:pPr lvl="1" defTabSz="393192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600" dirty="0">
                <a:cs typeface="Times New Roman" panose="02020603050405020304" pitchFamily="18" charset="0"/>
              </a:rPr>
              <a:t> IT → Workstation, Computer, Server </a:t>
            </a:r>
          </a:p>
          <a:p>
            <a:pPr lvl="1" defTabSz="393192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600" dirty="0">
                <a:cs typeface="Times New Roman" panose="02020603050405020304" pitchFamily="18" charset="0"/>
              </a:rPr>
              <a:t> Network → Switch, Router, Firewall </a:t>
            </a:r>
          </a:p>
          <a:p>
            <a:pPr lvl="1" defTabSz="393192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600" dirty="0">
                <a:cs typeface="Times New Roman" panose="02020603050405020304" pitchFamily="18" charset="0"/>
              </a:rPr>
              <a:t> Medical → CT, MRI, X-ray, Scanner </a:t>
            </a:r>
          </a:p>
          <a:p>
            <a:pPr lvl="1" defTabSz="393192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600" dirty="0">
                <a:cs typeface="Times New Roman" panose="02020603050405020304" pitchFamily="18" charset="0"/>
              </a:rPr>
              <a:t> OT (Operational Technology) → PLC, HMI, RTU </a:t>
            </a:r>
          </a:p>
          <a:p>
            <a:pPr lvl="1" defTabSz="393192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600" dirty="0">
                <a:cs typeface="Times New Roman" panose="02020603050405020304" pitchFamily="18" charset="0"/>
              </a:rPr>
              <a:t> IoT → Phones, Smart devices, others</a:t>
            </a:r>
          </a:p>
          <a:p>
            <a:pPr defTabSz="393192">
              <a:spcAft>
                <a:spcPts val="600"/>
              </a:spcAft>
            </a:pPr>
            <a:endParaRPr lang="en-IN" sz="1600" kern="1200" dirty="0">
              <a:solidFill>
                <a:schemeClr val="tx1"/>
              </a:solidFill>
              <a:ea typeface="+mn-ea"/>
              <a:cs typeface="Times New Roman" panose="02020603050405020304" pitchFamily="18" charset="0"/>
            </a:endParaRPr>
          </a:p>
          <a:p>
            <a:pPr defTabSz="393192">
              <a:spcAft>
                <a:spcPts val="600"/>
              </a:spcAft>
            </a:pPr>
            <a:r>
              <a:rPr lang="en-IN" sz="1600" dirty="0">
                <a:cs typeface="Times New Roman" panose="02020603050405020304" pitchFamily="18" charset="0"/>
              </a:rPr>
              <a:t>Device category distribution</a:t>
            </a:r>
          </a:p>
          <a:p>
            <a:pPr defTabSz="393192">
              <a:spcAft>
                <a:spcPts val="600"/>
              </a:spcAft>
            </a:pPr>
            <a:endParaRPr lang="en-IN" sz="1600" kern="1200" dirty="0">
              <a:solidFill>
                <a:schemeClr val="tx1"/>
              </a:solidFill>
              <a:ea typeface="+mn-ea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</a:pPr>
            <a:endParaRPr lang="en-IN" sz="16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0B52A86-85A7-DF6C-841A-926494C648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4337" y="4579040"/>
            <a:ext cx="5093208" cy="2209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61608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2ED0803-0133-49C2-9858-E132FF173A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4897" y="624110"/>
            <a:ext cx="9712998" cy="1280890"/>
          </a:xfrm>
        </p:spPr>
        <p:txBody>
          <a:bodyPr>
            <a:normAutofit/>
          </a:bodyPr>
          <a:lstStyle/>
          <a:p>
            <a:r>
              <a:rPr lang="en-IN" sz="3200" dirty="0">
                <a:latin typeface="+mn-lt"/>
              </a:rPr>
              <a:t>Feature Engineering – Device Categorization Vs OS and Vendor(top 10) (cont..)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379F6D6-AB42-424F-9B81-E57F502B6A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l-NL"/>
          </a:p>
        </p:txBody>
      </p:sp>
      <p:sp>
        <p:nvSpPr>
          <p:cNvPr id="14" name="Freeform 11">
            <a:extLst>
              <a:ext uri="{FF2B5EF4-FFF2-40B4-BE49-F238E27FC236}">
                <a16:creationId xmlns:a16="http://schemas.microsoft.com/office/drawing/2014/main" id="{5BAFE5D0-C0A7-4C07-B852-6F0A7CF2AD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nl-NL"/>
          </a:p>
        </p:txBody>
      </p:sp>
      <p:sp>
        <p:nvSpPr>
          <p:cNvPr id="3" name="Content Placeholder 2"/>
          <p:cNvSpPr>
            <a:spLocks/>
          </p:cNvSpPr>
          <p:nvPr/>
        </p:nvSpPr>
        <p:spPr>
          <a:xfrm>
            <a:off x="1584337" y="1936047"/>
            <a:ext cx="9923557" cy="4921953"/>
          </a:xfrm>
          <a:prstGeom prst="rect">
            <a:avLst/>
          </a:prstGeom>
        </p:spPr>
        <p:txBody>
          <a:bodyPr/>
          <a:lstStyle/>
          <a:p>
            <a:pPr>
              <a:spcAft>
                <a:spcPts val="600"/>
              </a:spcAft>
            </a:pPr>
            <a:endParaRPr lang="en-IN" sz="1600" dirty="0"/>
          </a:p>
          <a:p>
            <a:pPr>
              <a:spcAft>
                <a:spcPts val="600"/>
              </a:spcAft>
            </a:pPr>
            <a:r>
              <a:rPr lang="en-IN" sz="1600" dirty="0"/>
              <a:t>Each category exhibits a distinct OS distribution, with following insights </a:t>
            </a:r>
            <a:br>
              <a:rPr lang="en-IN" sz="1600" dirty="0"/>
            </a:br>
            <a:endParaRPr lang="en-IN" sz="1600" dirty="0"/>
          </a:p>
          <a:p>
            <a:pPr>
              <a:spcAft>
                <a:spcPts val="600"/>
              </a:spcAft>
            </a:pPr>
            <a:endParaRPr lang="en-IN" sz="1600" dirty="0"/>
          </a:p>
          <a:p>
            <a:pPr>
              <a:spcAft>
                <a:spcPts val="600"/>
              </a:spcAft>
            </a:pPr>
            <a:endParaRPr lang="en-IN" sz="1600" dirty="0"/>
          </a:p>
          <a:p>
            <a:pPr>
              <a:spcAft>
                <a:spcPts val="600"/>
              </a:spcAft>
            </a:pPr>
            <a:endParaRPr lang="en-IN" sz="16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85A04988-41A0-1195-6395-51D4586C0D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2515" y="2724912"/>
            <a:ext cx="4588557" cy="3639312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2665C654-2079-FEFF-D676-F866788AF7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1395" y="2724910"/>
            <a:ext cx="5483905" cy="363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8927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2ED0803-0133-49C2-9858-E132FF173A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4897" y="624110"/>
            <a:ext cx="9712998" cy="1280890"/>
          </a:xfrm>
        </p:spPr>
        <p:txBody>
          <a:bodyPr>
            <a:normAutofit/>
          </a:bodyPr>
          <a:lstStyle/>
          <a:p>
            <a:r>
              <a:rPr lang="en-IN" sz="3200" dirty="0">
                <a:latin typeface="+mn-lt"/>
              </a:rPr>
              <a:t>Feature Engineering – Vendor /OS Normalization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379F6D6-AB42-424F-9B81-E57F502B6A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l-NL"/>
          </a:p>
        </p:txBody>
      </p:sp>
      <p:sp>
        <p:nvSpPr>
          <p:cNvPr id="14" name="Freeform 11">
            <a:extLst>
              <a:ext uri="{FF2B5EF4-FFF2-40B4-BE49-F238E27FC236}">
                <a16:creationId xmlns:a16="http://schemas.microsoft.com/office/drawing/2014/main" id="{5BAFE5D0-C0A7-4C07-B852-6F0A7CF2AD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nl-NL"/>
          </a:p>
        </p:txBody>
      </p:sp>
      <p:sp>
        <p:nvSpPr>
          <p:cNvPr id="3" name="Content Placeholder 2"/>
          <p:cNvSpPr>
            <a:spLocks/>
          </p:cNvSpPr>
          <p:nvPr/>
        </p:nvSpPr>
        <p:spPr>
          <a:xfrm>
            <a:off x="1584337" y="1936047"/>
            <a:ext cx="9923557" cy="4921953"/>
          </a:xfrm>
          <a:prstGeom prst="rect">
            <a:avLst/>
          </a:prstGeo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IN" sz="1600" dirty="0"/>
              <a:t>Vendor column in the data contains not just “vendor names” – it is </a:t>
            </a:r>
            <a:r>
              <a:rPr lang="en-GB" sz="1600" dirty="0"/>
              <a:t>multi-level taxonomy.</a:t>
            </a:r>
          </a:p>
          <a:p>
            <a:pPr>
              <a:spcAft>
                <a:spcPts val="600"/>
              </a:spcAft>
            </a:pPr>
            <a:r>
              <a:rPr lang="en-IN" sz="1600" dirty="0"/>
              <a:t>Each value contains: </a:t>
            </a:r>
            <a:br>
              <a:rPr lang="en-IN" sz="1600" dirty="0"/>
            </a:br>
            <a:endParaRPr lang="en-IN" sz="1600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1600" dirty="0"/>
              <a:t>Pure vendors </a:t>
            </a:r>
            <a:r>
              <a:rPr lang="en-IN" sz="1600" dirty="0">
                <a:sym typeface="Wingdings" panose="05000000000000000000" pitchFamily="2" charset="2"/>
              </a:rPr>
              <a:t> Dell, Apple, Cisco.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1600" dirty="0">
                <a:sym typeface="Wingdings" panose="05000000000000000000" pitchFamily="2" charset="2"/>
              </a:rPr>
              <a:t>Vendor + product  Cisco Router 2900 Series.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1600" dirty="0">
                <a:sym typeface="Wingdings" panose="05000000000000000000" pitchFamily="2" charset="2"/>
              </a:rPr>
              <a:t>Vendor + function  HP Printer, Cisco IP Phone.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1600" dirty="0">
                <a:sym typeface="Wingdings" panose="05000000000000000000" pitchFamily="2" charset="2"/>
              </a:rPr>
              <a:t>Medical Devices  GE MRI Scanner, Siemens SOMATOM CT Scanner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1600" dirty="0">
                <a:sym typeface="Wingdings" panose="05000000000000000000" pitchFamily="2" charset="2"/>
              </a:rPr>
              <a:t>IOT/OT Systems  Johnson Controls, Rockwell Automation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1600" dirty="0">
                <a:sym typeface="Wingdings" panose="05000000000000000000" pitchFamily="2" charset="2"/>
              </a:rPr>
              <a:t>Mixed Naming conventions.</a:t>
            </a:r>
          </a:p>
          <a:p>
            <a:pPr>
              <a:spcAft>
                <a:spcPts val="600"/>
              </a:spcAft>
            </a:pPr>
            <a:r>
              <a:rPr lang="en-IN" sz="1600" dirty="0">
                <a:sym typeface="Wingdings" panose="05000000000000000000" pitchFamily="2" charset="2"/>
              </a:rPr>
              <a:t>After normalization using (entity extraction + fuzzy matching),we get the normalized values : </a:t>
            </a:r>
          </a:p>
          <a:p>
            <a:pPr>
              <a:spcAft>
                <a:spcPts val="600"/>
              </a:spcAft>
            </a:pPr>
            <a:endParaRPr lang="en-IN" sz="1600" dirty="0">
              <a:sym typeface="Wingdings" panose="05000000000000000000" pitchFamily="2" charset="2"/>
            </a:endParaRPr>
          </a:p>
          <a:p>
            <a:pPr>
              <a:spcAft>
                <a:spcPts val="600"/>
              </a:spcAft>
            </a:pPr>
            <a:r>
              <a:rPr lang="en-GB" sz="1600" dirty="0"/>
              <a:t>['Other', 'Apple', 'Dell', 'HP', 'Cisco', 'LG', 'Siemens', 'Samsung', 'GE', 'Sony', 'Unknown', 'Philips', 'IBM', 'Oracle', 'Roche', 'Aruba', 'VMware', 'Microsoft', 'Honeywell', '</a:t>
            </a:r>
            <a:r>
              <a:rPr lang="en-GB" sz="1600" dirty="0" err="1"/>
              <a:t>Netgear</a:t>
            </a:r>
            <a:r>
              <a:rPr lang="en-GB" sz="1600" dirty="0"/>
              <a:t>', 'Fortinet', 'Palo Alto Networks', 'Juniper', 'Panasonic', 'Avaya']</a:t>
            </a:r>
            <a:endParaRPr lang="en-IN" sz="1600" dirty="0"/>
          </a:p>
          <a:p>
            <a:pPr>
              <a:spcAft>
                <a:spcPts val="600"/>
              </a:spcAft>
            </a:pPr>
            <a:endParaRPr lang="en-IN" sz="1600" dirty="0"/>
          </a:p>
          <a:p>
            <a:pPr>
              <a:spcAft>
                <a:spcPts val="600"/>
              </a:spcAft>
            </a:pP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4011037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2ED0803-0133-49C2-9858-E132FF173A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4897" y="624110"/>
            <a:ext cx="9525376" cy="1280890"/>
          </a:xfrm>
        </p:spPr>
        <p:txBody>
          <a:bodyPr>
            <a:normAutofit/>
          </a:bodyPr>
          <a:lstStyle/>
          <a:p>
            <a:r>
              <a:rPr lang="en-IN" sz="3200" dirty="0">
                <a:latin typeface="+mn-lt"/>
              </a:rPr>
              <a:t>Feature Engineering – Vendor /OS Normalization (cont..)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379F6D6-AB42-424F-9B81-E57F502B6A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l-NL"/>
          </a:p>
        </p:txBody>
      </p:sp>
      <p:sp>
        <p:nvSpPr>
          <p:cNvPr id="14" name="Freeform 11">
            <a:extLst>
              <a:ext uri="{FF2B5EF4-FFF2-40B4-BE49-F238E27FC236}">
                <a16:creationId xmlns:a16="http://schemas.microsoft.com/office/drawing/2014/main" id="{5BAFE5D0-C0A7-4C07-B852-6F0A7CF2AD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nl-NL"/>
          </a:p>
        </p:txBody>
      </p:sp>
      <p:sp>
        <p:nvSpPr>
          <p:cNvPr id="3" name="Content Placeholder 2"/>
          <p:cNvSpPr>
            <a:spLocks/>
          </p:cNvSpPr>
          <p:nvPr/>
        </p:nvSpPr>
        <p:spPr>
          <a:xfrm>
            <a:off x="1584337" y="1936047"/>
            <a:ext cx="9923557" cy="4921953"/>
          </a:xfrm>
          <a:prstGeom prst="rect">
            <a:avLst/>
          </a:prstGeo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IN" sz="1600" dirty="0"/>
              <a:t>OS column in the data contains not just “OS names” – it is </a:t>
            </a:r>
            <a:r>
              <a:rPr lang="en-GB" sz="1600" dirty="0"/>
              <a:t>mix of multiple OS layers and system types.</a:t>
            </a:r>
            <a:r>
              <a:rPr lang="en-IN" sz="1600" dirty="0"/>
              <a:t>Each value contains: </a:t>
            </a:r>
            <a:br>
              <a:rPr lang="en-IN" sz="1600" dirty="0"/>
            </a:br>
            <a:endParaRPr lang="en-IN" sz="1600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1600" dirty="0"/>
              <a:t>Version numbers embedded in the OS field (Cisco IOS 15.3,Android 7.0,Windows Kernel 6.0)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1600" dirty="0"/>
              <a:t>Hardware/device context included in OS field</a:t>
            </a:r>
          </a:p>
          <a:p>
            <a:pPr marL="742950" lvl="1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GB" sz="1600" dirty="0"/>
              <a:t>Cisco IOS (used in routers/switches, not general OS)</a:t>
            </a:r>
            <a:endParaRPr lang="en-IN" sz="1600" dirty="0"/>
          </a:p>
          <a:p>
            <a:pPr marL="742950" lvl="1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GB" sz="1600" dirty="0"/>
              <a:t>APC AOS (UPS power systems OS)</a:t>
            </a:r>
          </a:p>
          <a:p>
            <a:pPr marL="742950" lvl="1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GB" sz="1600" dirty="0"/>
              <a:t>VxWorks 6.5 (real-time industrial systems)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600" dirty="0"/>
              <a:t>Vendor prefix included in OS name (Cisco IOS 15.0, Apple iOS)</a:t>
            </a:r>
            <a:endParaRPr lang="en-IN" sz="1600" dirty="0">
              <a:sym typeface="Wingdings" panose="05000000000000000000" pitchFamily="2" charset="2"/>
            </a:endParaRPr>
          </a:p>
          <a:p>
            <a:pPr>
              <a:spcAft>
                <a:spcPts val="600"/>
              </a:spcAft>
            </a:pPr>
            <a:endParaRPr lang="en-IN" sz="1600" dirty="0">
              <a:sym typeface="Wingdings" panose="05000000000000000000" pitchFamily="2" charset="2"/>
            </a:endParaRPr>
          </a:p>
          <a:p>
            <a:pPr>
              <a:spcAft>
                <a:spcPts val="600"/>
              </a:spcAft>
            </a:pPr>
            <a:r>
              <a:rPr lang="en-IN" sz="1600" dirty="0">
                <a:sym typeface="Wingdings" panose="05000000000000000000" pitchFamily="2" charset="2"/>
              </a:rPr>
              <a:t>After normalization using (entity extraction + fuzzy matching),we get the normalized values : </a:t>
            </a:r>
          </a:p>
          <a:p>
            <a:pPr>
              <a:spcAft>
                <a:spcPts val="600"/>
              </a:spcAft>
            </a:pPr>
            <a:r>
              <a:rPr lang="en-GB" sz="1600" dirty="0"/>
              <a:t>['Android', 'macOS', 'Linux', 'Other', 'Embedded/RTOS', 'iOS', 'Chrome OS', 'Windows', 'Network OS']</a:t>
            </a:r>
            <a:endParaRPr lang="en-IN" sz="1600" dirty="0"/>
          </a:p>
          <a:p>
            <a:pPr>
              <a:spcAft>
                <a:spcPts val="600"/>
              </a:spcAft>
            </a:pP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20565967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2ED0803-0133-49C2-9858-E132FF173A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4897" y="624110"/>
            <a:ext cx="9712998" cy="1280890"/>
          </a:xfrm>
        </p:spPr>
        <p:txBody>
          <a:bodyPr>
            <a:normAutofit/>
          </a:bodyPr>
          <a:lstStyle/>
          <a:p>
            <a:r>
              <a:rPr lang="en-IN" sz="3200" dirty="0">
                <a:latin typeface="+mn-lt"/>
              </a:rPr>
              <a:t>Feature Engineering – Risk Level Classification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379F6D6-AB42-424F-9B81-E57F502B6A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l-NL"/>
          </a:p>
        </p:txBody>
      </p:sp>
      <p:sp>
        <p:nvSpPr>
          <p:cNvPr id="14" name="Freeform 11">
            <a:extLst>
              <a:ext uri="{FF2B5EF4-FFF2-40B4-BE49-F238E27FC236}">
                <a16:creationId xmlns:a16="http://schemas.microsoft.com/office/drawing/2014/main" id="{5BAFE5D0-C0A7-4C07-B852-6F0A7CF2AD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nl-NL"/>
          </a:p>
        </p:txBody>
      </p:sp>
      <p:sp>
        <p:nvSpPr>
          <p:cNvPr id="3" name="Content Placeholder 2"/>
          <p:cNvSpPr>
            <a:spLocks/>
          </p:cNvSpPr>
          <p:nvPr/>
        </p:nvSpPr>
        <p:spPr>
          <a:xfrm>
            <a:off x="1584338" y="1578859"/>
            <a:ext cx="9923557" cy="4921953"/>
          </a:xfrm>
          <a:prstGeom prst="rect">
            <a:avLst/>
          </a:prstGeo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GB" sz="1600" dirty="0"/>
              <a:t>From Security and Data Quality lens , we have created an Risk Level attribute which contain  High, Medium and low value</a:t>
            </a:r>
          </a:p>
          <a:p>
            <a:pPr>
              <a:spcAft>
                <a:spcPts val="600"/>
              </a:spcAft>
            </a:pPr>
            <a:r>
              <a:rPr lang="en-GB" sz="1600" b="1" u="sng" dirty="0"/>
              <a:t>Risk Scoring Logic 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1600" dirty="0"/>
              <a:t>High Risk :- </a:t>
            </a:r>
          </a:p>
          <a:p>
            <a:pPr marL="742950" lvl="1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IN" sz="1600" dirty="0"/>
              <a:t>Outdated OS: Windows 7, Android 7, Cisco IOS 12.x/15.x</a:t>
            </a:r>
          </a:p>
          <a:p>
            <a:pPr marL="742950" lvl="1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IN" sz="1600" dirty="0"/>
              <a:t>Embedded /RTOS system: VxWorks, Embedded Firmware</a:t>
            </a:r>
          </a:p>
          <a:p>
            <a:pPr marL="742950" lvl="1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IN" sz="1600" dirty="0"/>
              <a:t>Missing DHCP fingerprints fields</a:t>
            </a:r>
          </a:p>
          <a:p>
            <a:pPr marL="742950" lvl="1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IN" sz="1600" dirty="0"/>
              <a:t>Unknown OS values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1600" dirty="0"/>
              <a:t>Medium Risk :- </a:t>
            </a:r>
          </a:p>
          <a:p>
            <a:pPr marL="742950" lvl="1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IN" sz="1600" dirty="0"/>
              <a:t>Partial metadata missing</a:t>
            </a:r>
          </a:p>
          <a:p>
            <a:pPr marL="742950" lvl="1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IN" sz="1600" dirty="0"/>
              <a:t>Unclassified or ambiguous devices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1600" dirty="0"/>
              <a:t>Low Risk :-</a:t>
            </a:r>
          </a:p>
          <a:p>
            <a:pPr marL="742950" lvl="1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IN" sz="1600" dirty="0"/>
              <a:t>Modern OS : Windows 10,Linux,Android(recent versions)</a:t>
            </a:r>
          </a:p>
          <a:p>
            <a:pPr marL="742950" lvl="1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IN" sz="1600" dirty="0"/>
              <a:t>Complete fingerprint visibility</a:t>
            </a:r>
          </a:p>
          <a:p>
            <a:pPr>
              <a:spcAft>
                <a:spcPts val="600"/>
              </a:spcAft>
            </a:pP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10476063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2ED0803-0133-49C2-9858-E132FF173A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4897" y="624110"/>
            <a:ext cx="9712998" cy="1280890"/>
          </a:xfrm>
        </p:spPr>
        <p:txBody>
          <a:bodyPr>
            <a:normAutofit/>
          </a:bodyPr>
          <a:lstStyle/>
          <a:p>
            <a:r>
              <a:rPr lang="en-IN" sz="3200" dirty="0">
                <a:latin typeface="+mn-lt"/>
              </a:rPr>
              <a:t>Feature Engineering – Risk Level Classification </a:t>
            </a:r>
            <a:r>
              <a:rPr lang="en-IN" sz="3200" b="1" dirty="0">
                <a:latin typeface="+mn-lt"/>
              </a:rPr>
              <a:t>(cont..)</a:t>
            </a:r>
            <a:r>
              <a:rPr lang="en-IN" sz="3200" dirty="0">
                <a:latin typeface="+mn-lt"/>
              </a:rPr>
              <a:t>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379F6D6-AB42-424F-9B81-E57F502B6A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l-NL"/>
          </a:p>
        </p:txBody>
      </p:sp>
      <p:sp>
        <p:nvSpPr>
          <p:cNvPr id="14" name="Freeform 11">
            <a:extLst>
              <a:ext uri="{FF2B5EF4-FFF2-40B4-BE49-F238E27FC236}">
                <a16:creationId xmlns:a16="http://schemas.microsoft.com/office/drawing/2014/main" id="{5BAFE5D0-C0A7-4C07-B852-6F0A7CF2AD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nl-NL"/>
          </a:p>
        </p:txBody>
      </p:sp>
      <p:sp>
        <p:nvSpPr>
          <p:cNvPr id="3" name="Content Placeholder 2"/>
          <p:cNvSpPr>
            <a:spLocks/>
          </p:cNvSpPr>
          <p:nvPr/>
        </p:nvSpPr>
        <p:spPr>
          <a:xfrm>
            <a:off x="1584337" y="1936047"/>
            <a:ext cx="9923557" cy="4921953"/>
          </a:xfrm>
          <a:prstGeom prst="rect">
            <a:avLst/>
          </a:prstGeo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GB" sz="1600" dirty="0"/>
              <a:t>Risk Level Distribution</a:t>
            </a:r>
          </a:p>
          <a:p>
            <a:pPr>
              <a:spcAft>
                <a:spcPts val="600"/>
              </a:spcAft>
            </a:pPr>
            <a:endParaRPr lang="en-GB" sz="1600" dirty="0"/>
          </a:p>
          <a:p>
            <a:pPr>
              <a:spcAft>
                <a:spcPts val="600"/>
              </a:spcAft>
            </a:pPr>
            <a:endParaRPr lang="en-IN" sz="1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4828BB-22AD-ABFE-9E09-CCDF33C8B8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5064" y="2529110"/>
            <a:ext cx="7790688" cy="3859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90047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2ED0803-0133-49C2-9858-E132FF173A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4897" y="624110"/>
            <a:ext cx="9712998" cy="1280890"/>
          </a:xfrm>
        </p:spPr>
        <p:txBody>
          <a:bodyPr>
            <a:normAutofit/>
          </a:bodyPr>
          <a:lstStyle/>
          <a:p>
            <a:r>
              <a:rPr lang="en-IN" sz="3200" dirty="0">
                <a:latin typeface="+mn-lt"/>
              </a:rPr>
              <a:t>Feature Engineering – Risk Level Classification (cont..)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379F6D6-AB42-424F-9B81-E57F502B6A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l-NL"/>
          </a:p>
        </p:txBody>
      </p:sp>
      <p:sp>
        <p:nvSpPr>
          <p:cNvPr id="14" name="Freeform 11">
            <a:extLst>
              <a:ext uri="{FF2B5EF4-FFF2-40B4-BE49-F238E27FC236}">
                <a16:creationId xmlns:a16="http://schemas.microsoft.com/office/drawing/2014/main" id="{5BAFE5D0-C0A7-4C07-B852-6F0A7CF2AD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nl-NL"/>
          </a:p>
        </p:txBody>
      </p:sp>
      <p:sp>
        <p:nvSpPr>
          <p:cNvPr id="3" name="Content Placeholder 2"/>
          <p:cNvSpPr>
            <a:spLocks/>
          </p:cNvSpPr>
          <p:nvPr/>
        </p:nvSpPr>
        <p:spPr>
          <a:xfrm>
            <a:off x="1584337" y="1936047"/>
            <a:ext cx="9923557" cy="4921953"/>
          </a:xfrm>
          <a:prstGeom prst="rect">
            <a:avLst/>
          </a:prstGeo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GB" sz="1600" dirty="0"/>
              <a:t>Risk Level Distribution across top 10 OS and Vendor </a:t>
            </a:r>
          </a:p>
          <a:p>
            <a:pPr>
              <a:spcAft>
                <a:spcPts val="600"/>
              </a:spcAft>
            </a:pPr>
            <a:endParaRPr lang="en-GB" sz="1600" dirty="0"/>
          </a:p>
          <a:p>
            <a:pPr>
              <a:spcAft>
                <a:spcPts val="600"/>
              </a:spcAft>
            </a:pPr>
            <a:endParaRPr lang="en-IN" sz="16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B223057-4B47-C049-089C-C2E284086B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4337" y="2432359"/>
            <a:ext cx="4981869" cy="331007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B795E7B-D99B-5FFF-53D9-8F7B678F67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3585" y="2432357"/>
            <a:ext cx="5247324" cy="3310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68271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2ED0803-0133-49C2-9858-E132FF173A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4897" y="624110"/>
            <a:ext cx="9712998" cy="1280890"/>
          </a:xfrm>
        </p:spPr>
        <p:txBody>
          <a:bodyPr>
            <a:normAutofit/>
          </a:bodyPr>
          <a:lstStyle/>
          <a:p>
            <a:r>
              <a:rPr lang="en-IN" sz="3200" dirty="0">
                <a:latin typeface="+mn-lt"/>
              </a:rPr>
              <a:t>Feature Engineering – Fingerprint Integrity Score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379F6D6-AB42-424F-9B81-E57F502B6A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l-NL"/>
          </a:p>
        </p:txBody>
      </p:sp>
      <p:sp>
        <p:nvSpPr>
          <p:cNvPr id="14" name="Freeform 11">
            <a:extLst>
              <a:ext uri="{FF2B5EF4-FFF2-40B4-BE49-F238E27FC236}">
                <a16:creationId xmlns:a16="http://schemas.microsoft.com/office/drawing/2014/main" id="{5BAFE5D0-C0A7-4C07-B852-6F0A7CF2AD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nl-NL"/>
          </a:p>
        </p:txBody>
      </p:sp>
      <p:sp>
        <p:nvSpPr>
          <p:cNvPr id="3" name="Content Placeholder 2"/>
          <p:cNvSpPr>
            <a:spLocks/>
          </p:cNvSpPr>
          <p:nvPr/>
        </p:nvSpPr>
        <p:spPr>
          <a:xfrm>
            <a:off x="1584337" y="1936047"/>
            <a:ext cx="9923557" cy="4921953"/>
          </a:xfrm>
          <a:prstGeom prst="rect">
            <a:avLst/>
          </a:prstGeo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GB" sz="1600" dirty="0"/>
              <a:t>This metric evaluate the completeness and reliability of device fingerprinting data</a:t>
            </a:r>
            <a:r>
              <a:rPr lang="en-GB" sz="1600" b="1" dirty="0"/>
              <a:t>.</a:t>
            </a:r>
            <a:r>
              <a:rPr lang="en-GB" sz="1600" dirty="0"/>
              <a:t> There are 4 key fingerprints fields DHCP Options Fingerprint, DHCP Request Fingerprint, DHCP Vendor Class, DHCP Device Class.</a:t>
            </a:r>
          </a:p>
          <a:p>
            <a:pPr>
              <a:spcAft>
                <a:spcPts val="600"/>
              </a:spcAft>
            </a:pPr>
            <a:endParaRPr lang="en-GB" sz="1600" dirty="0"/>
          </a:p>
          <a:p>
            <a:pPr>
              <a:spcAft>
                <a:spcPts val="600"/>
              </a:spcAft>
            </a:pPr>
            <a:r>
              <a:rPr lang="en-GB" sz="1600" dirty="0"/>
              <a:t>For each asset:</a:t>
            </a:r>
          </a:p>
          <a:p>
            <a:pPr>
              <a:spcAft>
                <a:spcPts val="600"/>
              </a:spcAft>
            </a:pPr>
            <a:r>
              <a:rPr lang="en-GB" sz="1600" dirty="0"/>
              <a:t>		</a:t>
            </a:r>
            <a:r>
              <a:rPr lang="en-GB" sz="1600" i="1" dirty="0"/>
              <a:t>FP Integrity Score = Number of non-null fingerprint fields (0–4) </a:t>
            </a:r>
          </a:p>
          <a:p>
            <a:pPr>
              <a:spcAft>
                <a:spcPts val="600"/>
              </a:spcAft>
            </a:pPr>
            <a:r>
              <a:rPr lang="en-GB" sz="1600" dirty="0"/>
              <a:t> 					0 → No Visibility (Critical)</a:t>
            </a:r>
          </a:p>
          <a:p>
            <a:pPr>
              <a:spcAft>
                <a:spcPts val="600"/>
              </a:spcAft>
            </a:pPr>
            <a:r>
              <a:rPr lang="en-GB" sz="1600" b="1" dirty="0"/>
              <a:t> 					</a:t>
            </a:r>
            <a:r>
              <a:rPr lang="en-GB" sz="1600" dirty="0"/>
              <a:t>1 → Very Low Visibility</a:t>
            </a:r>
          </a:p>
          <a:p>
            <a:pPr>
              <a:spcAft>
                <a:spcPts val="600"/>
              </a:spcAft>
            </a:pPr>
            <a:r>
              <a:rPr lang="en-GB" sz="1600" b="1" dirty="0"/>
              <a:t>					</a:t>
            </a:r>
            <a:r>
              <a:rPr lang="en-GB" sz="1600" dirty="0"/>
              <a:t>2 → Partial Visibility</a:t>
            </a:r>
          </a:p>
          <a:p>
            <a:pPr>
              <a:spcAft>
                <a:spcPts val="600"/>
              </a:spcAft>
            </a:pPr>
            <a:r>
              <a:rPr lang="en-GB" sz="1600" b="1" dirty="0"/>
              <a:t>					</a:t>
            </a:r>
            <a:r>
              <a:rPr lang="en-GB" sz="1600" dirty="0"/>
              <a:t>3 → Good Visibility</a:t>
            </a:r>
          </a:p>
          <a:p>
            <a:pPr>
              <a:spcAft>
                <a:spcPts val="600"/>
              </a:spcAft>
            </a:pPr>
            <a:r>
              <a:rPr lang="en-GB" sz="1600" b="1" dirty="0"/>
              <a:t>					</a:t>
            </a:r>
            <a:r>
              <a:rPr lang="en-GB" sz="1600" dirty="0"/>
              <a:t>4 → Full Visibility (Best Case)</a:t>
            </a:r>
            <a:endParaRPr lang="en-GB" sz="1600" b="1" dirty="0"/>
          </a:p>
          <a:p>
            <a:pPr>
              <a:spcAft>
                <a:spcPts val="600"/>
              </a:spcAft>
            </a:pPr>
            <a:r>
              <a:rPr lang="en-GB" sz="1600" b="1" dirty="0"/>
              <a:t> </a:t>
            </a:r>
          </a:p>
          <a:p>
            <a:pPr>
              <a:spcAft>
                <a:spcPts val="600"/>
              </a:spcAft>
            </a:pPr>
            <a:r>
              <a:rPr lang="en-GB" sz="1600" i="1" dirty="0"/>
              <a:t>“Fingerprint completeness directly impacts asset classification quality and security visibility. Assets with low scores represent blind spots in the network.”</a:t>
            </a:r>
            <a:endParaRPr lang="en-IN" sz="1600" i="1" dirty="0"/>
          </a:p>
        </p:txBody>
      </p:sp>
    </p:spTree>
    <p:extLst>
      <p:ext uri="{BB962C8B-B14F-4D97-AF65-F5344CB8AC3E}">
        <p14:creationId xmlns:p14="http://schemas.microsoft.com/office/powerpoint/2010/main" val="2344471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2ED0803-0133-49C2-9858-E132FF173A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4897" y="624110"/>
            <a:ext cx="9712998" cy="1280890"/>
          </a:xfrm>
        </p:spPr>
        <p:txBody>
          <a:bodyPr>
            <a:normAutofit/>
          </a:bodyPr>
          <a:lstStyle/>
          <a:p>
            <a:r>
              <a:rPr lang="en-IN" sz="3200" dirty="0">
                <a:latin typeface="+mn-lt"/>
              </a:rPr>
              <a:t>Feature Engineering – Fingerprint Integrity Score (cont..)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379F6D6-AB42-424F-9B81-E57F502B6A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l-NL"/>
          </a:p>
        </p:txBody>
      </p:sp>
      <p:sp>
        <p:nvSpPr>
          <p:cNvPr id="14" name="Freeform 11">
            <a:extLst>
              <a:ext uri="{FF2B5EF4-FFF2-40B4-BE49-F238E27FC236}">
                <a16:creationId xmlns:a16="http://schemas.microsoft.com/office/drawing/2014/main" id="{5BAFE5D0-C0A7-4C07-B852-6F0A7CF2AD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nl-NL"/>
          </a:p>
        </p:txBody>
      </p:sp>
      <p:sp>
        <p:nvSpPr>
          <p:cNvPr id="3" name="Content Placeholder 2"/>
          <p:cNvSpPr>
            <a:spLocks/>
          </p:cNvSpPr>
          <p:nvPr/>
        </p:nvSpPr>
        <p:spPr>
          <a:xfrm>
            <a:off x="1584337" y="1936047"/>
            <a:ext cx="9923557" cy="4921953"/>
          </a:xfrm>
          <a:prstGeom prst="rect">
            <a:avLst/>
          </a:prstGeo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GB" sz="1600" dirty="0"/>
              <a:t>Distribution of FP Integrity Score and Integrity score Vs Risk Level</a:t>
            </a:r>
          </a:p>
          <a:p>
            <a:pPr>
              <a:spcAft>
                <a:spcPts val="600"/>
              </a:spcAft>
            </a:pPr>
            <a:endParaRPr lang="en-IN" sz="1600" i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A3EE04-170C-6E4A-30F8-5B4E9FB4DE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4337" y="2619375"/>
            <a:ext cx="4410831" cy="328764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19EBF08-DE4A-9983-2B64-3EE0FF60F2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5591" y="2619374"/>
            <a:ext cx="3862072" cy="3287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91049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2ED0803-0133-49C2-9858-E132FF173A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4897" y="624110"/>
            <a:ext cx="9712998" cy="1280890"/>
          </a:xfrm>
        </p:spPr>
        <p:txBody>
          <a:bodyPr>
            <a:normAutofit/>
          </a:bodyPr>
          <a:lstStyle/>
          <a:p>
            <a:r>
              <a:rPr lang="en-IN" sz="3200" dirty="0">
                <a:latin typeface="+mn-lt"/>
              </a:rPr>
              <a:t>Feature Engineering – Model Type classification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379F6D6-AB42-424F-9B81-E57F502B6A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l-NL"/>
          </a:p>
        </p:txBody>
      </p:sp>
      <p:sp>
        <p:nvSpPr>
          <p:cNvPr id="14" name="Freeform 11">
            <a:extLst>
              <a:ext uri="{FF2B5EF4-FFF2-40B4-BE49-F238E27FC236}">
                <a16:creationId xmlns:a16="http://schemas.microsoft.com/office/drawing/2014/main" id="{5BAFE5D0-C0A7-4C07-B852-6F0A7CF2AD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nl-NL"/>
          </a:p>
        </p:txBody>
      </p:sp>
      <p:sp>
        <p:nvSpPr>
          <p:cNvPr id="3" name="Content Placeholder 2"/>
          <p:cNvSpPr>
            <a:spLocks/>
          </p:cNvSpPr>
          <p:nvPr/>
        </p:nvSpPr>
        <p:spPr>
          <a:xfrm>
            <a:off x="1584337" y="1936047"/>
            <a:ext cx="9923557" cy="4921953"/>
          </a:xfrm>
          <a:prstGeom prst="rect">
            <a:avLst/>
          </a:prstGeo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IN" sz="1600" dirty="0"/>
              <a:t>Classify assets into meaningful categories:</a:t>
            </a:r>
          </a:p>
          <a:p>
            <a:pPr>
              <a:spcAft>
                <a:spcPts val="600"/>
              </a:spcAft>
            </a:pPr>
            <a:r>
              <a:rPr lang="en-GB" sz="1600" dirty="0"/>
              <a:t>		</a:t>
            </a:r>
            <a:r>
              <a:rPr lang="en-GB" sz="1600" i="1" dirty="0"/>
              <a:t>Laptop, Smartphone, Network Device, Medical Device, IoT, etc.</a:t>
            </a:r>
          </a:p>
          <a:p>
            <a:r>
              <a:rPr lang="en-GB" sz="1600" dirty="0"/>
              <a:t>We use a </a:t>
            </a:r>
            <a:r>
              <a:rPr lang="en-GB" sz="1600" b="1" dirty="0"/>
              <a:t>multi-signal rule-based model</a:t>
            </a:r>
            <a:r>
              <a:rPr lang="en-GB" sz="1600" dirty="0"/>
              <a:t> combining:</a:t>
            </a:r>
          </a:p>
          <a:p>
            <a:endParaRPr lang="en-GB" sz="1600" dirty="0"/>
          </a:p>
          <a:p>
            <a:pPr lvl="2">
              <a:buFont typeface="Arial" panose="020B0604020202020204" pitchFamily="34" charset="0"/>
              <a:buChar char="•"/>
            </a:pPr>
            <a:r>
              <a:rPr lang="en-GB" sz="1600" dirty="0"/>
              <a:t> Vendor &amp; Model (device keywords) 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GB" sz="1600" dirty="0"/>
              <a:t> Function (device role) 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GB" sz="1600" dirty="0"/>
              <a:t> OS (system-level signal)</a:t>
            </a:r>
          </a:p>
          <a:p>
            <a:pPr lvl="2"/>
            <a:endParaRPr lang="en-GB" sz="1600" dirty="0"/>
          </a:p>
          <a:p>
            <a:r>
              <a:rPr lang="en-GB" sz="1600" dirty="0"/>
              <a:t>Key Enhancements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GB" sz="1600" dirty="0"/>
              <a:t>OS-aware classification : Cisco IOS → Network Device ,VxWorks → IoT / Embedded 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GB" sz="1600" dirty="0"/>
              <a:t>Domain-specific detection: Siemens / GE → Medical Devices ,Cisco / Aruba → Network Devices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GB" sz="1600" dirty="0"/>
              <a:t>Reduced ambiguity:- Fallback using OS when vendor unclear</a:t>
            </a:r>
          </a:p>
          <a:p>
            <a:r>
              <a:rPr lang="en-GB" sz="1600" dirty="0"/>
              <a:t> </a:t>
            </a:r>
          </a:p>
          <a:p>
            <a:r>
              <a:rPr lang="en-GB" sz="1600" i="1" dirty="0"/>
              <a:t>“Combining Vendor, OS, and Function enables more accurate and context-aware classification, especially in mixed environments containing IT, network, medical, and IoT assets.”</a:t>
            </a:r>
          </a:p>
          <a:p>
            <a:pPr>
              <a:spcAft>
                <a:spcPts val="600"/>
              </a:spcAft>
            </a:pPr>
            <a:endParaRPr lang="en-IN" sz="1600" i="1" dirty="0"/>
          </a:p>
        </p:txBody>
      </p:sp>
    </p:spTree>
    <p:extLst>
      <p:ext uri="{BB962C8B-B14F-4D97-AF65-F5344CB8AC3E}">
        <p14:creationId xmlns:p14="http://schemas.microsoft.com/office/powerpoint/2010/main" val="1684029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2ED0803-0133-49C2-9858-E132FF173A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4897" y="624110"/>
            <a:ext cx="9712998" cy="1280890"/>
          </a:xfrm>
        </p:spPr>
        <p:txBody>
          <a:bodyPr>
            <a:normAutofit/>
          </a:bodyPr>
          <a:lstStyle/>
          <a:p>
            <a:r>
              <a:rPr lang="en-IN" sz="3200" dirty="0">
                <a:latin typeface="+mn-lt"/>
              </a:rPr>
              <a:t>Feature Engineering – Model Type classification (cont..)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379F6D6-AB42-424F-9B81-E57F502B6A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l-NL"/>
          </a:p>
        </p:txBody>
      </p:sp>
      <p:sp>
        <p:nvSpPr>
          <p:cNvPr id="14" name="Freeform 11">
            <a:extLst>
              <a:ext uri="{FF2B5EF4-FFF2-40B4-BE49-F238E27FC236}">
                <a16:creationId xmlns:a16="http://schemas.microsoft.com/office/drawing/2014/main" id="{5BAFE5D0-C0A7-4C07-B852-6F0A7CF2AD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nl-NL"/>
          </a:p>
        </p:txBody>
      </p:sp>
      <p:sp>
        <p:nvSpPr>
          <p:cNvPr id="3" name="Content Placeholder 2"/>
          <p:cNvSpPr>
            <a:spLocks/>
          </p:cNvSpPr>
          <p:nvPr/>
        </p:nvSpPr>
        <p:spPr>
          <a:xfrm>
            <a:off x="1584337" y="1936047"/>
            <a:ext cx="9923557" cy="4921953"/>
          </a:xfrm>
          <a:prstGeom prst="rect">
            <a:avLst/>
          </a:prstGeo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IN" dirty="0"/>
              <a:t>Model Type Distribution per asset and Model Type Vs Risk Score</a:t>
            </a:r>
          </a:p>
          <a:p>
            <a:pPr>
              <a:spcAft>
                <a:spcPts val="600"/>
              </a:spcAft>
            </a:pPr>
            <a:endParaRPr lang="en-IN" dirty="0"/>
          </a:p>
          <a:p>
            <a:pPr>
              <a:spcAft>
                <a:spcPts val="600"/>
              </a:spcAft>
            </a:pP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5503ADF-942C-B7F4-2679-101A2C70E4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4337" y="2541266"/>
            <a:ext cx="5047488" cy="321945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A04D616-BB8A-2999-2651-2F3E24AE12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1800" y="2541267"/>
            <a:ext cx="5306614" cy="3219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73247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2ED0803-0133-49C2-9858-E132FF173A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4897" y="624110"/>
            <a:ext cx="9712998" cy="1280890"/>
          </a:xfrm>
        </p:spPr>
        <p:txBody>
          <a:bodyPr>
            <a:normAutofit/>
          </a:bodyPr>
          <a:lstStyle/>
          <a:p>
            <a:r>
              <a:rPr lang="en-IN" sz="3200" dirty="0">
                <a:latin typeface="+mn-lt"/>
              </a:rPr>
              <a:t>Feature Engineering – Mobile Device Identification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379F6D6-AB42-424F-9B81-E57F502B6A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l-NL"/>
          </a:p>
        </p:txBody>
      </p:sp>
      <p:sp>
        <p:nvSpPr>
          <p:cNvPr id="14" name="Freeform 11">
            <a:extLst>
              <a:ext uri="{FF2B5EF4-FFF2-40B4-BE49-F238E27FC236}">
                <a16:creationId xmlns:a16="http://schemas.microsoft.com/office/drawing/2014/main" id="{5BAFE5D0-C0A7-4C07-B852-6F0A7CF2AD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nl-NL"/>
          </a:p>
        </p:txBody>
      </p:sp>
      <p:sp>
        <p:nvSpPr>
          <p:cNvPr id="3" name="Content Placeholder 2"/>
          <p:cNvSpPr>
            <a:spLocks/>
          </p:cNvSpPr>
          <p:nvPr/>
        </p:nvSpPr>
        <p:spPr>
          <a:xfrm>
            <a:off x="1584337" y="1936047"/>
            <a:ext cx="9923557" cy="4921953"/>
          </a:xfrm>
          <a:prstGeom prst="rect">
            <a:avLst/>
          </a:prstGeom>
        </p:spPr>
        <p:txBody>
          <a:bodyPr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1600" dirty="0"/>
              <a:t>Identify mobile devices to enable device-type based risk segmentation.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1600" dirty="0"/>
              <a:t>Used model_type and OS attribute.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1600" dirty="0"/>
              <a:t>Mobile Device distribution and it’s relationship with Risk Level </a:t>
            </a:r>
          </a:p>
          <a:p>
            <a:pPr>
              <a:spcAft>
                <a:spcPts val="600"/>
              </a:spcAft>
            </a:pPr>
            <a:endParaRPr lang="en-IN" sz="1600" dirty="0"/>
          </a:p>
          <a:p>
            <a:pPr>
              <a:spcAft>
                <a:spcPts val="600"/>
              </a:spcAft>
            </a:pPr>
            <a:endParaRPr lang="en-IN" sz="1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3326D8-C7A7-E329-7827-CDCCCBA7E4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4248" y="3031519"/>
            <a:ext cx="3657600" cy="36576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B443D29-9CEC-7244-FC8A-8F0DB8ECEC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7834" y="3031519"/>
            <a:ext cx="3657600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0133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2ED0803-0133-49C2-9858-E132FF173A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4896" y="624110"/>
            <a:ext cx="9388217" cy="1280890"/>
          </a:xfrm>
        </p:spPr>
        <p:txBody>
          <a:bodyPr>
            <a:normAutofit/>
          </a:bodyPr>
          <a:lstStyle/>
          <a:p>
            <a:r>
              <a:rPr lang="en-IN" sz="3200" dirty="0">
                <a:latin typeface="+mn-lt"/>
              </a:rPr>
              <a:t>Data Quality Assessment – Cross-field consistency check 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379F6D6-AB42-424F-9B81-E57F502B6A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l-NL"/>
          </a:p>
        </p:txBody>
      </p:sp>
      <p:sp>
        <p:nvSpPr>
          <p:cNvPr id="14" name="Freeform 11">
            <a:extLst>
              <a:ext uri="{FF2B5EF4-FFF2-40B4-BE49-F238E27FC236}">
                <a16:creationId xmlns:a16="http://schemas.microsoft.com/office/drawing/2014/main" id="{5BAFE5D0-C0A7-4C07-B852-6F0A7CF2AD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nl-NL"/>
          </a:p>
        </p:txBody>
      </p:sp>
      <p:sp>
        <p:nvSpPr>
          <p:cNvPr id="3" name="Content Placeholder 2"/>
          <p:cNvSpPr>
            <a:spLocks/>
          </p:cNvSpPr>
          <p:nvPr/>
        </p:nvSpPr>
        <p:spPr>
          <a:xfrm>
            <a:off x="1584337" y="1936047"/>
            <a:ext cx="9923557" cy="4921953"/>
          </a:xfrm>
          <a:prstGeom prst="rect">
            <a:avLst/>
          </a:prstGeom>
        </p:spPr>
        <p:txBody>
          <a:bodyPr/>
          <a:lstStyle/>
          <a:p>
            <a:r>
              <a:rPr lang="en-GB" sz="1600" dirty="0"/>
              <a:t>Each vendor is expected to operate with specific set of OS families. Any deviation is a mismatch. A rule-based validation was implemented to identify inconsistencies between a device’s </a:t>
            </a:r>
            <a:r>
              <a:rPr lang="en-GB" sz="1600" b="1" dirty="0"/>
              <a:t>Operating System (OS)</a:t>
            </a:r>
            <a:r>
              <a:rPr lang="en-GB" sz="1600" dirty="0"/>
              <a:t> and its </a:t>
            </a:r>
            <a:r>
              <a:rPr lang="en-GB" sz="1600" b="1" dirty="0"/>
              <a:t>Vendor/Model</a:t>
            </a:r>
            <a:r>
              <a:rPr lang="en-GB" sz="1600" dirty="0"/>
              <a:t>.</a:t>
            </a:r>
          </a:p>
          <a:p>
            <a:endParaRPr lang="en-GB" sz="1600" b="1" dirty="0"/>
          </a:p>
          <a:p>
            <a:r>
              <a:rPr lang="en-GB" sz="1600" dirty="0"/>
              <a:t>Example Rules: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1600" b="1" dirty="0"/>
              <a:t> Apple devices</a:t>
            </a:r>
            <a:r>
              <a:rPr lang="en-GB" sz="1600" dirty="0"/>
              <a:t> → should run </a:t>
            </a:r>
            <a:r>
              <a:rPr lang="en-GB" sz="1600" i="1" dirty="0"/>
              <a:t>iOS / macOS</a:t>
            </a:r>
            <a:r>
              <a:rPr lang="en-GB" sz="1600" dirty="0"/>
              <a:t>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1600" b="1" dirty="0"/>
              <a:t> Samsung devices</a:t>
            </a:r>
            <a:r>
              <a:rPr lang="en-GB" sz="1600" dirty="0"/>
              <a:t> → should run </a:t>
            </a:r>
            <a:r>
              <a:rPr lang="en-GB" sz="1600" i="1" dirty="0"/>
              <a:t>Android</a:t>
            </a:r>
            <a:r>
              <a:rPr lang="en-GB" sz="1600" dirty="0"/>
              <a:t>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1600" b="1" dirty="0"/>
              <a:t> Cisco devices</a:t>
            </a:r>
            <a:r>
              <a:rPr lang="en-GB" sz="1600" dirty="0"/>
              <a:t> → should run </a:t>
            </a:r>
            <a:r>
              <a:rPr lang="en-GB" sz="1600" i="1" dirty="0"/>
              <a:t>Cisco IOS / </a:t>
            </a:r>
            <a:r>
              <a:rPr lang="en-GB" sz="1600" i="1" dirty="0" err="1"/>
              <a:t>AireOS</a:t>
            </a:r>
            <a:r>
              <a:rPr lang="en-GB" sz="1600" dirty="0"/>
              <a:t>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1600" b="1" dirty="0"/>
              <a:t> Embedded/IoT devices</a:t>
            </a:r>
            <a:r>
              <a:rPr lang="en-GB" sz="1600" dirty="0"/>
              <a:t> → should run </a:t>
            </a:r>
            <a:r>
              <a:rPr lang="en-GB" sz="1600" i="1" dirty="0"/>
              <a:t>Firmware / VxWorks / Embedded OS</a:t>
            </a:r>
            <a:endParaRPr lang="en-GB" sz="1600" dirty="0"/>
          </a:p>
          <a:p>
            <a:r>
              <a:rPr lang="en-GB" sz="1600" dirty="0"/>
              <a:t>Output: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dirty="0"/>
              <a:t>Binary Flag :- True(mismatch Detected)/False(Valid Record)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dirty="0"/>
              <a:t>Error Reason :- Explains the mismatch</a:t>
            </a:r>
          </a:p>
          <a:p>
            <a:pPr lvl="1"/>
            <a:endParaRPr lang="en-GB" sz="1600" dirty="0"/>
          </a:p>
          <a:p>
            <a:pPr lvl="1"/>
            <a:r>
              <a:rPr lang="en-GB" sz="1600" dirty="0"/>
              <a:t>      	</a:t>
            </a:r>
          </a:p>
          <a:p>
            <a:endParaRPr lang="en-GB" sz="1600" dirty="0"/>
          </a:p>
          <a:p>
            <a:pPr>
              <a:spcAft>
                <a:spcPts val="600"/>
              </a:spcAft>
            </a:pPr>
            <a:endParaRPr lang="en-IN" sz="1600" i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CE17EC6-33A2-AAA8-2A7F-47E219EB34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8188" y="5185063"/>
            <a:ext cx="9949706" cy="936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7396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2ED0803-0133-49C2-9858-E132FF173A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4897" y="624110"/>
            <a:ext cx="9712998" cy="1280890"/>
          </a:xfrm>
        </p:spPr>
        <p:txBody>
          <a:bodyPr>
            <a:normAutofit/>
          </a:bodyPr>
          <a:lstStyle/>
          <a:p>
            <a:r>
              <a:rPr lang="en-IN" sz="3200" dirty="0">
                <a:latin typeface="+mn-lt"/>
              </a:rPr>
              <a:t>Data Quality Assessment – Cross-field consistency check ( cont..) 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379F6D6-AB42-424F-9B81-E57F502B6A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l-NL"/>
          </a:p>
        </p:txBody>
      </p:sp>
      <p:sp>
        <p:nvSpPr>
          <p:cNvPr id="14" name="Freeform 11">
            <a:extLst>
              <a:ext uri="{FF2B5EF4-FFF2-40B4-BE49-F238E27FC236}">
                <a16:creationId xmlns:a16="http://schemas.microsoft.com/office/drawing/2014/main" id="{5BAFE5D0-C0A7-4C07-B852-6F0A7CF2AD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nl-NL"/>
          </a:p>
        </p:txBody>
      </p:sp>
      <p:sp>
        <p:nvSpPr>
          <p:cNvPr id="3" name="Content Placeholder 2"/>
          <p:cNvSpPr>
            <a:spLocks/>
          </p:cNvSpPr>
          <p:nvPr/>
        </p:nvSpPr>
        <p:spPr>
          <a:xfrm>
            <a:off x="1584337" y="1936047"/>
            <a:ext cx="9923557" cy="4921953"/>
          </a:xfrm>
          <a:prstGeom prst="rect">
            <a:avLst/>
          </a:prstGeom>
        </p:spPr>
        <p:txBody>
          <a:bodyPr/>
          <a:lstStyle/>
          <a:p>
            <a:r>
              <a:rPr lang="en-GB" sz="1600" b="1" dirty="0"/>
              <a:t>Function–Model Mismatch Detection</a:t>
            </a:r>
          </a:p>
          <a:p>
            <a:endParaRPr lang="en-GB" sz="1600" b="1" dirty="0"/>
          </a:p>
          <a:p>
            <a:r>
              <a:rPr lang="en-GB" sz="1600" dirty="0"/>
              <a:t>Example Rules: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b="1" dirty="0"/>
              <a:t>Computer / Workstation</a:t>
            </a:r>
            <a:r>
              <a:rPr lang="en-GB" sz="1600" dirty="0"/>
              <a:t> → should be devices like </a:t>
            </a:r>
            <a:r>
              <a:rPr lang="en-GB" sz="1600" i="1" dirty="0"/>
              <a:t>Dell, HP, MacBook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b="1" dirty="0"/>
              <a:t>Mobile Devices (Smartphone/Tablet)</a:t>
            </a:r>
            <a:r>
              <a:rPr lang="en-GB" sz="1600" dirty="0"/>
              <a:t> → should be </a:t>
            </a:r>
            <a:r>
              <a:rPr lang="en-GB" sz="1600" i="1" dirty="0"/>
              <a:t>iPhone, Samsung Galaxy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b="1" dirty="0"/>
              <a:t>Network Devices (Router/Switch/Firewall)</a:t>
            </a:r>
            <a:r>
              <a:rPr lang="en-GB" sz="1600" dirty="0"/>
              <a:t> → should be </a:t>
            </a:r>
            <a:r>
              <a:rPr lang="en-GB" sz="1600" i="1" dirty="0"/>
              <a:t>Cisco, Aruba, Juniper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b="1" dirty="0"/>
              <a:t>IP Phones / VoIP Devices</a:t>
            </a:r>
            <a:r>
              <a:rPr lang="en-GB" sz="1600" dirty="0"/>
              <a:t> → should be </a:t>
            </a:r>
            <a:r>
              <a:rPr lang="en-GB" sz="1600" i="1" dirty="0"/>
              <a:t>Cisco IP Phone, Polycom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b="1" dirty="0"/>
              <a:t>Printers</a:t>
            </a:r>
            <a:r>
              <a:rPr lang="en-GB" sz="1600" dirty="0"/>
              <a:t> → should be </a:t>
            </a:r>
            <a:r>
              <a:rPr lang="en-GB" sz="1600" i="1" dirty="0"/>
              <a:t>HP Printer, Xerox, Ricoh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b="1" dirty="0"/>
              <a:t>Cameras / Surveillance</a:t>
            </a:r>
            <a:r>
              <a:rPr lang="en-GB" sz="1600" dirty="0"/>
              <a:t> → should be </a:t>
            </a:r>
            <a:r>
              <a:rPr lang="en-GB" sz="1600" i="1" dirty="0"/>
              <a:t>Axis, Hikvision, Sony cameras</a:t>
            </a:r>
            <a:endParaRPr lang="en-GB" sz="1600" dirty="0"/>
          </a:p>
          <a:p>
            <a:endParaRPr lang="en-GB" sz="1600" dirty="0"/>
          </a:p>
          <a:p>
            <a:r>
              <a:rPr lang="en-GB" sz="1600" dirty="0"/>
              <a:t>Output: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dirty="0"/>
              <a:t>Binary Flag :- True(mismatch Detected)/False(Valid Record)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dirty="0"/>
              <a:t>Error Reason :- Explains the mismatch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sz="1600" dirty="0"/>
          </a:p>
          <a:p>
            <a:pPr lvl="1"/>
            <a:endParaRPr lang="en-GB" sz="1600" dirty="0"/>
          </a:p>
          <a:p>
            <a:pPr lvl="1"/>
            <a:r>
              <a:rPr lang="en-GB" sz="1600" dirty="0"/>
              <a:t>      	</a:t>
            </a:r>
          </a:p>
          <a:p>
            <a:endParaRPr lang="en-GB" sz="1600" dirty="0"/>
          </a:p>
          <a:p>
            <a:pPr>
              <a:spcAft>
                <a:spcPts val="600"/>
              </a:spcAft>
            </a:pPr>
            <a:endParaRPr lang="en-IN" sz="1600" i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68D7DA1-4A97-AB26-2EC6-E7620AE27F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3456" y="5415440"/>
            <a:ext cx="9712999" cy="1027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20167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2ED0803-0133-49C2-9858-E132FF173A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4897" y="624110"/>
            <a:ext cx="9712998" cy="1280890"/>
          </a:xfrm>
        </p:spPr>
        <p:txBody>
          <a:bodyPr>
            <a:normAutofit/>
          </a:bodyPr>
          <a:lstStyle/>
          <a:p>
            <a:r>
              <a:rPr lang="en-IN" sz="3200" dirty="0">
                <a:latin typeface="+mn-lt"/>
              </a:rPr>
              <a:t>Data Quality Assessment – Cross-field consistency check ( cont..) 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379F6D6-AB42-424F-9B81-E57F502B6A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l-NL"/>
          </a:p>
        </p:txBody>
      </p:sp>
      <p:sp>
        <p:nvSpPr>
          <p:cNvPr id="14" name="Freeform 11">
            <a:extLst>
              <a:ext uri="{FF2B5EF4-FFF2-40B4-BE49-F238E27FC236}">
                <a16:creationId xmlns:a16="http://schemas.microsoft.com/office/drawing/2014/main" id="{5BAFE5D0-C0A7-4C07-B852-6F0A7CF2AD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nl-NL"/>
          </a:p>
        </p:txBody>
      </p:sp>
      <p:sp>
        <p:nvSpPr>
          <p:cNvPr id="3" name="Content Placeholder 2"/>
          <p:cNvSpPr>
            <a:spLocks/>
          </p:cNvSpPr>
          <p:nvPr/>
        </p:nvSpPr>
        <p:spPr>
          <a:xfrm>
            <a:off x="1584337" y="1936047"/>
            <a:ext cx="9923557" cy="4921953"/>
          </a:xfrm>
          <a:prstGeom prst="rect">
            <a:avLst/>
          </a:prstGeom>
        </p:spPr>
        <p:txBody>
          <a:bodyPr/>
          <a:lstStyle/>
          <a:p>
            <a:r>
              <a:rPr lang="en-GB" sz="1600" b="1" dirty="0"/>
              <a:t>Category–Function Mismatch Detection</a:t>
            </a:r>
          </a:p>
          <a:p>
            <a:endParaRPr lang="en-GB" sz="1600" b="1" dirty="0"/>
          </a:p>
          <a:p>
            <a:r>
              <a:rPr lang="en-GB" sz="1600" dirty="0"/>
              <a:t>Example Rules: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b="1" dirty="0"/>
              <a:t>IT Category</a:t>
            </a:r>
            <a:r>
              <a:rPr lang="en-GB" sz="1600" dirty="0"/>
              <a:t> → should include </a:t>
            </a:r>
            <a:r>
              <a:rPr lang="en-GB" sz="1600" i="1" dirty="0"/>
              <a:t>Computer, Workstation, Laptop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b="1" dirty="0"/>
              <a:t>Network Category</a:t>
            </a:r>
            <a:r>
              <a:rPr lang="en-GB" sz="1600" dirty="0"/>
              <a:t> → should include </a:t>
            </a:r>
            <a:r>
              <a:rPr lang="en-GB" sz="1600" i="1" dirty="0"/>
              <a:t>Router, Switch, Firewall, Access Point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b="1" dirty="0"/>
              <a:t>IoT Category</a:t>
            </a:r>
            <a:r>
              <a:rPr lang="en-GB" sz="1600" dirty="0"/>
              <a:t> → should include </a:t>
            </a:r>
            <a:r>
              <a:rPr lang="en-GB" sz="1600" i="1" dirty="0"/>
              <a:t>Camera, Smart Devices, Sensors, Smart TV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b="1" dirty="0"/>
              <a:t>Medical Category</a:t>
            </a:r>
            <a:r>
              <a:rPr lang="en-GB" sz="1600" dirty="0"/>
              <a:t> → should include </a:t>
            </a:r>
            <a:r>
              <a:rPr lang="en-GB" sz="1600" i="1" dirty="0"/>
              <a:t>MRI, CT Scanner, Ultrasound, Patient Monitoring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b="1" dirty="0"/>
              <a:t>Unknown Category</a:t>
            </a:r>
            <a:r>
              <a:rPr lang="en-GB" sz="1600" dirty="0"/>
              <a:t> → should only be used when function is unclear</a:t>
            </a:r>
          </a:p>
          <a:p>
            <a:endParaRPr lang="en-GB" sz="1600" dirty="0"/>
          </a:p>
          <a:p>
            <a:r>
              <a:rPr lang="en-GB" sz="1600" dirty="0"/>
              <a:t>Output: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dirty="0"/>
              <a:t>Binary Flag :- True(mismatch Detected)/False(Valid Record)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dirty="0"/>
              <a:t>Error Reason :- Explains the mismatch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sz="1600" dirty="0"/>
          </a:p>
          <a:p>
            <a:pPr lvl="1"/>
            <a:endParaRPr lang="en-GB" sz="1600" dirty="0"/>
          </a:p>
          <a:p>
            <a:pPr lvl="1"/>
            <a:r>
              <a:rPr lang="en-GB" sz="1600" dirty="0"/>
              <a:t>      	</a:t>
            </a:r>
          </a:p>
          <a:p>
            <a:endParaRPr lang="en-GB" sz="1600" dirty="0"/>
          </a:p>
          <a:p>
            <a:pPr>
              <a:spcAft>
                <a:spcPts val="600"/>
              </a:spcAft>
            </a:pPr>
            <a:endParaRPr lang="en-IN" sz="1600" i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999C302-88FB-C5C7-2412-E37956736E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2440" y="5173074"/>
            <a:ext cx="8945223" cy="1133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54998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2ED0803-0133-49C2-9858-E132FF173A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4897" y="624110"/>
            <a:ext cx="9712998" cy="1280890"/>
          </a:xfrm>
        </p:spPr>
        <p:txBody>
          <a:bodyPr>
            <a:normAutofit/>
          </a:bodyPr>
          <a:lstStyle/>
          <a:p>
            <a:r>
              <a:rPr lang="en-IN" sz="3200" dirty="0">
                <a:latin typeface="+mn-lt"/>
              </a:rPr>
              <a:t>Data Quality Assessment – Cross-field consistency check ( cont..) 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379F6D6-AB42-424F-9B81-E57F502B6A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l-NL"/>
          </a:p>
        </p:txBody>
      </p:sp>
      <p:sp>
        <p:nvSpPr>
          <p:cNvPr id="14" name="Freeform 11">
            <a:extLst>
              <a:ext uri="{FF2B5EF4-FFF2-40B4-BE49-F238E27FC236}">
                <a16:creationId xmlns:a16="http://schemas.microsoft.com/office/drawing/2014/main" id="{5BAFE5D0-C0A7-4C07-B852-6F0A7CF2AD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nl-NL"/>
          </a:p>
        </p:txBody>
      </p:sp>
      <p:sp>
        <p:nvSpPr>
          <p:cNvPr id="3" name="Content Placeholder 2"/>
          <p:cNvSpPr>
            <a:spLocks/>
          </p:cNvSpPr>
          <p:nvPr/>
        </p:nvSpPr>
        <p:spPr>
          <a:xfrm>
            <a:off x="1584337" y="1936047"/>
            <a:ext cx="9923557" cy="4921953"/>
          </a:xfrm>
          <a:prstGeom prst="rect">
            <a:avLst/>
          </a:prstGeom>
        </p:spPr>
        <p:txBody>
          <a:bodyPr/>
          <a:lstStyle/>
          <a:p>
            <a:r>
              <a:rPr lang="en-GB" sz="1600" b="1" dirty="0"/>
              <a:t>MAC OUI – Vendor Mismatch Detection</a:t>
            </a:r>
          </a:p>
          <a:p>
            <a:endParaRPr lang="en-GB" sz="1600" b="1" dirty="0"/>
          </a:p>
          <a:p>
            <a:r>
              <a:rPr lang="en-GB" sz="1600" dirty="0"/>
              <a:t>Example Rules: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b="1" dirty="0"/>
              <a:t>Apple OUI </a:t>
            </a:r>
            <a:r>
              <a:rPr lang="en-GB" sz="1600" dirty="0"/>
              <a:t>→ must map to Apple Devices.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b="1" dirty="0"/>
              <a:t>Cisco OUI</a:t>
            </a:r>
            <a:r>
              <a:rPr lang="en-GB" sz="1600" dirty="0"/>
              <a:t> → must map to Cisco networking equipment</a:t>
            </a:r>
            <a:endParaRPr lang="en-GB" sz="1600" i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b="1" dirty="0"/>
              <a:t>HP/Dell OUI</a:t>
            </a:r>
            <a:r>
              <a:rPr lang="en-GB" sz="1600" dirty="0"/>
              <a:t> → map to corresponding enterprise hardware. </a:t>
            </a:r>
            <a:endParaRPr lang="en-GB" sz="1600" i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b="1" dirty="0"/>
              <a:t>VMware OUI </a:t>
            </a:r>
            <a:r>
              <a:rPr lang="en-GB" sz="1600" dirty="0"/>
              <a:t> → map to virtualised infrastructure</a:t>
            </a:r>
            <a:endParaRPr lang="en-GB" sz="1600" i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b="1" dirty="0"/>
              <a:t>Network vendors(Aruba, Juniper, Netgear)</a:t>
            </a:r>
            <a:r>
              <a:rPr lang="en-GB" sz="1600" dirty="0"/>
              <a:t> → match networking devices.</a:t>
            </a:r>
          </a:p>
          <a:p>
            <a:endParaRPr lang="en-GB" sz="1600" dirty="0"/>
          </a:p>
          <a:p>
            <a:r>
              <a:rPr lang="en-GB" sz="1600" dirty="0"/>
              <a:t>Output: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dirty="0"/>
              <a:t>Binary Flag :- True(mismatch Detected)/False(Valid Record)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dirty="0"/>
              <a:t>Error Reason :- Explains the mismatch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sz="1600" dirty="0"/>
          </a:p>
          <a:p>
            <a:pPr lvl="1"/>
            <a:endParaRPr lang="en-GB" sz="1600" dirty="0"/>
          </a:p>
          <a:p>
            <a:pPr lvl="1"/>
            <a:r>
              <a:rPr lang="en-GB" sz="1600" dirty="0"/>
              <a:t>      	</a:t>
            </a:r>
          </a:p>
          <a:p>
            <a:endParaRPr lang="en-GB" sz="1600" dirty="0"/>
          </a:p>
          <a:p>
            <a:pPr>
              <a:spcAft>
                <a:spcPts val="600"/>
              </a:spcAft>
            </a:pPr>
            <a:endParaRPr lang="en-IN" sz="1600" i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CF06F73-381A-F5B0-9B8E-1A09EBC1E7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6316" y="5115915"/>
            <a:ext cx="9354856" cy="1171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4706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2ED0803-0133-49C2-9858-E132FF173A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4897" y="624110"/>
            <a:ext cx="9712998" cy="1280890"/>
          </a:xfrm>
        </p:spPr>
        <p:txBody>
          <a:bodyPr>
            <a:normAutofit/>
          </a:bodyPr>
          <a:lstStyle/>
          <a:p>
            <a:r>
              <a:rPr lang="en-IN" sz="3200" dirty="0">
                <a:latin typeface="+mn-lt"/>
              </a:rPr>
              <a:t>Data Quality Assessment – Cross-field consistency check ( cont..) 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379F6D6-AB42-424F-9B81-E57F502B6A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l-NL"/>
          </a:p>
        </p:txBody>
      </p:sp>
      <p:sp>
        <p:nvSpPr>
          <p:cNvPr id="14" name="Freeform 11">
            <a:extLst>
              <a:ext uri="{FF2B5EF4-FFF2-40B4-BE49-F238E27FC236}">
                <a16:creationId xmlns:a16="http://schemas.microsoft.com/office/drawing/2014/main" id="{5BAFE5D0-C0A7-4C07-B852-6F0A7CF2AD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nl-NL"/>
          </a:p>
        </p:txBody>
      </p:sp>
      <p:sp>
        <p:nvSpPr>
          <p:cNvPr id="3" name="Content Placeholder 2"/>
          <p:cNvSpPr>
            <a:spLocks/>
          </p:cNvSpPr>
          <p:nvPr/>
        </p:nvSpPr>
        <p:spPr>
          <a:xfrm>
            <a:off x="1584337" y="1936047"/>
            <a:ext cx="9923557" cy="4921953"/>
          </a:xfrm>
          <a:prstGeom prst="rect">
            <a:avLst/>
          </a:prstGeom>
        </p:spPr>
        <p:txBody>
          <a:bodyPr/>
          <a:lstStyle/>
          <a:p>
            <a:r>
              <a:rPr lang="en-GB" sz="1600" b="1" dirty="0"/>
              <a:t>DHCP Vendor Class vs Vendor Mismatch Detection</a:t>
            </a:r>
          </a:p>
          <a:p>
            <a:endParaRPr lang="en-GB" sz="1600" b="1" dirty="0"/>
          </a:p>
          <a:p>
            <a:r>
              <a:rPr lang="en-GB" sz="1600" dirty="0"/>
              <a:t>Example Rules: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b="1" dirty="0"/>
              <a:t>Cisco IP Phone / AP strings</a:t>
            </a:r>
            <a:r>
              <a:rPr lang="en-GB" sz="1600" dirty="0"/>
              <a:t> → must map to Cisco.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b="1" dirty="0"/>
              <a:t>HP JetDirect / LaserJet</a:t>
            </a:r>
            <a:r>
              <a:rPr lang="en-GB" sz="1600" dirty="0"/>
              <a:t> → must map to HP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b="1" dirty="0"/>
              <a:t>ArubaAP / Sensor</a:t>
            </a:r>
            <a:r>
              <a:rPr lang="en-GB" sz="1600" dirty="0"/>
              <a:t> → must map to Aruba </a:t>
            </a:r>
            <a:endParaRPr lang="en-GB" sz="1600" i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b="1" dirty="0"/>
              <a:t>FortiWiFi / Fortinet strings</a:t>
            </a:r>
            <a:r>
              <a:rPr lang="en-GB" sz="1600" dirty="0"/>
              <a:t> → must map to Fortinet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b="1" dirty="0"/>
              <a:t>Android DHCP</a:t>
            </a:r>
            <a:r>
              <a:rPr lang="en-GB" sz="1600" dirty="0"/>
              <a:t> → typically Samsung / Android ecosystem.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b="1" dirty="0"/>
              <a:t>MSFT 5.0 / PXEClient</a:t>
            </a:r>
            <a:r>
              <a:rPr lang="en-GB" sz="1600" dirty="0"/>
              <a:t> → Microsoft / OS-level identifiers (not vendor)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b="1" dirty="0"/>
              <a:t>DHCPD / UDHCP / Linux strings</a:t>
            </a:r>
            <a:r>
              <a:rPr lang="en-GB" sz="1600" dirty="0"/>
              <a:t> → treated as non-vendor system identifiers</a:t>
            </a:r>
          </a:p>
          <a:p>
            <a:r>
              <a:rPr lang="en-GB" sz="1600" dirty="0"/>
              <a:t>Output: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dirty="0"/>
              <a:t>Binary Flag :- True(mismatch Detected)/False(Valid Record)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dirty="0"/>
              <a:t>Error Reason :- Explains the mismatch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sz="1600" dirty="0"/>
          </a:p>
          <a:p>
            <a:pPr lvl="1"/>
            <a:endParaRPr lang="en-GB" sz="1600" dirty="0"/>
          </a:p>
          <a:p>
            <a:pPr lvl="1"/>
            <a:r>
              <a:rPr lang="en-GB" sz="1600" dirty="0"/>
              <a:t>      	</a:t>
            </a:r>
          </a:p>
          <a:p>
            <a:endParaRPr lang="en-GB" sz="1600" dirty="0"/>
          </a:p>
          <a:p>
            <a:pPr>
              <a:spcAft>
                <a:spcPts val="600"/>
              </a:spcAft>
            </a:pPr>
            <a:endParaRPr lang="en-IN" sz="1600" i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FF7C0CD-F3B6-0162-C9D0-D8B85331CD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8345" y="5512035"/>
            <a:ext cx="9607919" cy="1078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39621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2ED0803-0133-49C2-9858-E132FF173A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4897" y="624110"/>
            <a:ext cx="9712998" cy="1280890"/>
          </a:xfrm>
        </p:spPr>
        <p:txBody>
          <a:bodyPr>
            <a:noAutofit/>
          </a:bodyPr>
          <a:lstStyle/>
          <a:p>
            <a:r>
              <a:rPr lang="en-IN" sz="3200" dirty="0">
                <a:latin typeface="+mn-lt"/>
              </a:rPr>
              <a:t>Data Quality Assessment – Schema &amp; Format Validation </a:t>
            </a:r>
            <a:br>
              <a:rPr lang="en-IN" sz="3200" dirty="0">
                <a:latin typeface="+mn-lt"/>
              </a:rPr>
            </a:br>
            <a:r>
              <a:rPr lang="en-IN" sz="3200" dirty="0">
                <a:latin typeface="+mn-lt"/>
              </a:rPr>
              <a:t>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379F6D6-AB42-424F-9B81-E57F502B6A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l-NL"/>
          </a:p>
        </p:txBody>
      </p:sp>
      <p:sp>
        <p:nvSpPr>
          <p:cNvPr id="14" name="Freeform 11">
            <a:extLst>
              <a:ext uri="{FF2B5EF4-FFF2-40B4-BE49-F238E27FC236}">
                <a16:creationId xmlns:a16="http://schemas.microsoft.com/office/drawing/2014/main" id="{5BAFE5D0-C0A7-4C07-B852-6F0A7CF2AD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nl-NL"/>
          </a:p>
        </p:txBody>
      </p:sp>
      <p:sp>
        <p:nvSpPr>
          <p:cNvPr id="3" name="Content Placeholder 2"/>
          <p:cNvSpPr>
            <a:spLocks/>
          </p:cNvSpPr>
          <p:nvPr/>
        </p:nvSpPr>
        <p:spPr>
          <a:xfrm>
            <a:off x="1584337" y="1936047"/>
            <a:ext cx="9923557" cy="4921953"/>
          </a:xfrm>
          <a:prstGeom prst="rect">
            <a:avLst/>
          </a:prstGeom>
        </p:spPr>
        <p:txBody>
          <a:bodyPr/>
          <a:lstStyle/>
          <a:p>
            <a:r>
              <a:rPr lang="en-GB" sz="1600" b="1" dirty="0"/>
              <a:t>MAC Address Validation</a:t>
            </a:r>
          </a:p>
          <a:p>
            <a:endParaRPr lang="en-GB" sz="1600" b="1" dirty="0"/>
          </a:p>
          <a:p>
            <a:r>
              <a:rPr lang="en-GB" sz="1600" dirty="0"/>
              <a:t>MAC addresses must follow a strict 12-character hexadecimal format representing a unique hardware identifier. It must not be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1600" dirty="0"/>
              <a:t> All zeros (000000000000)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1600" dirty="0"/>
              <a:t> Broadcast-like patterns (ffffffffffff)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1600" dirty="0"/>
              <a:t> Synthetic/test identifiers (feedad*, deadbe*)</a:t>
            </a:r>
            <a:endParaRPr lang="en-GB" sz="1600" b="1" dirty="0"/>
          </a:p>
          <a:p>
            <a:endParaRPr lang="en-GB" sz="1600" b="1" dirty="0"/>
          </a:p>
          <a:p>
            <a:pPr lvl="1"/>
            <a:endParaRPr lang="en-GB" sz="1600" dirty="0"/>
          </a:p>
          <a:p>
            <a:pPr lvl="1"/>
            <a:endParaRPr lang="en-GB" sz="1600" dirty="0"/>
          </a:p>
          <a:p>
            <a:pPr lvl="1"/>
            <a:r>
              <a:rPr lang="en-GB" sz="1600" dirty="0"/>
              <a:t>      	</a:t>
            </a:r>
          </a:p>
          <a:p>
            <a:endParaRPr lang="en-GB" sz="1600" dirty="0"/>
          </a:p>
          <a:p>
            <a:pPr>
              <a:spcAft>
                <a:spcPts val="600"/>
              </a:spcAft>
            </a:pPr>
            <a:r>
              <a:rPr lang="en-IN" sz="1600" b="1" dirty="0"/>
              <a:t>Duplicate MAC Detection</a:t>
            </a:r>
          </a:p>
          <a:p>
            <a:pPr>
              <a:spcAft>
                <a:spcPts val="600"/>
              </a:spcAft>
            </a:pPr>
            <a:r>
              <a:rPr lang="en-GB" sz="1600" dirty="0"/>
              <a:t>Each device is expected to have a unique MAC address representing its hardware identity.</a:t>
            </a:r>
            <a:br>
              <a:rPr lang="en-GB" sz="1600" dirty="0"/>
            </a:br>
            <a:r>
              <a:rPr lang="en-GB" sz="1600" dirty="0"/>
              <a:t>For 14 records , we have detected duplicate MAC.</a:t>
            </a:r>
          </a:p>
          <a:p>
            <a:pPr>
              <a:spcAft>
                <a:spcPts val="600"/>
              </a:spcAft>
            </a:pPr>
            <a:endParaRPr lang="en-IN" sz="16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969841-A322-BB47-268E-B406715770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4921" y="3841047"/>
            <a:ext cx="5538839" cy="8749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10AAD2C-7EFB-BB39-AB04-9CEB002AD8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4921" y="5734663"/>
            <a:ext cx="5538839" cy="793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475748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2ED0803-0133-49C2-9858-E132FF173A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4897" y="624110"/>
            <a:ext cx="9712998" cy="1280890"/>
          </a:xfrm>
        </p:spPr>
        <p:txBody>
          <a:bodyPr>
            <a:normAutofit fontScale="90000"/>
          </a:bodyPr>
          <a:lstStyle/>
          <a:p>
            <a:r>
              <a:rPr lang="en-IN" dirty="0">
                <a:latin typeface="+mn-lt"/>
              </a:rPr>
              <a:t>Data Quality Assessment – Schema &amp; Format Validation ( cont..)</a:t>
            </a:r>
            <a:br>
              <a:rPr lang="en-IN" dirty="0"/>
            </a:br>
            <a:r>
              <a:rPr lang="en-IN" dirty="0"/>
              <a:t>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379F6D6-AB42-424F-9B81-E57F502B6A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l-NL"/>
          </a:p>
        </p:txBody>
      </p:sp>
      <p:sp>
        <p:nvSpPr>
          <p:cNvPr id="14" name="Freeform 11">
            <a:extLst>
              <a:ext uri="{FF2B5EF4-FFF2-40B4-BE49-F238E27FC236}">
                <a16:creationId xmlns:a16="http://schemas.microsoft.com/office/drawing/2014/main" id="{5BAFE5D0-C0A7-4C07-B852-6F0A7CF2AD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nl-NL"/>
          </a:p>
        </p:txBody>
      </p:sp>
      <p:sp>
        <p:nvSpPr>
          <p:cNvPr id="3" name="Content Placeholder 2"/>
          <p:cNvSpPr>
            <a:spLocks/>
          </p:cNvSpPr>
          <p:nvPr/>
        </p:nvSpPr>
        <p:spPr>
          <a:xfrm>
            <a:off x="1584337" y="1936047"/>
            <a:ext cx="9923557" cy="4921953"/>
          </a:xfrm>
          <a:prstGeom prst="rect">
            <a:avLst/>
          </a:prstGeom>
        </p:spPr>
        <p:txBody>
          <a:bodyPr/>
          <a:lstStyle/>
          <a:p>
            <a:r>
              <a:rPr lang="en-GB" sz="1600" b="1" dirty="0"/>
              <a:t>OS Format Validation</a:t>
            </a:r>
          </a:p>
          <a:p>
            <a:endParaRPr lang="en-GB" sz="1600" b="1" dirty="0"/>
          </a:p>
          <a:p>
            <a:r>
              <a:rPr lang="en-GB" sz="1600" dirty="0"/>
              <a:t>The following rule-based checks were applied:	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dirty="0"/>
              <a:t>Missing or null OS values.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dirty="0"/>
              <a:t>Generic placeholders (unknown, </a:t>
            </a:r>
            <a:r>
              <a:rPr lang="en-GB" sz="1600" dirty="0" err="1"/>
              <a:t>na</a:t>
            </a:r>
            <a:r>
              <a:rPr lang="en-GB" sz="1600" dirty="0"/>
              <a:t>, none)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dirty="0"/>
              <a:t>Network artifacts (PXE, DHCP, boot clients)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dirty="0"/>
              <a:t>Corrupted or noisy strings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dirty="0"/>
              <a:t>Misclassified vendor or DHCP values </a:t>
            </a:r>
          </a:p>
          <a:p>
            <a:pPr lvl="1"/>
            <a:endParaRPr lang="en-GB" sz="1600" dirty="0"/>
          </a:p>
          <a:p>
            <a:endParaRPr lang="en-GB" sz="1600" b="1" dirty="0"/>
          </a:p>
          <a:p>
            <a:endParaRPr lang="en-GB" sz="1600" b="1" dirty="0"/>
          </a:p>
          <a:p>
            <a:endParaRPr lang="en-GB" sz="1600" b="1" dirty="0"/>
          </a:p>
          <a:p>
            <a:endParaRPr lang="en-GB" sz="1600" b="1" dirty="0"/>
          </a:p>
          <a:p>
            <a:r>
              <a:rPr lang="en-GB" sz="1600" b="1" dirty="0"/>
              <a:t>Missing Value Detection</a:t>
            </a:r>
          </a:p>
          <a:p>
            <a:endParaRPr lang="en-GB" sz="1600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7E4AF89-3F70-7C63-4F03-990E6D6172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4337" y="3963560"/>
            <a:ext cx="4511663" cy="99808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660E852-B0ED-3A28-404C-F222E2A128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2051" y="5404434"/>
            <a:ext cx="2085821" cy="1385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351134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2ED0803-0133-49C2-9858-E132FF173A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4897" y="624110"/>
            <a:ext cx="9712998" cy="1280890"/>
          </a:xfrm>
        </p:spPr>
        <p:txBody>
          <a:bodyPr>
            <a:normAutofit fontScale="90000"/>
          </a:bodyPr>
          <a:lstStyle/>
          <a:p>
            <a:r>
              <a:rPr lang="en-IN" dirty="0">
                <a:latin typeface="+mn-lt"/>
              </a:rPr>
              <a:t>Data Quality Assessment - Device Identity &amp; Uniqueness Checks</a:t>
            </a:r>
            <a:br>
              <a:rPr lang="en-IN" dirty="0">
                <a:latin typeface="+mn-lt"/>
              </a:rPr>
            </a:br>
            <a:r>
              <a:rPr lang="en-IN" dirty="0">
                <a:latin typeface="+mn-lt"/>
              </a:rPr>
              <a:t>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379F6D6-AB42-424F-9B81-E57F502B6A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l-NL"/>
          </a:p>
        </p:txBody>
      </p:sp>
      <p:sp>
        <p:nvSpPr>
          <p:cNvPr id="14" name="Freeform 11">
            <a:extLst>
              <a:ext uri="{FF2B5EF4-FFF2-40B4-BE49-F238E27FC236}">
                <a16:creationId xmlns:a16="http://schemas.microsoft.com/office/drawing/2014/main" id="{5BAFE5D0-C0A7-4C07-B852-6F0A7CF2AD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nl-NL"/>
          </a:p>
        </p:txBody>
      </p:sp>
      <p:sp>
        <p:nvSpPr>
          <p:cNvPr id="3" name="Content Placeholder 2"/>
          <p:cNvSpPr>
            <a:spLocks/>
          </p:cNvSpPr>
          <p:nvPr/>
        </p:nvSpPr>
        <p:spPr>
          <a:xfrm>
            <a:off x="1584337" y="1936047"/>
            <a:ext cx="9923557" cy="4921953"/>
          </a:xfrm>
          <a:prstGeom prst="rect">
            <a:avLst/>
          </a:prstGeom>
        </p:spPr>
        <p:txBody>
          <a:bodyPr/>
          <a:lstStyle/>
          <a:p>
            <a:r>
              <a:rPr lang="en-GB" sz="1600" b="1" dirty="0"/>
              <a:t>Same MAC with conflicting identity</a:t>
            </a:r>
          </a:p>
          <a:p>
            <a:endParaRPr lang="en-GB" sz="1600" b="1" dirty="0"/>
          </a:p>
          <a:p>
            <a:r>
              <a:rPr lang="en-GB" sz="1600" dirty="0"/>
              <a:t>The system groups records by MAC Address and checks variability in: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1600" dirty="0"/>
              <a:t> Operating System (OS)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1600" dirty="0"/>
              <a:t> Vendor and Model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1600" dirty="0"/>
              <a:t> Device Function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1600" dirty="0"/>
              <a:t> Category </a:t>
            </a:r>
          </a:p>
          <a:p>
            <a:r>
              <a:rPr lang="en-GB" sz="1600" dirty="0"/>
              <a:t>If more than one unique value exists in any attribute, it is flagged as a conflict.</a:t>
            </a:r>
            <a:br>
              <a:rPr lang="en-GB" sz="1600" dirty="0"/>
            </a:br>
            <a:r>
              <a:rPr lang="en-GB" sz="1600" dirty="0"/>
              <a:t>There are only 4 assets where Identity conflict detected.</a:t>
            </a:r>
          </a:p>
          <a:p>
            <a:endParaRPr lang="en-GB" sz="1600" dirty="0"/>
          </a:p>
          <a:p>
            <a:r>
              <a:rPr lang="en-GB" sz="1600" b="1" dirty="0"/>
              <a:t>Duplicate Fingerprint Analysis</a:t>
            </a:r>
          </a:p>
          <a:p>
            <a:endParaRPr lang="en-GB" sz="1600" dirty="0"/>
          </a:p>
          <a:p>
            <a:r>
              <a:rPr lang="en-GB" sz="1600" dirty="0"/>
              <a:t>The fingerprint is based on DHCP Options Fingerprint, DHCP Request Fingerprint, DHCP Vendor Class and DHCP Device Class. This is not unique per device it is based on OS-level patterns, Device-type templates, Vendor DHCP profiles</a:t>
            </a:r>
          </a:p>
          <a:p>
            <a:endParaRPr lang="en-GB" sz="1600" dirty="0"/>
          </a:p>
          <a:p>
            <a:r>
              <a:rPr lang="en-GB" sz="1600" dirty="0"/>
              <a:t>88,195 devices share common DHCP behaviour patterns.</a:t>
            </a:r>
          </a:p>
          <a:p>
            <a:endParaRPr lang="en-GB" sz="1600" b="1" dirty="0"/>
          </a:p>
          <a:p>
            <a:pPr lvl="1"/>
            <a:endParaRPr lang="en-GB" sz="1600" dirty="0"/>
          </a:p>
          <a:p>
            <a:endParaRPr lang="en-GB" sz="1600" b="1" dirty="0"/>
          </a:p>
          <a:p>
            <a:endParaRPr lang="en-GB" sz="1600" b="1" dirty="0"/>
          </a:p>
          <a:p>
            <a:endParaRPr lang="en-GB" sz="1600" b="1" dirty="0"/>
          </a:p>
          <a:p>
            <a:endParaRPr lang="en-GB" sz="1600" b="1" dirty="0"/>
          </a:p>
          <a:p>
            <a:endParaRPr lang="en-GB" sz="1600" b="1" dirty="0"/>
          </a:p>
        </p:txBody>
      </p:sp>
    </p:spTree>
    <p:extLst>
      <p:ext uri="{BB962C8B-B14F-4D97-AF65-F5344CB8AC3E}">
        <p14:creationId xmlns:p14="http://schemas.microsoft.com/office/powerpoint/2010/main" val="78217211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2ED0803-0133-49C2-9858-E132FF173A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4897" y="624110"/>
            <a:ext cx="9712998" cy="1280890"/>
          </a:xfrm>
        </p:spPr>
        <p:txBody>
          <a:bodyPr>
            <a:normAutofit fontScale="90000"/>
          </a:bodyPr>
          <a:lstStyle/>
          <a:p>
            <a:r>
              <a:rPr lang="en-IN" dirty="0">
                <a:latin typeface="+mn-lt"/>
              </a:rPr>
              <a:t>Data Quality Assessment Device Identity &amp; Uniqueness Checks (cont..)</a:t>
            </a:r>
            <a:br>
              <a:rPr lang="en-IN" dirty="0">
                <a:latin typeface="+mn-lt"/>
              </a:rPr>
            </a:br>
            <a:r>
              <a:rPr lang="en-IN" dirty="0">
                <a:latin typeface="+mn-lt"/>
              </a:rPr>
              <a:t>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379F6D6-AB42-424F-9B81-E57F502B6A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l-NL"/>
          </a:p>
        </p:txBody>
      </p:sp>
      <p:sp>
        <p:nvSpPr>
          <p:cNvPr id="14" name="Freeform 11">
            <a:extLst>
              <a:ext uri="{FF2B5EF4-FFF2-40B4-BE49-F238E27FC236}">
                <a16:creationId xmlns:a16="http://schemas.microsoft.com/office/drawing/2014/main" id="{5BAFE5D0-C0A7-4C07-B852-6F0A7CF2AD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nl-NL"/>
          </a:p>
        </p:txBody>
      </p:sp>
      <p:sp>
        <p:nvSpPr>
          <p:cNvPr id="3" name="Content Placeholder 2"/>
          <p:cNvSpPr>
            <a:spLocks/>
          </p:cNvSpPr>
          <p:nvPr/>
        </p:nvSpPr>
        <p:spPr>
          <a:xfrm>
            <a:off x="1584337" y="1936047"/>
            <a:ext cx="9923557" cy="4921953"/>
          </a:xfrm>
          <a:prstGeom prst="rect">
            <a:avLst/>
          </a:prstGeom>
        </p:spPr>
        <p:txBody>
          <a:bodyPr/>
          <a:lstStyle/>
          <a:p>
            <a:r>
              <a:rPr lang="en-GB" sz="1600" b="1" dirty="0"/>
              <a:t>Same MAC with conflicting identity</a:t>
            </a:r>
          </a:p>
          <a:p>
            <a:endParaRPr lang="en-GB" sz="1600" b="1" dirty="0"/>
          </a:p>
          <a:p>
            <a:r>
              <a:rPr lang="en-GB" sz="1600" dirty="0"/>
              <a:t>The system groups records by MAC Address and checks variability in: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1600" dirty="0"/>
              <a:t> Operating System (OS)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1600" dirty="0"/>
              <a:t> Vendor and Model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1600" dirty="0"/>
              <a:t> Device Function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1600" dirty="0"/>
              <a:t> Category </a:t>
            </a:r>
          </a:p>
          <a:p>
            <a:r>
              <a:rPr lang="en-GB" sz="1600" dirty="0"/>
              <a:t>If more than one unique value exists in any attribute, it is flagged as a conflict.</a:t>
            </a:r>
            <a:br>
              <a:rPr lang="en-GB" sz="1600" dirty="0"/>
            </a:br>
            <a:r>
              <a:rPr lang="en-GB" sz="1600" dirty="0"/>
              <a:t>There are only 4 assets where Identity conflict detected.</a:t>
            </a:r>
          </a:p>
          <a:p>
            <a:endParaRPr lang="en-GB" sz="1600" dirty="0"/>
          </a:p>
          <a:p>
            <a:r>
              <a:rPr lang="en-GB" sz="1600" b="1" dirty="0"/>
              <a:t>Duplicate Fingerprint Analysis</a:t>
            </a:r>
          </a:p>
          <a:p>
            <a:endParaRPr lang="en-GB" sz="1600" dirty="0"/>
          </a:p>
          <a:p>
            <a:r>
              <a:rPr lang="en-GB" sz="1600" dirty="0"/>
              <a:t>The fingerprint is based on DHCP Options Fingerprint, DHCP Request Fingerprint, DHCP Vendor Class and DHCP Device Class. This is not unique per device it is based on OS-level patterns, Device-type templates, Vendor DHCP profiles</a:t>
            </a:r>
          </a:p>
          <a:p>
            <a:endParaRPr lang="en-GB" sz="1600" dirty="0"/>
          </a:p>
          <a:p>
            <a:r>
              <a:rPr lang="en-GB" sz="1600" dirty="0"/>
              <a:t>88,195 devices share common DHCP behaviour patterns.</a:t>
            </a:r>
          </a:p>
          <a:p>
            <a:endParaRPr lang="en-GB" sz="1600" b="1" dirty="0"/>
          </a:p>
          <a:p>
            <a:pPr lvl="1"/>
            <a:endParaRPr lang="en-GB" sz="1600" dirty="0"/>
          </a:p>
          <a:p>
            <a:endParaRPr lang="en-GB" sz="1600" b="1" dirty="0"/>
          </a:p>
          <a:p>
            <a:endParaRPr lang="en-GB" sz="1600" b="1" dirty="0"/>
          </a:p>
          <a:p>
            <a:endParaRPr lang="en-GB" sz="1600" b="1" dirty="0"/>
          </a:p>
          <a:p>
            <a:endParaRPr lang="en-GB" sz="1600" b="1" dirty="0"/>
          </a:p>
          <a:p>
            <a:endParaRPr lang="en-GB" sz="1600" b="1" dirty="0"/>
          </a:p>
        </p:txBody>
      </p:sp>
    </p:spTree>
    <p:extLst>
      <p:ext uri="{BB962C8B-B14F-4D97-AF65-F5344CB8AC3E}">
        <p14:creationId xmlns:p14="http://schemas.microsoft.com/office/powerpoint/2010/main" val="300907377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2ED0803-0133-49C2-9858-E132FF173A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4897" y="624110"/>
            <a:ext cx="9712998" cy="1280890"/>
          </a:xfrm>
        </p:spPr>
        <p:txBody>
          <a:bodyPr>
            <a:normAutofit fontScale="90000"/>
          </a:bodyPr>
          <a:lstStyle/>
          <a:p>
            <a:r>
              <a:rPr lang="en-IN" dirty="0">
                <a:latin typeface="+mn-lt"/>
              </a:rPr>
              <a:t>Data Quality Assessment- DHCP Fingerprint Analysis</a:t>
            </a:r>
            <a:br>
              <a:rPr lang="en-IN" dirty="0">
                <a:latin typeface="+mn-lt"/>
              </a:rPr>
            </a:br>
            <a:r>
              <a:rPr lang="en-IN" dirty="0">
                <a:latin typeface="+mn-lt"/>
              </a:rPr>
              <a:t>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379F6D6-AB42-424F-9B81-E57F502B6A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l-NL"/>
          </a:p>
        </p:txBody>
      </p:sp>
      <p:sp>
        <p:nvSpPr>
          <p:cNvPr id="14" name="Freeform 11">
            <a:extLst>
              <a:ext uri="{FF2B5EF4-FFF2-40B4-BE49-F238E27FC236}">
                <a16:creationId xmlns:a16="http://schemas.microsoft.com/office/drawing/2014/main" id="{5BAFE5D0-C0A7-4C07-B852-6F0A7CF2AD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nl-NL"/>
          </a:p>
        </p:txBody>
      </p:sp>
      <p:sp>
        <p:nvSpPr>
          <p:cNvPr id="3" name="Content Placeholder 2"/>
          <p:cNvSpPr>
            <a:spLocks/>
          </p:cNvSpPr>
          <p:nvPr/>
        </p:nvSpPr>
        <p:spPr>
          <a:xfrm>
            <a:off x="1584337" y="1936047"/>
            <a:ext cx="9923557" cy="4921953"/>
          </a:xfrm>
          <a:prstGeom prst="rect">
            <a:avLst/>
          </a:prstGeom>
        </p:spPr>
        <p:txBody>
          <a:bodyPr/>
          <a:lstStyle/>
          <a:p>
            <a:r>
              <a:rPr lang="en-GB" sz="1600" b="1" dirty="0"/>
              <a:t>Top Fingerprint Clusters (DHCP Options Fingerprint, DHCP Request Fingerprint, DHCP Vendor Class, DHCP Device Class)</a:t>
            </a:r>
          </a:p>
          <a:p>
            <a:endParaRPr lang="en-GB" sz="1600" b="1" dirty="0"/>
          </a:p>
          <a:p>
            <a:r>
              <a:rPr lang="en-GB" sz="1600" dirty="0"/>
              <a:t>Devices were </a:t>
            </a:r>
            <a:r>
              <a:rPr lang="en-GB" sz="1600" dirty="0" err="1"/>
              <a:t>analyzed</a:t>
            </a:r>
            <a:r>
              <a:rPr lang="en-GB" sz="1600" dirty="0"/>
              <a:t> using DHCP-based fingerprints to identify patterns, detect anomalies, and assess data completeness.</a:t>
            </a:r>
            <a:endParaRPr lang="en-GB" sz="1600" b="1" dirty="0"/>
          </a:p>
          <a:p>
            <a:endParaRPr lang="en-GB" sz="1600" b="1" dirty="0"/>
          </a:p>
          <a:p>
            <a:endParaRPr lang="en-GB" sz="1600" b="1" dirty="0"/>
          </a:p>
          <a:p>
            <a:pPr lvl="1"/>
            <a:endParaRPr lang="en-GB" sz="1600" dirty="0"/>
          </a:p>
          <a:p>
            <a:endParaRPr lang="en-GB" sz="1600" b="1" dirty="0"/>
          </a:p>
          <a:p>
            <a:r>
              <a:rPr lang="en-GB" sz="1600" dirty="0"/>
              <a:t>There are 26030 records where the fingerprints are completely missing.</a:t>
            </a:r>
          </a:p>
          <a:p>
            <a:endParaRPr lang="en-GB" sz="1600" b="1" dirty="0"/>
          </a:p>
          <a:p>
            <a:endParaRPr lang="en-GB" sz="1600" b="1" dirty="0"/>
          </a:p>
          <a:p>
            <a:r>
              <a:rPr lang="en-GB" sz="1600" b="1" dirty="0"/>
              <a:t>DHCP Request Fingerprint Inconsistency</a:t>
            </a:r>
          </a:p>
          <a:p>
            <a:endParaRPr lang="en-GB" sz="1600" dirty="0"/>
          </a:p>
          <a:p>
            <a:pPr marL="285750" indent="-285750">
              <a:buFontTx/>
              <a:buChar char="-"/>
            </a:pPr>
            <a:r>
              <a:rPr lang="en-GB" sz="1600" dirty="0"/>
              <a:t>Same device (MAC) should have </a:t>
            </a:r>
            <a:r>
              <a:rPr lang="en-GB" sz="1600" b="1" dirty="0"/>
              <a:t>consistent DHCP Request Fingerprint. </a:t>
            </a:r>
            <a:r>
              <a:rPr lang="en-GB" sz="1600" dirty="0"/>
              <a:t>There are only 2 records with inconsistency.</a:t>
            </a:r>
          </a:p>
          <a:p>
            <a:endParaRPr lang="en-GB" sz="1600" dirty="0"/>
          </a:p>
          <a:p>
            <a:endParaRPr lang="en-GB" sz="1600" b="1" dirty="0"/>
          </a:p>
          <a:p>
            <a:endParaRPr lang="en-GB" sz="1600" b="1" dirty="0"/>
          </a:p>
          <a:p>
            <a:endParaRPr lang="en-GB" sz="1600" b="1" dirty="0"/>
          </a:p>
          <a:p>
            <a:endParaRPr lang="en-GB" sz="16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4273609-8069-7BA2-AD57-A06D4FDAD4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5036" y="3359076"/>
            <a:ext cx="4788783" cy="681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668652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2ED0803-0133-49C2-9858-E132FF173A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4897" y="624110"/>
            <a:ext cx="9712998" cy="1280890"/>
          </a:xfrm>
        </p:spPr>
        <p:txBody>
          <a:bodyPr>
            <a:normAutofit fontScale="90000"/>
          </a:bodyPr>
          <a:lstStyle/>
          <a:p>
            <a:r>
              <a:rPr lang="en-IN" dirty="0">
                <a:latin typeface="+mn-lt"/>
              </a:rPr>
              <a:t>Data Quality Assessment- DHCP Fingerprint Analysis ( cont..)</a:t>
            </a:r>
            <a:br>
              <a:rPr lang="en-IN" dirty="0">
                <a:latin typeface="+mn-lt"/>
              </a:rPr>
            </a:br>
            <a:r>
              <a:rPr lang="en-IN" dirty="0">
                <a:latin typeface="+mn-lt"/>
              </a:rPr>
              <a:t>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379F6D6-AB42-424F-9B81-E57F502B6A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l-NL"/>
          </a:p>
        </p:txBody>
      </p:sp>
      <p:sp>
        <p:nvSpPr>
          <p:cNvPr id="14" name="Freeform 11">
            <a:extLst>
              <a:ext uri="{FF2B5EF4-FFF2-40B4-BE49-F238E27FC236}">
                <a16:creationId xmlns:a16="http://schemas.microsoft.com/office/drawing/2014/main" id="{5BAFE5D0-C0A7-4C07-B852-6F0A7CF2AD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nl-NL"/>
          </a:p>
        </p:txBody>
      </p:sp>
      <p:sp>
        <p:nvSpPr>
          <p:cNvPr id="3" name="Content Placeholder 2"/>
          <p:cNvSpPr>
            <a:spLocks/>
          </p:cNvSpPr>
          <p:nvPr/>
        </p:nvSpPr>
        <p:spPr>
          <a:xfrm>
            <a:off x="1584337" y="1936047"/>
            <a:ext cx="9923557" cy="4921953"/>
          </a:xfrm>
          <a:prstGeom prst="rect">
            <a:avLst/>
          </a:prstGeom>
        </p:spPr>
        <p:txBody>
          <a:bodyPr/>
          <a:lstStyle/>
          <a:p>
            <a:r>
              <a:rPr lang="en-GB" sz="1600" b="1" dirty="0"/>
              <a:t>DHCP Vendor Class vs Device Class Mismatch</a:t>
            </a:r>
          </a:p>
          <a:p>
            <a:endParaRPr lang="en-GB" sz="1600" dirty="0"/>
          </a:p>
          <a:p>
            <a:r>
              <a:rPr lang="en-GB" sz="1600" dirty="0"/>
              <a:t>Vendor Class and Device Class should be </a:t>
            </a:r>
            <a:r>
              <a:rPr lang="en-GB" sz="1600" b="1" dirty="0"/>
              <a:t>aligned.</a:t>
            </a:r>
          </a:p>
          <a:p>
            <a:r>
              <a:rPr lang="en-GB" sz="1600" dirty="0"/>
              <a:t>Example: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1600" dirty="0"/>
              <a:t> Cisco → Cisco / IP Phone / AP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1600" dirty="0"/>
              <a:t> Android → mobile / handset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1600" dirty="0"/>
              <a:t> Printer → HP / Lexmark etc.</a:t>
            </a:r>
          </a:p>
          <a:p>
            <a:endParaRPr lang="en-GB" sz="1600" b="1" dirty="0"/>
          </a:p>
          <a:p>
            <a:endParaRPr lang="en-GB" sz="1600" b="1" dirty="0"/>
          </a:p>
          <a:p>
            <a:endParaRPr lang="en-GB" sz="1600" b="1" dirty="0"/>
          </a:p>
          <a:p>
            <a:endParaRPr lang="en-GB" sz="1600" b="1" dirty="0"/>
          </a:p>
          <a:p>
            <a:endParaRPr lang="en-GB" sz="1600" b="1" dirty="0"/>
          </a:p>
          <a:p>
            <a:r>
              <a:rPr lang="en-GB" sz="1600" b="1" dirty="0"/>
              <a:t>Temporal Fingerprint Changes</a:t>
            </a:r>
          </a:p>
          <a:p>
            <a:r>
              <a:rPr lang="en-GB" sz="1600" dirty="0"/>
              <a:t>Same MAC should not frequently change fingerprints over time. We detect Frequent changes → device swap / spoofing / data issue . But this for only 4 assets only.</a:t>
            </a:r>
          </a:p>
          <a:p>
            <a:endParaRPr lang="en-GB" sz="1600" b="1" dirty="0"/>
          </a:p>
          <a:p>
            <a:endParaRPr lang="en-GB" sz="1600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6A60DE9-DEB3-6081-6B9C-4CDFDF9BA3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025" y="3678052"/>
            <a:ext cx="5753903" cy="111458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02A0B32-36EA-F697-BEF4-A721930A6D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6025" y="5857539"/>
            <a:ext cx="6068943" cy="871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335252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2ED0803-0133-49C2-9858-E132FF173A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4897" y="624110"/>
            <a:ext cx="9712998" cy="1280890"/>
          </a:xfrm>
        </p:spPr>
        <p:txBody>
          <a:bodyPr>
            <a:normAutofit/>
          </a:bodyPr>
          <a:lstStyle/>
          <a:p>
            <a:r>
              <a:rPr lang="en-IN" sz="3200" dirty="0">
                <a:latin typeface="+mn-lt"/>
              </a:rPr>
              <a:t>Data Quality Assessment- Summary</a:t>
            </a:r>
            <a:br>
              <a:rPr lang="en-IN" dirty="0"/>
            </a:br>
            <a:r>
              <a:rPr lang="en-IN" dirty="0"/>
              <a:t>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379F6D6-AB42-424F-9B81-E57F502B6A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l-NL"/>
          </a:p>
        </p:txBody>
      </p:sp>
      <p:sp>
        <p:nvSpPr>
          <p:cNvPr id="14" name="Freeform 11">
            <a:extLst>
              <a:ext uri="{FF2B5EF4-FFF2-40B4-BE49-F238E27FC236}">
                <a16:creationId xmlns:a16="http://schemas.microsoft.com/office/drawing/2014/main" id="{5BAFE5D0-C0A7-4C07-B852-6F0A7CF2AD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nl-NL"/>
          </a:p>
        </p:txBody>
      </p:sp>
      <p:sp>
        <p:nvSpPr>
          <p:cNvPr id="3" name="Content Placeholder 2"/>
          <p:cNvSpPr>
            <a:spLocks/>
          </p:cNvSpPr>
          <p:nvPr/>
        </p:nvSpPr>
        <p:spPr>
          <a:xfrm>
            <a:off x="1584337" y="1936047"/>
            <a:ext cx="9923557" cy="4921953"/>
          </a:xfrm>
          <a:prstGeom prst="rect">
            <a:avLst/>
          </a:prstGeom>
        </p:spPr>
        <p:txBody>
          <a:bodyPr/>
          <a:lstStyle/>
          <a:p>
            <a:r>
              <a:rPr lang="en-GB" sz="1600" b="1" dirty="0"/>
              <a:t>Top 10 Assets with most errors                                                     Error Distribution</a:t>
            </a:r>
          </a:p>
          <a:p>
            <a:endParaRPr lang="en-GB" sz="1600" b="1" dirty="0"/>
          </a:p>
          <a:p>
            <a:endParaRPr lang="en-GB" sz="1600" b="1" dirty="0"/>
          </a:p>
          <a:p>
            <a:endParaRPr lang="en-GB" sz="1600" dirty="0"/>
          </a:p>
          <a:p>
            <a:endParaRPr lang="en-GB" sz="1600" dirty="0"/>
          </a:p>
          <a:p>
            <a:endParaRPr lang="en-GB" sz="1600" dirty="0"/>
          </a:p>
          <a:p>
            <a:endParaRPr lang="en-GB" sz="1600" dirty="0"/>
          </a:p>
          <a:p>
            <a:endParaRPr lang="en-GB" sz="1600" dirty="0"/>
          </a:p>
          <a:p>
            <a:endParaRPr lang="en-GB" sz="1600" dirty="0"/>
          </a:p>
          <a:p>
            <a:endParaRPr lang="en-GB" sz="1600" dirty="0"/>
          </a:p>
          <a:p>
            <a:endParaRPr lang="en-GB" sz="1600" b="1" dirty="0"/>
          </a:p>
          <a:p>
            <a:endParaRPr lang="en-GB" sz="1600" b="1" dirty="0"/>
          </a:p>
          <a:p>
            <a:endParaRPr lang="en-GB" sz="1600" b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B529222-493C-1BD9-4A3A-FCE9B41733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9105" y="2361139"/>
            <a:ext cx="2936203" cy="387275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0D7B60B-F649-B21E-F5DB-45FE4B13B0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3661" y="2361139"/>
            <a:ext cx="4750039" cy="3543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287823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2ED0803-0133-49C2-9858-E132FF173A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4897" y="624110"/>
            <a:ext cx="9712998" cy="1280890"/>
          </a:xfrm>
        </p:spPr>
        <p:txBody>
          <a:bodyPr>
            <a:normAutofit/>
          </a:bodyPr>
          <a:lstStyle/>
          <a:p>
            <a:r>
              <a:rPr lang="en-IN" sz="3200" dirty="0">
                <a:latin typeface="+mn-lt"/>
              </a:rPr>
              <a:t>Data Quality Assessment- Summary</a:t>
            </a:r>
            <a:br>
              <a:rPr lang="en-IN" sz="3200" dirty="0">
                <a:latin typeface="+mn-lt"/>
              </a:rPr>
            </a:br>
            <a:r>
              <a:rPr lang="en-IN" sz="3200" dirty="0">
                <a:latin typeface="+mn-lt"/>
              </a:rPr>
              <a:t>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379F6D6-AB42-424F-9B81-E57F502B6A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l-NL"/>
          </a:p>
        </p:txBody>
      </p:sp>
      <p:sp>
        <p:nvSpPr>
          <p:cNvPr id="14" name="Freeform 11">
            <a:extLst>
              <a:ext uri="{FF2B5EF4-FFF2-40B4-BE49-F238E27FC236}">
                <a16:creationId xmlns:a16="http://schemas.microsoft.com/office/drawing/2014/main" id="{5BAFE5D0-C0A7-4C07-B852-6F0A7CF2AD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nl-NL"/>
          </a:p>
        </p:txBody>
      </p:sp>
      <p:sp>
        <p:nvSpPr>
          <p:cNvPr id="3" name="Content Placeholder 2"/>
          <p:cNvSpPr>
            <a:spLocks/>
          </p:cNvSpPr>
          <p:nvPr/>
        </p:nvSpPr>
        <p:spPr>
          <a:xfrm>
            <a:off x="1584337" y="1936047"/>
            <a:ext cx="9923557" cy="4921953"/>
          </a:xfrm>
          <a:prstGeom prst="rect">
            <a:avLst/>
          </a:prstGeom>
        </p:spPr>
        <p:txBody>
          <a:bodyPr/>
          <a:lstStyle/>
          <a:p>
            <a:r>
              <a:rPr lang="en-GB" sz="1600" b="1" dirty="0"/>
              <a:t>Error Summary                                                                          Data Quality Score</a:t>
            </a:r>
          </a:p>
          <a:p>
            <a:r>
              <a:rPr lang="en-GB" sz="1600" b="1" dirty="0"/>
              <a:t>                                                                                                     </a:t>
            </a:r>
          </a:p>
          <a:p>
            <a:r>
              <a:rPr lang="en-GB" sz="1600" b="1" dirty="0"/>
              <a:t>                                                                                                    The </a:t>
            </a:r>
            <a:r>
              <a:rPr lang="en-GB" sz="1600" b="1" dirty="0" err="1"/>
              <a:t>Avg</a:t>
            </a:r>
            <a:r>
              <a:rPr lang="en-GB" sz="1600" b="1" dirty="0"/>
              <a:t> Data Quality Score is 78.6 %</a:t>
            </a:r>
          </a:p>
          <a:p>
            <a:endParaRPr lang="en-GB" sz="1600" b="1" dirty="0"/>
          </a:p>
          <a:p>
            <a:r>
              <a:rPr lang="en-GB" sz="1600" b="1" dirty="0"/>
              <a:t>                                                                                                     Descriptive statistics </a:t>
            </a:r>
          </a:p>
          <a:p>
            <a:r>
              <a:rPr lang="en-GB" sz="1600" b="1" dirty="0"/>
              <a:t>                                                                                                      </a:t>
            </a:r>
          </a:p>
          <a:p>
            <a:endParaRPr lang="en-GB" sz="1600" b="1" dirty="0"/>
          </a:p>
          <a:p>
            <a:endParaRPr lang="en-GB" sz="1600" dirty="0"/>
          </a:p>
          <a:p>
            <a:endParaRPr lang="en-GB" sz="1600" dirty="0"/>
          </a:p>
          <a:p>
            <a:endParaRPr lang="en-GB" sz="1600" dirty="0"/>
          </a:p>
          <a:p>
            <a:endParaRPr lang="en-GB" sz="1600" dirty="0"/>
          </a:p>
          <a:p>
            <a:endParaRPr lang="en-GB" sz="1600" dirty="0"/>
          </a:p>
          <a:p>
            <a:r>
              <a:rPr lang="en-GB" sz="1600" b="1" dirty="0"/>
              <a:t>                                                                                                     Data Quality Level</a:t>
            </a:r>
          </a:p>
          <a:p>
            <a:r>
              <a:rPr lang="en-GB" sz="1600" dirty="0"/>
              <a:t>                                                                                                      </a:t>
            </a:r>
          </a:p>
          <a:p>
            <a:r>
              <a:rPr lang="en-GB" sz="1600" dirty="0"/>
              <a:t>                                                                                                      </a:t>
            </a:r>
          </a:p>
          <a:p>
            <a:endParaRPr lang="en-GB" sz="1600" b="1" dirty="0"/>
          </a:p>
          <a:p>
            <a:endParaRPr lang="en-GB" sz="1600" b="1" dirty="0"/>
          </a:p>
          <a:p>
            <a:endParaRPr lang="en-GB" sz="16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DF44647-2693-A0BA-5DB5-120E3B188B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2693" y="2395260"/>
            <a:ext cx="3847836" cy="383863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F412AF5-75DE-9C8B-C8F1-99ACC0F3D9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9759" y="3286019"/>
            <a:ext cx="1857634" cy="145752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25EC71E-4983-81A0-8E3A-4F2F7F729E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9759" y="5286075"/>
            <a:ext cx="1619476" cy="752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924357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2ED0803-0133-49C2-9858-E132FF173A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4897" y="624110"/>
            <a:ext cx="9712998" cy="1280890"/>
          </a:xfrm>
        </p:spPr>
        <p:txBody>
          <a:bodyPr>
            <a:normAutofit/>
          </a:bodyPr>
          <a:lstStyle/>
          <a:p>
            <a:r>
              <a:rPr lang="en-IN" sz="3200" dirty="0">
                <a:latin typeface="+mn-lt"/>
              </a:rPr>
              <a:t>Dashboard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379F6D6-AB42-424F-9B81-E57F502B6A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l-NL"/>
          </a:p>
        </p:txBody>
      </p:sp>
      <p:sp>
        <p:nvSpPr>
          <p:cNvPr id="14" name="Freeform 11">
            <a:extLst>
              <a:ext uri="{FF2B5EF4-FFF2-40B4-BE49-F238E27FC236}">
                <a16:creationId xmlns:a16="http://schemas.microsoft.com/office/drawing/2014/main" id="{5BAFE5D0-C0A7-4C07-B852-6F0A7CF2AD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nl-NL"/>
          </a:p>
        </p:txBody>
      </p:sp>
      <p:sp>
        <p:nvSpPr>
          <p:cNvPr id="3" name="Content Placeholder 2"/>
          <p:cNvSpPr>
            <a:spLocks/>
          </p:cNvSpPr>
          <p:nvPr/>
        </p:nvSpPr>
        <p:spPr>
          <a:xfrm>
            <a:off x="1584337" y="1936047"/>
            <a:ext cx="9923557" cy="4921953"/>
          </a:xfrm>
          <a:prstGeom prst="rect">
            <a:avLst/>
          </a:prstGeom>
        </p:spPr>
        <p:txBody>
          <a:bodyPr/>
          <a:lstStyle/>
          <a:p>
            <a:r>
              <a:rPr lang="en-GB" sz="1600" b="1" dirty="0"/>
              <a:t>                                                                                                      </a:t>
            </a:r>
          </a:p>
          <a:p>
            <a:endParaRPr lang="en-GB" sz="1600" b="1" dirty="0"/>
          </a:p>
          <a:p>
            <a:endParaRPr lang="en-GB" sz="1600" dirty="0"/>
          </a:p>
          <a:p>
            <a:endParaRPr lang="en-GB" sz="1600" dirty="0"/>
          </a:p>
          <a:p>
            <a:endParaRPr lang="en-GB" sz="1600" dirty="0"/>
          </a:p>
          <a:p>
            <a:endParaRPr lang="en-GB" sz="1600" dirty="0"/>
          </a:p>
          <a:p>
            <a:endParaRPr lang="en-GB" sz="1600" dirty="0"/>
          </a:p>
          <a:p>
            <a:r>
              <a:rPr lang="en-GB" sz="1600" dirty="0"/>
              <a:t>                                                                                                      </a:t>
            </a:r>
          </a:p>
          <a:p>
            <a:r>
              <a:rPr lang="en-GB" sz="1600" dirty="0"/>
              <a:t>                                                                                                      </a:t>
            </a:r>
          </a:p>
          <a:p>
            <a:endParaRPr lang="en-GB" sz="1600" b="1" dirty="0"/>
          </a:p>
          <a:p>
            <a:endParaRPr lang="en-GB" sz="1600" b="1" dirty="0"/>
          </a:p>
          <a:p>
            <a:endParaRPr lang="en-GB" sz="1600" b="1" dirty="0"/>
          </a:p>
        </p:txBody>
      </p:sp>
      <p:pic>
        <p:nvPicPr>
          <p:cNvPr id="9" name="Picture 8" descr="A screenshot of a computer">
            <a:extLst>
              <a:ext uri="{FF2B5EF4-FFF2-40B4-BE49-F238E27FC236}">
                <a16:creationId xmlns:a16="http://schemas.microsoft.com/office/drawing/2014/main" id="{F9AB1649-7820-D0E3-1ECE-8D46F9400D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5976" y="1264554"/>
            <a:ext cx="6638528" cy="5534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802757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8C9F670-D457-4F9E-BDA1-B6468C7782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4897" y="624110"/>
            <a:ext cx="9712998" cy="1280890"/>
          </a:xfrm>
        </p:spPr>
        <p:txBody>
          <a:bodyPr>
            <a:normAutofit/>
          </a:bodyPr>
          <a:lstStyle/>
          <a:p>
            <a:r>
              <a:rPr lang="en-IN" sz="3200" dirty="0">
                <a:latin typeface="+mn-lt"/>
              </a:rPr>
              <a:t>Technical Improvements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40E2333-C7BB-42CB-A674-0BE0C8ED7B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l-NL"/>
          </a:p>
        </p:txBody>
      </p:sp>
      <p:sp>
        <p:nvSpPr>
          <p:cNvPr id="13" name="Freeform 11">
            <a:extLst>
              <a:ext uri="{FF2B5EF4-FFF2-40B4-BE49-F238E27FC236}">
                <a16:creationId xmlns:a16="http://schemas.microsoft.com/office/drawing/2014/main" id="{6CADF7DA-72EF-4990-9F27-D443BAF7D8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nl-NL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7CD0281-AD12-D089-72C2-630E79E577F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57443164"/>
              </p:ext>
            </p:extLst>
          </p:nvPr>
        </p:nvGraphicFramePr>
        <p:xfrm>
          <a:off x="1794897" y="1669143"/>
          <a:ext cx="10034246" cy="47461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2154226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C8C9F670-D457-4F9E-BDA1-B6468C7782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4897" y="624110"/>
            <a:ext cx="9712998" cy="1280890"/>
          </a:xfrm>
        </p:spPr>
        <p:txBody>
          <a:bodyPr>
            <a:normAutofit/>
          </a:bodyPr>
          <a:lstStyle/>
          <a:p>
            <a:r>
              <a:rPr lang="en-IN" dirty="0"/>
              <a:t>Business Improvements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40E2333-C7BB-42CB-A674-0BE0C8ED7B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l-NL"/>
          </a:p>
        </p:txBody>
      </p:sp>
      <p:sp>
        <p:nvSpPr>
          <p:cNvPr id="22" name="Freeform 11">
            <a:extLst>
              <a:ext uri="{FF2B5EF4-FFF2-40B4-BE49-F238E27FC236}">
                <a16:creationId xmlns:a16="http://schemas.microsoft.com/office/drawing/2014/main" id="{6CADF7DA-72EF-4990-9F27-D443BAF7D8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nl-NL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CD21FC5-C3CA-2212-1A4D-4516AE0D2ED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87585257"/>
              </p:ext>
            </p:extLst>
          </p:nvPr>
        </p:nvGraphicFramePr>
        <p:xfrm>
          <a:off x="810363" y="1423546"/>
          <a:ext cx="11198756" cy="45853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6132124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4" name="Group 193">
            <a:extLst>
              <a:ext uri="{FF2B5EF4-FFF2-40B4-BE49-F238E27FC236}">
                <a16:creationId xmlns:a16="http://schemas.microsoft.com/office/drawing/2014/main" id="{027FE0C2-9C19-4FB7-81C0-06ECDD8C05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</p:grpSpPr>
        <p:sp>
          <p:nvSpPr>
            <p:cNvPr id="195" name="Freeform 11">
              <a:extLst>
                <a:ext uri="{FF2B5EF4-FFF2-40B4-BE49-F238E27FC236}">
                  <a16:creationId xmlns:a16="http://schemas.microsoft.com/office/drawing/2014/main" id="{1766EED2-C3B3-40C6-A5D8-FFF5894B96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nl-NL"/>
            </a:p>
          </p:txBody>
        </p:sp>
        <p:sp>
          <p:nvSpPr>
            <p:cNvPr id="196" name="Freeform 12">
              <a:extLst>
                <a:ext uri="{FF2B5EF4-FFF2-40B4-BE49-F238E27FC236}">
                  <a16:creationId xmlns:a16="http://schemas.microsoft.com/office/drawing/2014/main" id="{9CFBF839-A629-4019-9F3D-C15269EEC5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nl-NL"/>
            </a:p>
          </p:txBody>
        </p:sp>
        <p:sp>
          <p:nvSpPr>
            <p:cNvPr id="197" name="Freeform 13">
              <a:extLst>
                <a:ext uri="{FF2B5EF4-FFF2-40B4-BE49-F238E27FC236}">
                  <a16:creationId xmlns:a16="http://schemas.microsoft.com/office/drawing/2014/main" id="{E13B7060-C0FD-4F48-BD18-CEC2F6CF4D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nl-NL"/>
            </a:p>
          </p:txBody>
        </p:sp>
        <p:sp>
          <p:nvSpPr>
            <p:cNvPr id="198" name="Freeform 14">
              <a:extLst>
                <a:ext uri="{FF2B5EF4-FFF2-40B4-BE49-F238E27FC236}">
                  <a16:creationId xmlns:a16="http://schemas.microsoft.com/office/drawing/2014/main" id="{A344E7D3-1355-48C1-9904-2405426C49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nl-NL"/>
            </a:p>
          </p:txBody>
        </p:sp>
        <p:sp>
          <p:nvSpPr>
            <p:cNvPr id="199" name="Freeform 15">
              <a:extLst>
                <a:ext uri="{FF2B5EF4-FFF2-40B4-BE49-F238E27FC236}">
                  <a16:creationId xmlns:a16="http://schemas.microsoft.com/office/drawing/2014/main" id="{7A0AFB45-BC4E-4AB7-A8FF-D61849E411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nl-NL"/>
            </a:p>
          </p:txBody>
        </p:sp>
        <p:sp>
          <p:nvSpPr>
            <p:cNvPr id="200" name="Freeform 16">
              <a:extLst>
                <a:ext uri="{FF2B5EF4-FFF2-40B4-BE49-F238E27FC236}">
                  <a16:creationId xmlns:a16="http://schemas.microsoft.com/office/drawing/2014/main" id="{18BD2B14-C775-4442-B02E-E842C96F19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nl-NL"/>
            </a:p>
          </p:txBody>
        </p:sp>
        <p:sp>
          <p:nvSpPr>
            <p:cNvPr id="201" name="Freeform 17">
              <a:extLst>
                <a:ext uri="{FF2B5EF4-FFF2-40B4-BE49-F238E27FC236}">
                  <a16:creationId xmlns:a16="http://schemas.microsoft.com/office/drawing/2014/main" id="{D43EE30E-A569-4394-B036-B0954A88D4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nl-NL"/>
            </a:p>
          </p:txBody>
        </p:sp>
        <p:sp>
          <p:nvSpPr>
            <p:cNvPr id="202" name="Freeform 18">
              <a:extLst>
                <a:ext uri="{FF2B5EF4-FFF2-40B4-BE49-F238E27FC236}">
                  <a16:creationId xmlns:a16="http://schemas.microsoft.com/office/drawing/2014/main" id="{F6178D34-57BD-47F7-A56E-14FC1BB225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nl-NL"/>
            </a:p>
          </p:txBody>
        </p:sp>
        <p:sp>
          <p:nvSpPr>
            <p:cNvPr id="203" name="Freeform 19">
              <a:extLst>
                <a:ext uri="{FF2B5EF4-FFF2-40B4-BE49-F238E27FC236}">
                  <a16:creationId xmlns:a16="http://schemas.microsoft.com/office/drawing/2014/main" id="{FFD3B6D6-3AE3-47BC-97D9-CDA2EFCA6F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nl-NL"/>
            </a:p>
          </p:txBody>
        </p:sp>
        <p:sp>
          <p:nvSpPr>
            <p:cNvPr id="204" name="Freeform 20">
              <a:extLst>
                <a:ext uri="{FF2B5EF4-FFF2-40B4-BE49-F238E27FC236}">
                  <a16:creationId xmlns:a16="http://schemas.microsoft.com/office/drawing/2014/main" id="{5C34EB72-4D8B-4039-B1FE-891F22FEBD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nl-NL"/>
            </a:p>
          </p:txBody>
        </p:sp>
        <p:sp>
          <p:nvSpPr>
            <p:cNvPr id="205" name="Freeform 21">
              <a:extLst>
                <a:ext uri="{FF2B5EF4-FFF2-40B4-BE49-F238E27FC236}">
                  <a16:creationId xmlns:a16="http://schemas.microsoft.com/office/drawing/2014/main" id="{55A3A4AF-6FE1-4C4B-9286-35AF8C6E29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nl-NL"/>
            </a:p>
          </p:txBody>
        </p:sp>
        <p:sp>
          <p:nvSpPr>
            <p:cNvPr id="206" name="Freeform 22">
              <a:extLst>
                <a:ext uri="{FF2B5EF4-FFF2-40B4-BE49-F238E27FC236}">
                  <a16:creationId xmlns:a16="http://schemas.microsoft.com/office/drawing/2014/main" id="{BBF339A0-40DC-4DCB-BF13-4143D7B00C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nl-NL"/>
            </a:p>
          </p:txBody>
        </p:sp>
      </p:grpSp>
      <p:grpSp>
        <p:nvGrpSpPr>
          <p:cNvPr id="207" name="Group 206">
            <a:extLst>
              <a:ext uri="{FF2B5EF4-FFF2-40B4-BE49-F238E27FC236}">
                <a16:creationId xmlns:a16="http://schemas.microsoft.com/office/drawing/2014/main" id="{AC0D9DD5-F48B-4179-BF11-4D156DA02A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32"/>
            <a:ext cx="2356675" cy="6853285"/>
            <a:chOff x="6627813" y="195454"/>
            <a:chExt cx="1952625" cy="5678297"/>
          </a:xfrm>
        </p:grpSpPr>
        <p:sp>
          <p:nvSpPr>
            <p:cNvPr id="208" name="Freeform 27">
              <a:extLst>
                <a:ext uri="{FF2B5EF4-FFF2-40B4-BE49-F238E27FC236}">
                  <a16:creationId xmlns:a16="http://schemas.microsoft.com/office/drawing/2014/main" id="{A9168E85-6CFA-435B-8A6B-D32486C90D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5454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nl-NL"/>
            </a:p>
          </p:txBody>
        </p:sp>
        <p:sp>
          <p:nvSpPr>
            <p:cNvPr id="209" name="Freeform 28">
              <a:extLst>
                <a:ext uri="{FF2B5EF4-FFF2-40B4-BE49-F238E27FC236}">
                  <a16:creationId xmlns:a16="http://schemas.microsoft.com/office/drawing/2014/main" id="{9293C87B-0616-4B2B-B082-B3362CA3F1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nl-NL"/>
            </a:p>
          </p:txBody>
        </p:sp>
        <p:sp>
          <p:nvSpPr>
            <p:cNvPr id="210" name="Freeform 29">
              <a:extLst>
                <a:ext uri="{FF2B5EF4-FFF2-40B4-BE49-F238E27FC236}">
                  <a16:creationId xmlns:a16="http://schemas.microsoft.com/office/drawing/2014/main" id="{F2728C57-B738-4443-9FC2-3C060715FF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nl-NL"/>
            </a:p>
          </p:txBody>
        </p:sp>
        <p:sp>
          <p:nvSpPr>
            <p:cNvPr id="211" name="Freeform 30">
              <a:extLst>
                <a:ext uri="{FF2B5EF4-FFF2-40B4-BE49-F238E27FC236}">
                  <a16:creationId xmlns:a16="http://schemas.microsoft.com/office/drawing/2014/main" id="{766F97F3-2B2B-4253-BEC7-BC9C7DFF01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nl-NL"/>
            </a:p>
          </p:txBody>
        </p:sp>
        <p:sp>
          <p:nvSpPr>
            <p:cNvPr id="212" name="Freeform 31">
              <a:extLst>
                <a:ext uri="{FF2B5EF4-FFF2-40B4-BE49-F238E27FC236}">
                  <a16:creationId xmlns:a16="http://schemas.microsoft.com/office/drawing/2014/main" id="{F2F1BCB5-62E3-482A-A671-8514CD517B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nl-NL"/>
            </a:p>
          </p:txBody>
        </p:sp>
        <p:sp>
          <p:nvSpPr>
            <p:cNvPr id="213" name="Freeform 32">
              <a:extLst>
                <a:ext uri="{FF2B5EF4-FFF2-40B4-BE49-F238E27FC236}">
                  <a16:creationId xmlns:a16="http://schemas.microsoft.com/office/drawing/2014/main" id="{19B93AE6-0173-4CA9-A70C-F4D5D9B379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nl-NL"/>
            </a:p>
          </p:txBody>
        </p:sp>
        <p:sp>
          <p:nvSpPr>
            <p:cNvPr id="214" name="Freeform 33">
              <a:extLst>
                <a:ext uri="{FF2B5EF4-FFF2-40B4-BE49-F238E27FC236}">
                  <a16:creationId xmlns:a16="http://schemas.microsoft.com/office/drawing/2014/main" id="{E7FEE511-B4FE-4967-9E02-B802810A91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nl-NL"/>
            </a:p>
          </p:txBody>
        </p:sp>
        <p:sp>
          <p:nvSpPr>
            <p:cNvPr id="215" name="Freeform 34">
              <a:extLst>
                <a:ext uri="{FF2B5EF4-FFF2-40B4-BE49-F238E27FC236}">
                  <a16:creationId xmlns:a16="http://schemas.microsoft.com/office/drawing/2014/main" id="{374E8AF9-DC1D-4FEB-A65B-1F0F82912F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nl-NL"/>
            </a:p>
          </p:txBody>
        </p:sp>
        <p:sp>
          <p:nvSpPr>
            <p:cNvPr id="216" name="Freeform 35">
              <a:extLst>
                <a:ext uri="{FF2B5EF4-FFF2-40B4-BE49-F238E27FC236}">
                  <a16:creationId xmlns:a16="http://schemas.microsoft.com/office/drawing/2014/main" id="{89BB8488-306B-461B-846C-5E22664AF9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nl-NL"/>
            </a:p>
          </p:txBody>
        </p:sp>
        <p:sp>
          <p:nvSpPr>
            <p:cNvPr id="217" name="Freeform 36">
              <a:extLst>
                <a:ext uri="{FF2B5EF4-FFF2-40B4-BE49-F238E27FC236}">
                  <a16:creationId xmlns:a16="http://schemas.microsoft.com/office/drawing/2014/main" id="{987A2146-569C-4EF6-9CA1-D72961EBD6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nl-NL"/>
            </a:p>
          </p:txBody>
        </p:sp>
        <p:sp>
          <p:nvSpPr>
            <p:cNvPr id="218" name="Freeform 37">
              <a:extLst>
                <a:ext uri="{FF2B5EF4-FFF2-40B4-BE49-F238E27FC236}">
                  <a16:creationId xmlns:a16="http://schemas.microsoft.com/office/drawing/2014/main" id="{70334992-12F8-4924-B32E-420C3FDB13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nl-NL"/>
            </a:p>
          </p:txBody>
        </p:sp>
        <p:sp>
          <p:nvSpPr>
            <p:cNvPr id="219" name="Freeform 38">
              <a:extLst>
                <a:ext uri="{FF2B5EF4-FFF2-40B4-BE49-F238E27FC236}">
                  <a16:creationId xmlns:a16="http://schemas.microsoft.com/office/drawing/2014/main" id="{A5B2F0D2-1D46-46DD-A818-60309624D8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nl-NL"/>
            </a:p>
          </p:txBody>
        </p:sp>
      </p:grpSp>
      <p:sp>
        <p:nvSpPr>
          <p:cNvPr id="220" name="Rectangle 219">
            <a:extLst>
              <a:ext uri="{FF2B5EF4-FFF2-40B4-BE49-F238E27FC236}">
                <a16:creationId xmlns:a16="http://schemas.microsoft.com/office/drawing/2014/main" id="{FF1A843A-A6BC-4027-A46F-8EA29D26FE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l-NL"/>
          </a:p>
        </p:txBody>
      </p:sp>
      <p:sp>
        <p:nvSpPr>
          <p:cNvPr id="221" name="Freeform 6">
            <a:extLst>
              <a:ext uri="{FF2B5EF4-FFF2-40B4-BE49-F238E27FC236}">
                <a16:creationId xmlns:a16="http://schemas.microsoft.com/office/drawing/2014/main" id="{2507F48C-66CC-4AFA-B9A7-360743221E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nl-NL"/>
          </a:p>
        </p:txBody>
      </p:sp>
      <p:sp useBgFill="1">
        <p:nvSpPr>
          <p:cNvPr id="222" name="Rectangle 221">
            <a:extLst>
              <a:ext uri="{FF2B5EF4-FFF2-40B4-BE49-F238E27FC236}">
                <a16:creationId xmlns:a16="http://schemas.microsoft.com/office/drawing/2014/main" id="{C0782607-67EF-47AC-96DF-A7DE2A282C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7620" y="-1"/>
            <a:ext cx="1220724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23" name="Rectangle 222">
            <a:extLst>
              <a:ext uri="{FF2B5EF4-FFF2-40B4-BE49-F238E27FC236}">
                <a16:creationId xmlns:a16="http://schemas.microsoft.com/office/drawing/2014/main" id="{65351FED-1024-4E4A-BE3B-371ABFCDF6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4639734" cy="6858000"/>
          </a:xfrm>
          <a:prstGeom prst="rect">
            <a:avLst/>
          </a:prstGeom>
          <a:solidFill>
            <a:schemeClr val="tx2">
              <a:lumMod val="50000"/>
              <a:alpha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l-NL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0279" y="1795849"/>
            <a:ext cx="3778870" cy="311481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>
                <a:solidFill>
                  <a:srgbClr val="FEFFFF"/>
                </a:solidFill>
              </a:rPr>
              <a:t>Questions</a:t>
            </a:r>
          </a:p>
        </p:txBody>
      </p:sp>
      <p:pic>
        <p:nvPicPr>
          <p:cNvPr id="7" name="Content Placeholder 6" descr="Close-up of hands raised in classroom">
            <a:extLst>
              <a:ext uri="{FF2B5EF4-FFF2-40B4-BE49-F238E27FC236}">
                <a16:creationId xmlns:a16="http://schemas.microsoft.com/office/drawing/2014/main" id="{DBA1360E-AC22-E503-2745-37272B37820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56" t="9091" r="26020"/>
          <a:stretch/>
        </p:blipFill>
        <p:spPr>
          <a:xfrm>
            <a:off x="4639732" y="10"/>
            <a:ext cx="7552267" cy="6857990"/>
          </a:xfrm>
          <a:prstGeom prst="rect">
            <a:avLst/>
          </a:prstGeom>
        </p:spPr>
      </p:pic>
      <p:sp>
        <p:nvSpPr>
          <p:cNvPr id="109" name="Freeform 5">
            <a:extLst>
              <a:ext uri="{FF2B5EF4-FFF2-40B4-BE49-F238E27FC236}">
                <a16:creationId xmlns:a16="http://schemas.microsoft.com/office/drawing/2014/main" id="{6692CD4C-1BDD-4687-BFFE-33F1462F85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0" y="5033007"/>
            <a:ext cx="5404022" cy="857047"/>
          </a:xfrm>
          <a:custGeom>
            <a:avLst/>
            <a:gdLst>
              <a:gd name="T0" fmla="*/ 1114 w 1117"/>
              <a:gd name="T1" fmla="*/ 77 h 163"/>
              <a:gd name="T2" fmla="*/ 1040 w 1117"/>
              <a:gd name="T3" fmla="*/ 3 h 163"/>
              <a:gd name="T4" fmla="*/ 1039 w 1117"/>
              <a:gd name="T5" fmla="*/ 2 h 163"/>
              <a:gd name="T6" fmla="*/ 1034 w 1117"/>
              <a:gd name="T7" fmla="*/ 0 h 163"/>
              <a:gd name="T8" fmla="*/ 578 w 1117"/>
              <a:gd name="T9" fmla="*/ 0 h 163"/>
              <a:gd name="T10" fmla="*/ 562 w 1117"/>
              <a:gd name="T11" fmla="*/ 0 h 163"/>
              <a:gd name="T12" fmla="*/ 440 w 1117"/>
              <a:gd name="T13" fmla="*/ 0 h 163"/>
              <a:gd name="T14" fmla="*/ 106 w 1117"/>
              <a:gd name="T15" fmla="*/ 0 h 163"/>
              <a:gd name="T16" fmla="*/ 0 w 1117"/>
              <a:gd name="T17" fmla="*/ 0 h 163"/>
              <a:gd name="T18" fmla="*/ 0 w 1117"/>
              <a:gd name="T19" fmla="*/ 163 h 163"/>
              <a:gd name="T20" fmla="*/ 106 w 1117"/>
              <a:gd name="T21" fmla="*/ 163 h 163"/>
              <a:gd name="T22" fmla="*/ 440 w 1117"/>
              <a:gd name="T23" fmla="*/ 163 h 163"/>
              <a:gd name="T24" fmla="*/ 562 w 1117"/>
              <a:gd name="T25" fmla="*/ 163 h 163"/>
              <a:gd name="T26" fmla="*/ 578 w 1117"/>
              <a:gd name="T27" fmla="*/ 163 h 163"/>
              <a:gd name="T28" fmla="*/ 1034 w 1117"/>
              <a:gd name="T29" fmla="*/ 163 h 163"/>
              <a:gd name="T30" fmla="*/ 1039 w 1117"/>
              <a:gd name="T31" fmla="*/ 161 h 163"/>
              <a:gd name="T32" fmla="*/ 1040 w 1117"/>
              <a:gd name="T33" fmla="*/ 160 h 163"/>
              <a:gd name="T34" fmla="*/ 1114 w 1117"/>
              <a:gd name="T35" fmla="*/ 86 h 163"/>
              <a:gd name="T36" fmla="*/ 1114 w 1117"/>
              <a:gd name="T37" fmla="*/ 77 h 1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1117" h="163">
                <a:moveTo>
                  <a:pt x="1114" y="77"/>
                </a:moveTo>
                <a:cubicBezTo>
                  <a:pt x="1040" y="3"/>
                  <a:pt x="1040" y="3"/>
                  <a:pt x="1040" y="3"/>
                </a:cubicBezTo>
                <a:cubicBezTo>
                  <a:pt x="1040" y="2"/>
                  <a:pt x="1039" y="2"/>
                  <a:pt x="1039" y="2"/>
                </a:cubicBezTo>
                <a:cubicBezTo>
                  <a:pt x="1038" y="1"/>
                  <a:pt x="1036" y="0"/>
                  <a:pt x="1034" y="0"/>
                </a:cubicBezTo>
                <a:cubicBezTo>
                  <a:pt x="578" y="0"/>
                  <a:pt x="578" y="0"/>
                  <a:pt x="578" y="0"/>
                </a:cubicBezTo>
                <a:cubicBezTo>
                  <a:pt x="562" y="0"/>
                  <a:pt x="562" y="0"/>
                  <a:pt x="562" y="0"/>
                </a:cubicBezTo>
                <a:cubicBezTo>
                  <a:pt x="440" y="0"/>
                  <a:pt x="440" y="0"/>
                  <a:pt x="440" y="0"/>
                </a:cubicBezTo>
                <a:cubicBezTo>
                  <a:pt x="106" y="0"/>
                  <a:pt x="106" y="0"/>
                  <a:pt x="106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3"/>
                  <a:pt x="0" y="163"/>
                  <a:pt x="0" y="163"/>
                </a:cubicBezTo>
                <a:cubicBezTo>
                  <a:pt x="106" y="163"/>
                  <a:pt x="106" y="163"/>
                  <a:pt x="106" y="163"/>
                </a:cubicBezTo>
                <a:cubicBezTo>
                  <a:pt x="440" y="163"/>
                  <a:pt x="440" y="163"/>
                  <a:pt x="440" y="163"/>
                </a:cubicBezTo>
                <a:cubicBezTo>
                  <a:pt x="562" y="163"/>
                  <a:pt x="562" y="163"/>
                  <a:pt x="562" y="163"/>
                </a:cubicBezTo>
                <a:cubicBezTo>
                  <a:pt x="578" y="163"/>
                  <a:pt x="578" y="163"/>
                  <a:pt x="578" y="163"/>
                </a:cubicBezTo>
                <a:cubicBezTo>
                  <a:pt x="1034" y="163"/>
                  <a:pt x="1034" y="163"/>
                  <a:pt x="1034" y="163"/>
                </a:cubicBezTo>
                <a:cubicBezTo>
                  <a:pt x="1036" y="163"/>
                  <a:pt x="1038" y="162"/>
                  <a:pt x="1039" y="161"/>
                </a:cubicBezTo>
                <a:cubicBezTo>
                  <a:pt x="1039" y="160"/>
                  <a:pt x="1040" y="160"/>
                  <a:pt x="1040" y="160"/>
                </a:cubicBezTo>
                <a:cubicBezTo>
                  <a:pt x="1114" y="86"/>
                  <a:pt x="1114" y="86"/>
                  <a:pt x="1114" y="86"/>
                </a:cubicBezTo>
                <a:cubicBezTo>
                  <a:pt x="1117" y="83"/>
                  <a:pt x="1117" y="79"/>
                  <a:pt x="1114" y="7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116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Wisp">
  <a:themeElements>
    <a:clrScheme name="Custom 10">
      <a:dk1>
        <a:sysClr val="windowText" lastClr="000000"/>
      </a:dk1>
      <a:lt1>
        <a:sysClr val="window" lastClr="FFFFFF"/>
      </a:lt1>
      <a:dk2>
        <a:srgbClr val="647252"/>
      </a:dk2>
      <a:lt2>
        <a:srgbClr val="EAE8CF"/>
      </a:lt2>
      <a:accent1>
        <a:srgbClr val="643E24"/>
      </a:accent1>
      <a:accent2>
        <a:srgbClr val="B73C26"/>
      </a:accent2>
      <a:accent3>
        <a:srgbClr val="865331"/>
      </a:accent3>
      <a:accent4>
        <a:srgbClr val="B38648"/>
      </a:accent4>
      <a:accent5>
        <a:srgbClr val="BBB473"/>
      </a:accent5>
      <a:accent6>
        <a:srgbClr val="849276"/>
      </a:accent6>
      <a:hlink>
        <a:srgbClr val="FDAB2A"/>
      </a:hlink>
      <a:folHlink>
        <a:srgbClr val="CCB182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54F6613E-5ED7-40ED-90A8-F639BE712C0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4204</TotalTime>
  <Words>2830</Words>
  <Application>Microsoft Office PowerPoint</Application>
  <PresentationFormat>Widescreen</PresentationFormat>
  <Paragraphs>391</Paragraphs>
  <Slides>37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4" baseType="lpstr">
      <vt:lpstr>Aptos</vt:lpstr>
      <vt:lpstr>Arial</vt:lpstr>
      <vt:lpstr>Arial Black</vt:lpstr>
      <vt:lpstr>Times New Roman</vt:lpstr>
      <vt:lpstr>Wingdings</vt:lpstr>
      <vt:lpstr>Wingdings 3</vt:lpstr>
      <vt:lpstr>Wisp</vt:lpstr>
      <vt:lpstr>Network Asset Classification &amp;Data Quality Analysis</vt:lpstr>
      <vt:lpstr>Business Goals</vt:lpstr>
      <vt:lpstr>Dataset</vt:lpstr>
      <vt:lpstr>PowerPoint Presentation</vt:lpstr>
      <vt:lpstr>Data Exploration</vt:lpstr>
      <vt:lpstr>Data Exploration (cont..)</vt:lpstr>
      <vt:lpstr>Data Exploration (cont..)</vt:lpstr>
      <vt:lpstr>Data Exploration (cont..)</vt:lpstr>
      <vt:lpstr>Feature Engineering – Device Categorization</vt:lpstr>
      <vt:lpstr>Feature Engineering – Device Categorization Vs OS and Vendor(top 10) (cont..)</vt:lpstr>
      <vt:lpstr>Feature Engineering – Vendor /OS Normalization</vt:lpstr>
      <vt:lpstr>Feature Engineering – Vendor /OS Normalization (cont..)</vt:lpstr>
      <vt:lpstr>Feature Engineering – Risk Level Classification</vt:lpstr>
      <vt:lpstr>Feature Engineering – Risk Level Classification (cont..) </vt:lpstr>
      <vt:lpstr>Feature Engineering – Risk Level Classification (cont..)</vt:lpstr>
      <vt:lpstr>Feature Engineering – Fingerprint Integrity Score </vt:lpstr>
      <vt:lpstr>Feature Engineering – Fingerprint Integrity Score (cont..)</vt:lpstr>
      <vt:lpstr>Feature Engineering – Model Type classification </vt:lpstr>
      <vt:lpstr>Feature Engineering – Model Type classification (cont..)</vt:lpstr>
      <vt:lpstr>Feature Engineering – Mobile Device Identification</vt:lpstr>
      <vt:lpstr>Data Quality Assessment – Cross-field consistency check  </vt:lpstr>
      <vt:lpstr>Data Quality Assessment – Cross-field consistency check ( cont..)  </vt:lpstr>
      <vt:lpstr>Data Quality Assessment – Cross-field consistency check ( cont..)  </vt:lpstr>
      <vt:lpstr>Data Quality Assessment – Cross-field consistency check ( cont..)  </vt:lpstr>
      <vt:lpstr>Data Quality Assessment – Cross-field consistency check ( cont..)  </vt:lpstr>
      <vt:lpstr>Data Quality Assessment – Schema &amp; Format Validation   </vt:lpstr>
      <vt:lpstr>Data Quality Assessment – Schema &amp; Format Validation ( cont..)  </vt:lpstr>
      <vt:lpstr>Data Quality Assessment - Device Identity &amp; Uniqueness Checks  </vt:lpstr>
      <vt:lpstr>Data Quality Assessment Device Identity &amp; Uniqueness Checks (cont..)  </vt:lpstr>
      <vt:lpstr>Data Quality Assessment- DHCP Fingerprint Analysis  </vt:lpstr>
      <vt:lpstr>Data Quality Assessment- DHCP Fingerprint Analysis ( cont..)  </vt:lpstr>
      <vt:lpstr>Data Quality Assessment- Summary  </vt:lpstr>
      <vt:lpstr>Data Quality Assessment- Summary  </vt:lpstr>
      <vt:lpstr>Dashboard</vt:lpstr>
      <vt:lpstr>Technical Improvements</vt:lpstr>
      <vt:lpstr>Business Improvements</vt:lpstr>
      <vt:lpstr>Questions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Rent price recommender</dc:title>
  <dc:creator>Microsoft account</dc:creator>
  <cp:lastModifiedBy>Saurav Anand</cp:lastModifiedBy>
  <cp:revision>214</cp:revision>
  <dcterms:created xsi:type="dcterms:W3CDTF">2024-07-14T15:45:08Z</dcterms:created>
  <dcterms:modified xsi:type="dcterms:W3CDTF">2026-03-29T18:44:16Z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bce33f7-04c0-4596-9b71-ba8617e88451_Enabled">
    <vt:lpwstr>true</vt:lpwstr>
  </property>
  <property fmtid="{D5CDD505-2E9C-101B-9397-08002B2CF9AE}" pid="3" name="MSIP_Label_0bce33f7-04c0-4596-9b71-ba8617e88451_SetDate">
    <vt:lpwstr>2024-07-15T02:02:38Z</vt:lpwstr>
  </property>
  <property fmtid="{D5CDD505-2E9C-101B-9397-08002B2CF9AE}" pid="4" name="MSIP_Label_0bce33f7-04c0-4596-9b71-ba8617e88451_Method">
    <vt:lpwstr>Privileged</vt:lpwstr>
  </property>
  <property fmtid="{D5CDD505-2E9C-101B-9397-08002B2CF9AE}" pid="5" name="MSIP_Label_0bce33f7-04c0-4596-9b71-ba8617e88451_Name">
    <vt:lpwstr>0bce33f7-04c0-4596-9b71-ba8617e88451</vt:lpwstr>
  </property>
  <property fmtid="{D5CDD505-2E9C-101B-9397-08002B2CF9AE}" pid="6" name="MSIP_Label_0bce33f7-04c0-4596-9b71-ba8617e88451_SiteId">
    <vt:lpwstr>3a15904d-3fd9-4256-a753-beb05cdf0c6d</vt:lpwstr>
  </property>
  <property fmtid="{D5CDD505-2E9C-101B-9397-08002B2CF9AE}" pid="7" name="MSIP_Label_0bce33f7-04c0-4596-9b71-ba8617e88451_ActionId">
    <vt:lpwstr>edb6d35f-e235-4207-b481-abd8e8280b33</vt:lpwstr>
  </property>
  <property fmtid="{D5CDD505-2E9C-101B-9397-08002B2CF9AE}" pid="8" name="MSIP_Label_0bce33f7-04c0-4596-9b71-ba8617e88451_ContentBits">
    <vt:lpwstr>0</vt:lpwstr>
  </property>
</Properties>
</file>